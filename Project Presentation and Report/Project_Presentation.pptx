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4610100" cy="3460750"/>
  <p:notesSz cx="4610100" cy="34607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163" d="100"/>
          <a:sy n="163" d="100"/>
        </p:scale>
        <p:origin x="-1666" y="-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5757" y="1072832"/>
            <a:ext cx="3918585" cy="7267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00" b="0" i="0">
                <a:solidFill>
                  <a:srgbClr val="3333B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670"/>
              </a:lnSpc>
            </a:pPr>
            <a:r>
              <a:rPr spc="110" dirty="0"/>
              <a:t>(CSIT(21-</a:t>
            </a:r>
            <a:r>
              <a:rPr spc="120" dirty="0"/>
              <a:t>25/CSIT/27)</a:t>
            </a:r>
            <a:r>
              <a:rPr spc="145" dirty="0"/>
              <a:t> </a:t>
            </a:r>
            <a:r>
              <a:rPr spc="45" dirty="0"/>
              <a:t>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9/17/2025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670"/>
              </a:lnSpc>
            </a:pPr>
            <a:fld id="{81D60167-4931-47E6-BA6A-407CBD079E47}" type="slidenum">
              <a:rPr spc="60" dirty="0"/>
              <a:pPr marL="38100">
                <a:lnSpc>
                  <a:spcPts val="670"/>
                </a:lnSpc>
              </a:pPr>
              <a:t>‹#›</a:t>
            </a:fld>
            <a:r>
              <a:rPr spc="-15" dirty="0"/>
              <a:t> </a:t>
            </a:r>
            <a:r>
              <a:rPr spc="125" dirty="0"/>
              <a:t>/</a:t>
            </a:r>
            <a:r>
              <a:rPr spc="-10" dirty="0"/>
              <a:t> </a:t>
            </a:r>
            <a:r>
              <a:rPr spc="35" dirty="0"/>
              <a:t>26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700" b="0" i="0">
                <a:solidFill>
                  <a:srgbClr val="3333B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670"/>
              </a:lnSpc>
            </a:pPr>
            <a:r>
              <a:rPr spc="110" dirty="0"/>
              <a:t>(CSIT(21-</a:t>
            </a:r>
            <a:r>
              <a:rPr spc="120" dirty="0"/>
              <a:t>25/CSIT/27)</a:t>
            </a:r>
            <a:r>
              <a:rPr spc="145" dirty="0"/>
              <a:t> </a:t>
            </a:r>
            <a:r>
              <a:rPr spc="45" dirty="0"/>
              <a:t>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9/17/2025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670"/>
              </a:lnSpc>
            </a:pPr>
            <a:fld id="{81D60167-4931-47E6-BA6A-407CBD079E47}" type="slidenum">
              <a:rPr spc="60" dirty="0"/>
              <a:pPr marL="38100">
                <a:lnSpc>
                  <a:spcPts val="670"/>
                </a:lnSpc>
              </a:pPr>
              <a:t>‹#›</a:t>
            </a:fld>
            <a:r>
              <a:rPr spc="-15" dirty="0"/>
              <a:t> </a:t>
            </a:r>
            <a:r>
              <a:rPr spc="125" dirty="0"/>
              <a:t>/</a:t>
            </a:r>
            <a:r>
              <a:rPr spc="-10" dirty="0"/>
              <a:t> </a:t>
            </a:r>
            <a:r>
              <a:rPr spc="35" dirty="0"/>
              <a:t>26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700" b="0" i="0">
                <a:solidFill>
                  <a:srgbClr val="3333B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670"/>
              </a:lnSpc>
            </a:pPr>
            <a:r>
              <a:rPr spc="110" dirty="0"/>
              <a:t>(CSIT(21-</a:t>
            </a:r>
            <a:r>
              <a:rPr spc="120" dirty="0"/>
              <a:t>25/CSIT/27)</a:t>
            </a:r>
            <a:r>
              <a:rPr spc="145" dirty="0"/>
              <a:t> </a:t>
            </a:r>
            <a:r>
              <a:rPr spc="45" dirty="0"/>
              <a:t>)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9/17/2025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670"/>
              </a:lnSpc>
            </a:pPr>
            <a:fld id="{81D60167-4931-47E6-BA6A-407CBD079E47}" type="slidenum">
              <a:rPr spc="60" dirty="0"/>
              <a:pPr marL="38100">
                <a:lnSpc>
                  <a:spcPts val="670"/>
                </a:lnSpc>
              </a:pPr>
              <a:t>‹#›</a:t>
            </a:fld>
            <a:r>
              <a:rPr spc="-15" dirty="0"/>
              <a:t> </a:t>
            </a:r>
            <a:r>
              <a:rPr spc="125" dirty="0"/>
              <a:t>/</a:t>
            </a:r>
            <a:r>
              <a:rPr spc="-10" dirty="0"/>
              <a:t> </a:t>
            </a:r>
            <a:r>
              <a:rPr spc="35" dirty="0"/>
              <a:t>26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700" b="0" i="0">
                <a:solidFill>
                  <a:srgbClr val="3333B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670"/>
              </a:lnSpc>
            </a:pPr>
            <a:r>
              <a:rPr spc="110" dirty="0"/>
              <a:t>(CSIT(21-</a:t>
            </a:r>
            <a:r>
              <a:rPr spc="120" dirty="0"/>
              <a:t>25/CSIT/27)</a:t>
            </a:r>
            <a:r>
              <a:rPr spc="145" dirty="0"/>
              <a:t> </a:t>
            </a:r>
            <a:r>
              <a:rPr spc="45" dirty="0"/>
              <a:t>)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9/17/2025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670"/>
              </a:lnSpc>
            </a:pPr>
            <a:fld id="{81D60167-4931-47E6-BA6A-407CBD079E47}" type="slidenum">
              <a:rPr spc="60" dirty="0"/>
              <a:pPr marL="38100">
                <a:lnSpc>
                  <a:spcPts val="670"/>
                </a:lnSpc>
              </a:pPr>
              <a:t>‹#›</a:t>
            </a:fld>
            <a:r>
              <a:rPr spc="-15" dirty="0"/>
              <a:t> </a:t>
            </a:r>
            <a:r>
              <a:rPr spc="125" dirty="0"/>
              <a:t>/</a:t>
            </a:r>
            <a:r>
              <a:rPr spc="-10" dirty="0"/>
              <a:t> </a:t>
            </a:r>
            <a:r>
              <a:rPr spc="35" dirty="0"/>
              <a:t>26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670"/>
              </a:lnSpc>
            </a:pPr>
            <a:r>
              <a:rPr spc="110" dirty="0"/>
              <a:t>(CSIT(21-</a:t>
            </a:r>
            <a:r>
              <a:rPr spc="120" dirty="0"/>
              <a:t>25/CSIT/27)</a:t>
            </a:r>
            <a:r>
              <a:rPr spc="145" dirty="0"/>
              <a:t> </a:t>
            </a:r>
            <a:r>
              <a:rPr spc="45" dirty="0"/>
              <a:t>)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9/17/2025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670"/>
              </a:lnSpc>
            </a:pPr>
            <a:fld id="{81D60167-4931-47E6-BA6A-407CBD079E47}" type="slidenum">
              <a:rPr spc="60" dirty="0"/>
              <a:pPr marL="38100">
                <a:lnSpc>
                  <a:spcPts val="670"/>
                </a:lnSpc>
              </a:pPr>
              <a:t>‹#›</a:t>
            </a:fld>
            <a:r>
              <a:rPr spc="-15" dirty="0"/>
              <a:t> </a:t>
            </a:r>
            <a:r>
              <a:rPr spc="125" dirty="0"/>
              <a:t>/</a:t>
            </a:r>
            <a:r>
              <a:rPr spc="-10" dirty="0"/>
              <a:t> </a:t>
            </a:r>
            <a:r>
              <a:rPr spc="35" dirty="0"/>
              <a:t>26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027351" y="44112"/>
            <a:ext cx="506210" cy="47053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300" y="181554"/>
            <a:ext cx="2186940" cy="288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00" b="0" i="0">
                <a:solidFill>
                  <a:srgbClr val="3333B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33298" y="803640"/>
            <a:ext cx="4035425" cy="21183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79565" y="3353673"/>
            <a:ext cx="1040765" cy="101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670"/>
              </a:lnSpc>
            </a:pPr>
            <a:r>
              <a:rPr spc="110" dirty="0"/>
              <a:t>(CSIT(21-</a:t>
            </a:r>
            <a:r>
              <a:rPr spc="120" dirty="0"/>
              <a:t>25/CSIT/27)</a:t>
            </a:r>
            <a:r>
              <a:rPr spc="145" dirty="0"/>
              <a:t> </a:t>
            </a:r>
            <a:r>
              <a:rPr spc="45" dirty="0"/>
              <a:t>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30505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9/17/2025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241558" y="3353673"/>
            <a:ext cx="314325" cy="101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670"/>
              </a:lnSpc>
            </a:pPr>
            <a:fld id="{81D60167-4931-47E6-BA6A-407CBD079E47}" type="slidenum">
              <a:rPr spc="60" dirty="0"/>
              <a:pPr marL="38100">
                <a:lnSpc>
                  <a:spcPts val="670"/>
                </a:lnSpc>
              </a:pPr>
              <a:t>‹#›</a:t>
            </a:fld>
            <a:r>
              <a:rPr spc="-15" dirty="0"/>
              <a:t> </a:t>
            </a:r>
            <a:r>
              <a:rPr spc="125" dirty="0"/>
              <a:t>/</a:t>
            </a:r>
            <a:r>
              <a:rPr spc="-10" dirty="0"/>
              <a:t> </a:t>
            </a:r>
            <a:r>
              <a:rPr spc="35" dirty="0"/>
              <a:t>26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14.xml"/><Relationship Id="rId13" Type="http://schemas.openxmlformats.org/officeDocument/2006/relationships/image" Target="../media/image4.png"/><Relationship Id="rId18" Type="http://schemas.openxmlformats.org/officeDocument/2006/relationships/image" Target="../media/image9.png"/><Relationship Id="rId3" Type="http://schemas.openxmlformats.org/officeDocument/2006/relationships/slide" Target="slide3.xml"/><Relationship Id="rId21" Type="http://schemas.openxmlformats.org/officeDocument/2006/relationships/image" Target="../media/image12.png"/><Relationship Id="rId7" Type="http://schemas.openxmlformats.org/officeDocument/2006/relationships/slide" Target="slide12.xml"/><Relationship Id="rId12" Type="http://schemas.openxmlformats.org/officeDocument/2006/relationships/slide" Target="slide24.xml"/><Relationship Id="rId17" Type="http://schemas.openxmlformats.org/officeDocument/2006/relationships/image" Target="../media/image8.png"/><Relationship Id="rId2" Type="http://schemas.openxmlformats.org/officeDocument/2006/relationships/image" Target="../media/image3.png"/><Relationship Id="rId16" Type="http://schemas.openxmlformats.org/officeDocument/2006/relationships/image" Target="../media/image7.png"/><Relationship Id="rId20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slide" Target="slide10.xml"/><Relationship Id="rId11" Type="http://schemas.openxmlformats.org/officeDocument/2006/relationships/slide" Target="slide20.xml"/><Relationship Id="rId5" Type="http://schemas.openxmlformats.org/officeDocument/2006/relationships/slide" Target="slide8.xml"/><Relationship Id="rId15" Type="http://schemas.openxmlformats.org/officeDocument/2006/relationships/image" Target="../media/image6.png"/><Relationship Id="rId10" Type="http://schemas.openxmlformats.org/officeDocument/2006/relationships/slide" Target="slide18.xml"/><Relationship Id="rId19" Type="http://schemas.openxmlformats.org/officeDocument/2006/relationships/image" Target="../media/image10.png"/><Relationship Id="rId4" Type="http://schemas.openxmlformats.org/officeDocument/2006/relationships/slide" Target="slide6.xml"/><Relationship Id="rId9" Type="http://schemas.openxmlformats.org/officeDocument/2006/relationships/slide" Target="slide17.xml"/><Relationship Id="rId1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5806" y="0"/>
            <a:ext cx="4422197" cy="33868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68350" y="1229065"/>
            <a:ext cx="327088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1" spc="135" dirty="0">
                <a:solidFill>
                  <a:srgbClr val="000000"/>
                </a:solidFill>
                <a:latin typeface="Calibri"/>
                <a:cs typeface="Calibri"/>
              </a:rPr>
              <a:t>Realtime</a:t>
            </a:r>
            <a:r>
              <a:rPr sz="1400" b="1" spc="23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400" b="1" spc="125" dirty="0">
                <a:solidFill>
                  <a:srgbClr val="000000"/>
                </a:solidFill>
                <a:latin typeface="Calibri"/>
                <a:cs typeface="Calibri"/>
              </a:rPr>
              <a:t>Collaborative</a:t>
            </a:r>
            <a:r>
              <a:rPr sz="1400" b="1" spc="23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400" b="1" spc="170" dirty="0">
                <a:solidFill>
                  <a:srgbClr val="000000"/>
                </a:solidFill>
                <a:latin typeface="Calibri"/>
                <a:cs typeface="Calibri"/>
              </a:rPr>
              <a:t>Code</a:t>
            </a:r>
            <a:r>
              <a:rPr sz="1400" b="1" spc="23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400" b="1" spc="145" dirty="0">
                <a:solidFill>
                  <a:srgbClr val="000000"/>
                </a:solidFill>
                <a:latin typeface="Calibri"/>
                <a:cs typeface="Calibri"/>
              </a:rPr>
              <a:t>Editor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5966" y="2379724"/>
            <a:ext cx="878205" cy="2673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955"/>
              </a:lnSpc>
              <a:spcBef>
                <a:spcPts val="95"/>
              </a:spcBef>
            </a:pPr>
            <a:r>
              <a:rPr sz="800" b="1" spc="110" dirty="0">
                <a:latin typeface="Calibri"/>
                <a:cs typeface="Calibri"/>
              </a:rPr>
              <a:t>Project</a:t>
            </a:r>
            <a:r>
              <a:rPr sz="800" b="1" spc="160" dirty="0">
                <a:latin typeface="Calibri"/>
                <a:cs typeface="Calibri"/>
              </a:rPr>
              <a:t> </a:t>
            </a:r>
            <a:r>
              <a:rPr sz="800" b="1" spc="95" dirty="0">
                <a:latin typeface="Calibri"/>
                <a:cs typeface="Calibri"/>
              </a:rPr>
              <a:t>Guide:</a:t>
            </a:r>
            <a:endParaRPr sz="800">
              <a:latin typeface="Calibri"/>
              <a:cs typeface="Calibri"/>
            </a:endParaRPr>
          </a:p>
          <a:p>
            <a:pPr marL="12700">
              <a:lnSpc>
                <a:spcPts val="955"/>
              </a:lnSpc>
            </a:pPr>
            <a:r>
              <a:rPr sz="800" spc="80" dirty="0">
                <a:latin typeface="Calibri"/>
                <a:cs typeface="Calibri"/>
              </a:rPr>
              <a:t>Dr.</a:t>
            </a:r>
            <a:r>
              <a:rPr sz="800" spc="185" dirty="0">
                <a:latin typeface="Calibri"/>
                <a:cs typeface="Calibri"/>
              </a:rPr>
              <a:t> </a:t>
            </a:r>
            <a:r>
              <a:rPr sz="800" spc="65" dirty="0">
                <a:latin typeface="Calibri"/>
                <a:cs typeface="Calibri"/>
              </a:rPr>
              <a:t>Nikhil</a:t>
            </a:r>
            <a:r>
              <a:rPr sz="800" spc="95" dirty="0">
                <a:latin typeface="Calibri"/>
                <a:cs typeface="Calibri"/>
              </a:rPr>
              <a:t> </a:t>
            </a:r>
            <a:r>
              <a:rPr sz="800" spc="75" dirty="0">
                <a:latin typeface="Calibri"/>
                <a:cs typeface="Calibri"/>
              </a:rPr>
              <a:t>Kumar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04020" y="2379724"/>
            <a:ext cx="1568450" cy="50800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 indent="775335" algn="r">
              <a:lnSpc>
                <a:spcPts val="950"/>
              </a:lnSpc>
              <a:spcBef>
                <a:spcPts val="135"/>
              </a:spcBef>
            </a:pPr>
            <a:r>
              <a:rPr sz="800" b="1" spc="90" dirty="0">
                <a:latin typeface="Calibri"/>
                <a:cs typeface="Calibri"/>
              </a:rPr>
              <a:t>Presented</a:t>
            </a:r>
            <a:r>
              <a:rPr sz="800" b="1" spc="165" dirty="0">
                <a:latin typeface="Calibri"/>
                <a:cs typeface="Calibri"/>
              </a:rPr>
              <a:t> </a:t>
            </a:r>
            <a:r>
              <a:rPr sz="800" b="1" spc="114" dirty="0">
                <a:latin typeface="Calibri"/>
                <a:cs typeface="Calibri"/>
              </a:rPr>
              <a:t>By: </a:t>
            </a:r>
            <a:r>
              <a:rPr sz="800" spc="70" dirty="0">
                <a:latin typeface="Calibri"/>
                <a:cs typeface="Calibri"/>
              </a:rPr>
              <a:t>Aryan</a:t>
            </a:r>
            <a:r>
              <a:rPr sz="800" spc="105" dirty="0">
                <a:latin typeface="Calibri"/>
                <a:cs typeface="Calibri"/>
              </a:rPr>
              <a:t> </a:t>
            </a:r>
            <a:r>
              <a:rPr sz="800" spc="75" dirty="0">
                <a:latin typeface="Calibri"/>
                <a:cs typeface="Calibri"/>
              </a:rPr>
              <a:t>Tyagi</a:t>
            </a:r>
            <a:r>
              <a:rPr sz="800" spc="110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-</a:t>
            </a:r>
            <a:r>
              <a:rPr sz="800" spc="105" dirty="0">
                <a:latin typeface="Calibri"/>
                <a:cs typeface="Calibri"/>
              </a:rPr>
              <a:t> </a:t>
            </a:r>
            <a:r>
              <a:rPr sz="800" spc="-10" dirty="0">
                <a:latin typeface="Calibri"/>
                <a:cs typeface="Calibri"/>
              </a:rPr>
              <a:t>2200270130031</a:t>
            </a:r>
            <a:r>
              <a:rPr sz="800" spc="55" dirty="0">
                <a:latin typeface="Calibri"/>
                <a:cs typeface="Calibri"/>
              </a:rPr>
              <a:t> Ananya</a:t>
            </a:r>
            <a:r>
              <a:rPr sz="800" spc="120" dirty="0">
                <a:latin typeface="Calibri"/>
                <a:cs typeface="Calibri"/>
              </a:rPr>
              <a:t> </a:t>
            </a:r>
            <a:r>
              <a:rPr sz="800" spc="50" dirty="0">
                <a:latin typeface="Calibri"/>
                <a:cs typeface="Calibri"/>
              </a:rPr>
              <a:t>Jaiswal</a:t>
            </a:r>
            <a:r>
              <a:rPr sz="800" spc="125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-</a:t>
            </a:r>
            <a:r>
              <a:rPr sz="800" spc="125" dirty="0">
                <a:latin typeface="Calibri"/>
                <a:cs typeface="Calibri"/>
              </a:rPr>
              <a:t> </a:t>
            </a:r>
            <a:r>
              <a:rPr sz="800" spc="-10" dirty="0">
                <a:latin typeface="Calibri"/>
                <a:cs typeface="Calibri"/>
              </a:rPr>
              <a:t>2200270130017</a:t>
            </a:r>
            <a:r>
              <a:rPr sz="800" spc="500" dirty="0">
                <a:latin typeface="Calibri"/>
                <a:cs typeface="Calibri"/>
              </a:rPr>
              <a:t> </a:t>
            </a:r>
            <a:r>
              <a:rPr sz="800" spc="20" dirty="0">
                <a:latin typeface="Calibri"/>
                <a:cs typeface="Calibri"/>
              </a:rPr>
              <a:t>Ashutosh</a:t>
            </a:r>
            <a:r>
              <a:rPr sz="800" spc="165" dirty="0">
                <a:latin typeface="Calibri"/>
                <a:cs typeface="Calibri"/>
              </a:rPr>
              <a:t> </a:t>
            </a:r>
            <a:r>
              <a:rPr sz="800" spc="55" dirty="0">
                <a:latin typeface="Calibri"/>
                <a:cs typeface="Calibri"/>
              </a:rPr>
              <a:t>Singh</a:t>
            </a:r>
            <a:r>
              <a:rPr sz="800" spc="170" dirty="0">
                <a:latin typeface="Calibri"/>
                <a:cs typeface="Calibri"/>
              </a:rPr>
              <a:t> </a:t>
            </a:r>
            <a:r>
              <a:rPr sz="800" spc="20" dirty="0">
                <a:latin typeface="Calibri"/>
                <a:cs typeface="Calibri"/>
              </a:rPr>
              <a:t>-</a:t>
            </a:r>
            <a:r>
              <a:rPr sz="800" spc="170" dirty="0">
                <a:latin typeface="Calibri"/>
                <a:cs typeface="Calibri"/>
              </a:rPr>
              <a:t> </a:t>
            </a:r>
            <a:r>
              <a:rPr sz="800" spc="-10" dirty="0">
                <a:latin typeface="Calibri"/>
                <a:cs typeface="Calibri"/>
              </a:rPr>
              <a:t>2200270130035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49777"/>
            <a:ext cx="4608195" cy="106680"/>
            <a:chOff x="0" y="3349777"/>
            <a:chExt cx="4608195" cy="106680"/>
          </a:xfrm>
        </p:grpSpPr>
        <p:sp>
          <p:nvSpPr>
            <p:cNvPr id="7" name="object 7"/>
            <p:cNvSpPr/>
            <p:nvPr/>
          </p:nvSpPr>
          <p:spPr>
            <a:xfrm>
              <a:off x="0" y="3349777"/>
              <a:ext cx="1536065" cy="106680"/>
            </a:xfrm>
            <a:custGeom>
              <a:avLst/>
              <a:gdLst/>
              <a:ahLst/>
              <a:cxnLst/>
              <a:rect l="l" t="t" r="r" b="b"/>
              <a:pathLst>
                <a:path w="1536065" h="106679">
                  <a:moveTo>
                    <a:pt x="1535976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535976" y="10622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535976" y="3349777"/>
              <a:ext cx="1536065" cy="106680"/>
            </a:xfrm>
            <a:custGeom>
              <a:avLst/>
              <a:gdLst/>
              <a:ahLst/>
              <a:cxnLst/>
              <a:rect l="l" t="t" r="r" b="b"/>
              <a:pathLst>
                <a:path w="1536064" h="106679">
                  <a:moveTo>
                    <a:pt x="1535976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535976" y="10622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071952" y="3349777"/>
              <a:ext cx="1536065" cy="106680"/>
            </a:xfrm>
            <a:custGeom>
              <a:avLst/>
              <a:gdLst/>
              <a:ahLst/>
              <a:cxnLst/>
              <a:rect l="l" t="t" r="r" b="b"/>
              <a:pathLst>
                <a:path w="1536064" h="106679">
                  <a:moveTo>
                    <a:pt x="1535976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535976" y="10622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pc="110" dirty="0"/>
              <a:t>(CSIT(21-</a:t>
            </a:r>
            <a:r>
              <a:rPr spc="120" dirty="0"/>
              <a:t>25/CSIT/27)</a:t>
            </a:r>
            <a:r>
              <a:rPr spc="145" dirty="0"/>
              <a:t> </a:t>
            </a:r>
            <a:r>
              <a:rPr spc="45" dirty="0"/>
              <a:t>)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spc="60" dirty="0"/>
              <a:pPr marL="38100">
                <a:lnSpc>
                  <a:spcPts val="670"/>
                </a:lnSpc>
              </a:pPr>
              <a:t>1</a:t>
            </a:fld>
            <a:r>
              <a:rPr spc="-15" dirty="0"/>
              <a:t> </a:t>
            </a:r>
            <a:r>
              <a:rPr spc="125" dirty="0"/>
              <a:t>/</a:t>
            </a:r>
            <a:r>
              <a:rPr spc="-10" dirty="0"/>
              <a:t> </a:t>
            </a:r>
            <a:r>
              <a:rPr spc="35" dirty="0"/>
              <a:t>26</a:t>
            </a: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Table</a:t>
            </a:r>
            <a:r>
              <a:rPr spc="65" dirty="0"/>
              <a:t> </a:t>
            </a:r>
            <a:r>
              <a:rPr dirty="0"/>
              <a:t>of</a:t>
            </a:r>
            <a:r>
              <a:rPr spc="65" dirty="0"/>
              <a:t> </a:t>
            </a:r>
            <a:r>
              <a:rPr spc="-10" dirty="0"/>
              <a:t>Contents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367" y="642035"/>
            <a:ext cx="169964" cy="16996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41770" y="645717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EAEAF7"/>
                </a:solidFill>
                <a:latin typeface="Calibri"/>
                <a:cs typeface="Calibri"/>
              </a:rPr>
              <a:t>1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15734" y="530886"/>
            <a:ext cx="3447415" cy="2621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612390">
              <a:lnSpc>
                <a:spcPct val="141900"/>
              </a:lnSpc>
              <a:spcBef>
                <a:spcPts val="100"/>
              </a:spcBef>
            </a:pPr>
            <a:r>
              <a:rPr sz="1200" spc="-10" dirty="0">
                <a:solidFill>
                  <a:srgbClr val="3333B2"/>
                </a:solidFill>
                <a:latin typeface="Calibri"/>
                <a:cs typeface="Calibri"/>
                <a:hlinkClick r:id="rId3" action="ppaction://hlinksldjump"/>
              </a:rPr>
              <a:t>Introduction</a:t>
            </a:r>
            <a:r>
              <a:rPr sz="1200" spc="-10" dirty="0">
                <a:solidFill>
                  <a:srgbClr val="3333B2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Calibri"/>
                <a:cs typeface="Calibri"/>
                <a:hlinkClick r:id="rId4" action="ppaction://hlinksldjump"/>
              </a:rPr>
              <a:t>Scope</a:t>
            </a:r>
            <a:r>
              <a:rPr sz="1200" spc="-10" dirty="0">
                <a:solidFill>
                  <a:srgbClr val="3333B2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Calibri"/>
                <a:cs typeface="Calibri"/>
                <a:hlinkClick r:id="rId5" action="ppaction://hlinksldjump"/>
              </a:rPr>
              <a:t>Objective</a:t>
            </a:r>
            <a:endParaRPr sz="1200">
              <a:latin typeface="Calibri"/>
              <a:cs typeface="Calibri"/>
            </a:endParaRPr>
          </a:p>
          <a:p>
            <a:pPr marL="12700" marR="2211070">
              <a:lnSpc>
                <a:spcPct val="141900"/>
              </a:lnSpc>
            </a:pPr>
            <a:r>
              <a:rPr sz="1200" dirty="0">
                <a:solidFill>
                  <a:srgbClr val="3333B2"/>
                </a:solidFill>
                <a:latin typeface="Calibri"/>
                <a:cs typeface="Calibri"/>
                <a:hlinkClick r:id="rId6" action="ppaction://hlinksldjump"/>
              </a:rPr>
              <a:t>Literature</a:t>
            </a:r>
            <a:r>
              <a:rPr sz="1200" spc="450" dirty="0">
                <a:solidFill>
                  <a:srgbClr val="3333B2"/>
                </a:solidFill>
                <a:latin typeface="Calibri"/>
                <a:cs typeface="Calibri"/>
                <a:hlinkClick r:id="rId6" action="ppaction://hlinksldjump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Calibri"/>
                <a:cs typeface="Calibri"/>
                <a:hlinkClick r:id="rId6" action="ppaction://hlinksldjump"/>
              </a:rPr>
              <a:t>Review</a:t>
            </a:r>
            <a:r>
              <a:rPr sz="1200" spc="-10" dirty="0">
                <a:solidFill>
                  <a:srgbClr val="3333B2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3333B2"/>
                </a:solidFill>
                <a:latin typeface="Calibri"/>
                <a:cs typeface="Calibri"/>
                <a:hlinkClick r:id="rId7" action="ppaction://hlinksldjump"/>
              </a:rPr>
              <a:t>Research</a:t>
            </a:r>
            <a:r>
              <a:rPr sz="1200" spc="175" dirty="0">
                <a:solidFill>
                  <a:srgbClr val="3333B2"/>
                </a:solidFill>
                <a:latin typeface="Calibri"/>
                <a:cs typeface="Calibri"/>
                <a:hlinkClick r:id="rId7" action="ppaction://hlinksldjump"/>
              </a:rPr>
              <a:t> </a:t>
            </a:r>
            <a:r>
              <a:rPr sz="1200" spc="-20" dirty="0">
                <a:solidFill>
                  <a:srgbClr val="3333B2"/>
                </a:solidFill>
                <a:latin typeface="Calibri"/>
                <a:cs typeface="Calibri"/>
                <a:hlinkClick r:id="rId7" action="ppaction://hlinksldjump"/>
              </a:rPr>
              <a:t>Gaps</a:t>
            </a:r>
            <a:r>
              <a:rPr sz="1200" spc="-20" dirty="0">
                <a:solidFill>
                  <a:srgbClr val="3333B2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3333B2"/>
                </a:solidFill>
                <a:latin typeface="Calibri"/>
                <a:cs typeface="Calibri"/>
                <a:hlinkClick r:id="rId8" action="ppaction://hlinksldjump"/>
              </a:rPr>
              <a:t>Methodology</a:t>
            </a:r>
            <a:r>
              <a:rPr sz="1200" spc="175" dirty="0">
                <a:solidFill>
                  <a:srgbClr val="3333B2"/>
                </a:solidFill>
                <a:latin typeface="Calibri"/>
                <a:cs typeface="Calibri"/>
                <a:hlinkClick r:id="rId8" action="ppaction://hlinksldjump"/>
              </a:rPr>
              <a:t> </a:t>
            </a:r>
            <a:r>
              <a:rPr sz="1200" spc="-20" dirty="0">
                <a:solidFill>
                  <a:srgbClr val="3333B2"/>
                </a:solidFill>
                <a:latin typeface="Calibri"/>
                <a:cs typeface="Calibri"/>
                <a:hlinkClick r:id="rId8" action="ppaction://hlinksldjump"/>
              </a:rPr>
              <a:t>Used</a:t>
            </a:r>
            <a:r>
              <a:rPr sz="1200" spc="-20" dirty="0">
                <a:solidFill>
                  <a:srgbClr val="3333B2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3333B2"/>
                </a:solidFill>
                <a:latin typeface="Calibri"/>
                <a:cs typeface="Calibri"/>
                <a:hlinkClick r:id="rId9" action="ppaction://hlinksldjump"/>
              </a:rPr>
              <a:t>Gantt</a:t>
            </a:r>
            <a:r>
              <a:rPr sz="1200" spc="360" dirty="0">
                <a:solidFill>
                  <a:srgbClr val="3333B2"/>
                </a:solidFill>
                <a:latin typeface="Calibri"/>
                <a:cs typeface="Calibri"/>
                <a:hlinkClick r:id="rId9" action="ppaction://hlinksldjump"/>
              </a:rPr>
              <a:t> </a:t>
            </a:r>
            <a:r>
              <a:rPr sz="1200" spc="50" dirty="0">
                <a:solidFill>
                  <a:srgbClr val="3333B2"/>
                </a:solidFill>
                <a:latin typeface="Calibri"/>
                <a:cs typeface="Calibri"/>
                <a:hlinkClick r:id="rId9" action="ppaction://hlinksldjump"/>
              </a:rPr>
              <a:t>Chart</a:t>
            </a:r>
            <a:endParaRPr sz="1200">
              <a:latin typeface="Calibri"/>
              <a:cs typeface="Calibri"/>
            </a:endParaRPr>
          </a:p>
          <a:p>
            <a:pPr marL="12700" marR="5080">
              <a:lnSpc>
                <a:spcPct val="141900"/>
              </a:lnSpc>
            </a:pPr>
            <a:r>
              <a:rPr sz="1200" dirty="0">
                <a:solidFill>
                  <a:srgbClr val="3333B2"/>
                </a:solidFill>
                <a:latin typeface="Calibri"/>
                <a:cs typeface="Calibri"/>
                <a:hlinkClick r:id="rId10" action="ppaction://hlinksldjump"/>
              </a:rPr>
              <a:t>Sustainable</a:t>
            </a:r>
            <a:r>
              <a:rPr sz="1200" spc="220" dirty="0">
                <a:solidFill>
                  <a:srgbClr val="3333B2"/>
                </a:solidFill>
                <a:latin typeface="Calibri"/>
                <a:cs typeface="Calibri"/>
                <a:hlinkClick r:id="rId10" action="ppaction://hlinksldjump"/>
              </a:rPr>
              <a:t> </a:t>
            </a:r>
            <a:r>
              <a:rPr sz="1200" dirty="0">
                <a:solidFill>
                  <a:srgbClr val="3333B2"/>
                </a:solidFill>
                <a:latin typeface="Calibri"/>
                <a:cs typeface="Calibri"/>
                <a:hlinkClick r:id="rId10" action="ppaction://hlinksldjump"/>
              </a:rPr>
              <a:t>Development</a:t>
            </a:r>
            <a:r>
              <a:rPr sz="1200" spc="220" dirty="0">
                <a:solidFill>
                  <a:srgbClr val="3333B2"/>
                </a:solidFill>
                <a:latin typeface="Calibri"/>
                <a:cs typeface="Calibri"/>
                <a:hlinkClick r:id="rId10" action="ppaction://hlinksldjump"/>
              </a:rPr>
              <a:t> </a:t>
            </a:r>
            <a:r>
              <a:rPr sz="1200" dirty="0">
                <a:solidFill>
                  <a:srgbClr val="3333B2"/>
                </a:solidFill>
                <a:latin typeface="Calibri"/>
                <a:cs typeface="Calibri"/>
                <a:hlinkClick r:id="rId10" action="ppaction://hlinksldjump"/>
              </a:rPr>
              <a:t>Goals</a:t>
            </a:r>
            <a:r>
              <a:rPr sz="1200" spc="225" dirty="0">
                <a:solidFill>
                  <a:srgbClr val="3333B2"/>
                </a:solidFill>
                <a:latin typeface="Calibri"/>
                <a:cs typeface="Calibri"/>
                <a:hlinkClick r:id="rId10" action="ppaction://hlinksldjump"/>
              </a:rPr>
              <a:t> </a:t>
            </a:r>
            <a:r>
              <a:rPr sz="1200" dirty="0">
                <a:solidFill>
                  <a:srgbClr val="3333B2"/>
                </a:solidFill>
                <a:latin typeface="Calibri"/>
                <a:cs typeface="Calibri"/>
                <a:hlinkClick r:id="rId10" action="ppaction://hlinksldjump"/>
              </a:rPr>
              <a:t>Achieved</a:t>
            </a:r>
            <a:r>
              <a:rPr sz="1200" spc="220" dirty="0">
                <a:solidFill>
                  <a:srgbClr val="3333B2"/>
                </a:solidFill>
                <a:latin typeface="Calibri"/>
                <a:cs typeface="Calibri"/>
                <a:hlinkClick r:id="rId10" action="ppaction://hlinksldjump"/>
              </a:rPr>
              <a:t> </a:t>
            </a:r>
            <a:r>
              <a:rPr sz="1200" dirty="0">
                <a:solidFill>
                  <a:srgbClr val="3333B2"/>
                </a:solidFill>
                <a:latin typeface="Calibri"/>
                <a:cs typeface="Calibri"/>
                <a:hlinkClick r:id="rId10" action="ppaction://hlinksldjump"/>
              </a:rPr>
              <a:t>by</a:t>
            </a:r>
            <a:r>
              <a:rPr sz="1200" spc="220" dirty="0">
                <a:solidFill>
                  <a:srgbClr val="3333B2"/>
                </a:solidFill>
                <a:latin typeface="Calibri"/>
                <a:cs typeface="Calibri"/>
                <a:hlinkClick r:id="rId10" action="ppaction://hlinksldjump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Calibri"/>
                <a:cs typeface="Calibri"/>
                <a:hlinkClick r:id="rId10" action="ppaction://hlinksldjump"/>
              </a:rPr>
              <a:t>Project</a:t>
            </a:r>
            <a:r>
              <a:rPr sz="1200" spc="-10" dirty="0">
                <a:solidFill>
                  <a:srgbClr val="3333B2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Calibri"/>
                <a:cs typeface="Calibri"/>
                <a:hlinkClick r:id="rId11" action="ppaction://hlinksldjump"/>
              </a:rPr>
              <a:t>Result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1200" dirty="0">
                <a:solidFill>
                  <a:srgbClr val="3333B2"/>
                </a:solidFill>
                <a:latin typeface="Calibri"/>
                <a:cs typeface="Calibri"/>
                <a:hlinkClick r:id="rId12" action="ppaction://hlinksldjump"/>
              </a:rPr>
              <a:t>Further</a:t>
            </a:r>
            <a:r>
              <a:rPr sz="1200" spc="320" dirty="0">
                <a:solidFill>
                  <a:srgbClr val="3333B2"/>
                </a:solidFill>
                <a:latin typeface="Calibri"/>
                <a:cs typeface="Calibri"/>
                <a:hlinkClick r:id="rId12" action="ppaction://hlinksldjump"/>
              </a:rPr>
              <a:t> </a:t>
            </a:r>
            <a:r>
              <a:rPr sz="1200" spc="-20" dirty="0">
                <a:solidFill>
                  <a:srgbClr val="3333B2"/>
                </a:solidFill>
                <a:latin typeface="Calibri"/>
                <a:cs typeface="Calibri"/>
                <a:hlinkClick r:id="rId12" action="ppaction://hlinksldjump"/>
              </a:rPr>
              <a:t>Work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96367" y="901611"/>
            <a:ext cx="169964" cy="16996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41770" y="905280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EAEAF7"/>
                </a:solidFill>
                <a:latin typeface="Calibri"/>
                <a:cs typeface="Calibri"/>
              </a:rPr>
              <a:t>2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96367" y="1161173"/>
            <a:ext cx="169964" cy="169964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41770" y="1164855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EAEAF7"/>
                </a:solidFill>
                <a:latin typeface="Calibri"/>
                <a:cs typeface="Calibri"/>
              </a:rPr>
              <a:t>3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96367" y="1420749"/>
            <a:ext cx="169964" cy="169964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41770" y="1424418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EAEAF7"/>
                </a:solidFill>
                <a:latin typeface="Calibri"/>
                <a:cs typeface="Calibri"/>
              </a:rPr>
              <a:t>4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12" name="object 12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96367" y="1680311"/>
            <a:ext cx="169964" cy="169964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141770" y="1683993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EAEAF7"/>
                </a:solidFill>
                <a:latin typeface="Calibri"/>
                <a:cs typeface="Calibri"/>
              </a:rPr>
              <a:t>5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14" name="object 14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96367" y="1939887"/>
            <a:ext cx="169964" cy="169964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141770" y="1943555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EAEAF7"/>
                </a:solidFill>
                <a:latin typeface="Calibri"/>
                <a:cs typeface="Calibri"/>
              </a:rPr>
              <a:t>6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16" name="object 16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96367" y="2199449"/>
            <a:ext cx="169964" cy="169964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141770" y="2203131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EAEAF7"/>
                </a:solidFill>
                <a:latin typeface="Calibri"/>
                <a:cs typeface="Calibri"/>
              </a:rPr>
              <a:t>7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18" name="object 18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96367" y="2459024"/>
            <a:ext cx="169964" cy="169964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141770" y="2462694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EAEAF7"/>
                </a:solidFill>
                <a:latin typeface="Calibri"/>
                <a:cs typeface="Calibri"/>
              </a:rPr>
              <a:t>8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20" name="object 20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96367" y="2718587"/>
            <a:ext cx="169964" cy="169964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141770" y="2722269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EAEAF7"/>
                </a:solidFill>
                <a:latin typeface="Calibri"/>
                <a:cs typeface="Calibri"/>
              </a:rPr>
              <a:t>9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22" name="object 22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96367" y="2978150"/>
            <a:ext cx="169964" cy="169964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114884" y="2981831"/>
            <a:ext cx="13335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5" dirty="0">
                <a:solidFill>
                  <a:srgbClr val="EAEAF7"/>
                </a:solidFill>
                <a:latin typeface="Calibri"/>
                <a:cs typeface="Calibri"/>
              </a:rPr>
              <a:t>10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0" y="3349777"/>
            <a:ext cx="4608195" cy="106680"/>
            <a:chOff x="0" y="3349777"/>
            <a:chExt cx="4608195" cy="106680"/>
          </a:xfrm>
        </p:grpSpPr>
        <p:sp>
          <p:nvSpPr>
            <p:cNvPr id="25" name="object 25"/>
            <p:cNvSpPr/>
            <p:nvPr/>
          </p:nvSpPr>
          <p:spPr>
            <a:xfrm>
              <a:off x="0" y="3349777"/>
              <a:ext cx="1536065" cy="106680"/>
            </a:xfrm>
            <a:custGeom>
              <a:avLst/>
              <a:gdLst/>
              <a:ahLst/>
              <a:cxnLst/>
              <a:rect l="l" t="t" r="r" b="b"/>
              <a:pathLst>
                <a:path w="1536065" h="106679">
                  <a:moveTo>
                    <a:pt x="1535976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535976" y="10622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535976" y="3349777"/>
              <a:ext cx="1536065" cy="106680"/>
            </a:xfrm>
            <a:custGeom>
              <a:avLst/>
              <a:gdLst/>
              <a:ahLst/>
              <a:cxnLst/>
              <a:rect l="l" t="t" r="r" b="b"/>
              <a:pathLst>
                <a:path w="1536064" h="106679">
                  <a:moveTo>
                    <a:pt x="1535976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535976" y="10622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071952" y="3349777"/>
              <a:ext cx="1536065" cy="106680"/>
            </a:xfrm>
            <a:custGeom>
              <a:avLst/>
              <a:gdLst/>
              <a:ahLst/>
              <a:cxnLst/>
              <a:rect l="l" t="t" r="r" b="b"/>
              <a:pathLst>
                <a:path w="1536064" h="106679">
                  <a:moveTo>
                    <a:pt x="1535976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535976" y="10622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pc="110" dirty="0"/>
              <a:t>(CSIT(21-</a:t>
            </a:r>
            <a:r>
              <a:rPr spc="120" dirty="0"/>
              <a:t>25/CSIT/27)</a:t>
            </a:r>
            <a:r>
              <a:rPr spc="145" dirty="0"/>
              <a:t> </a:t>
            </a:r>
            <a:r>
              <a:rPr spc="45" dirty="0"/>
              <a:t>)</a:t>
            </a:r>
          </a:p>
        </p:txBody>
      </p:sp>
      <p:sp>
        <p:nvSpPr>
          <p:cNvPr id="29" name="object 2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spc="60" dirty="0"/>
              <a:pPr marL="38100">
                <a:lnSpc>
                  <a:spcPts val="670"/>
                </a:lnSpc>
              </a:pPr>
              <a:t>2</a:t>
            </a:fld>
            <a:r>
              <a:rPr spc="-15" dirty="0"/>
              <a:t> </a:t>
            </a:r>
            <a:r>
              <a:rPr spc="125" dirty="0"/>
              <a:t>/</a:t>
            </a:r>
            <a:r>
              <a:rPr spc="-10" dirty="0"/>
              <a:t> </a:t>
            </a:r>
            <a:r>
              <a:rPr spc="35" dirty="0"/>
              <a:t>26</a:t>
            </a: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10" dirty="0"/>
              <a:t>Introduction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2374" y="834771"/>
            <a:ext cx="69291" cy="6929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33298" y="742071"/>
            <a:ext cx="4006850" cy="23018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latin typeface="Calibri"/>
                <a:cs typeface="Calibri"/>
              </a:rPr>
              <a:t>Today,</a:t>
            </a:r>
            <a:r>
              <a:rPr sz="1200" spc="1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school’s</a:t>
            </a:r>
            <a:r>
              <a:rPr sz="1200" spc="1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students</a:t>
            </a:r>
            <a:r>
              <a:rPr sz="1200" spc="1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have</a:t>
            </a:r>
            <a:r>
              <a:rPr sz="1200" spc="1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</a:t>
            </a:r>
            <a:r>
              <a:rPr sz="1200" spc="1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very</a:t>
            </a:r>
            <a:r>
              <a:rPr sz="1200" spc="1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limited</a:t>
            </a:r>
            <a:r>
              <a:rPr sz="1200" spc="1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exposure</a:t>
            </a:r>
            <a:r>
              <a:rPr sz="1200" spc="140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to </a:t>
            </a:r>
            <a:r>
              <a:rPr sz="1200" dirty="0">
                <a:latin typeface="Calibri"/>
                <a:cs typeface="Calibri"/>
              </a:rPr>
              <a:t>coding</a:t>
            </a:r>
            <a:r>
              <a:rPr sz="1200" spc="19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environment.</a:t>
            </a:r>
            <a:r>
              <a:rPr sz="1200" spc="35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Although</a:t>
            </a:r>
            <a:r>
              <a:rPr sz="1200" spc="19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they</a:t>
            </a:r>
            <a:r>
              <a:rPr sz="1200" spc="20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are</a:t>
            </a:r>
            <a:r>
              <a:rPr sz="1200" spc="19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taught</a:t>
            </a:r>
            <a:r>
              <a:rPr sz="1200" spc="19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19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subjects </a:t>
            </a:r>
            <a:r>
              <a:rPr sz="1200" dirty="0">
                <a:latin typeface="Calibri"/>
                <a:cs typeface="Calibri"/>
              </a:rPr>
              <a:t>like,</a:t>
            </a:r>
            <a:r>
              <a:rPr sz="1200" spc="2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python</a:t>
            </a:r>
            <a:r>
              <a:rPr sz="1200" spc="2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2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java</a:t>
            </a:r>
            <a:r>
              <a:rPr sz="1200" spc="2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but</a:t>
            </a:r>
            <a:r>
              <a:rPr sz="1200" spc="2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still</a:t>
            </a:r>
            <a:r>
              <a:rPr sz="1200" spc="2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2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tradational</a:t>
            </a:r>
            <a:r>
              <a:rPr sz="1200" spc="2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practices</a:t>
            </a:r>
            <a:r>
              <a:rPr sz="1200" spc="215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of </a:t>
            </a:r>
            <a:r>
              <a:rPr sz="1200" dirty="0">
                <a:latin typeface="Calibri"/>
                <a:cs typeface="Calibri"/>
              </a:rPr>
              <a:t>writing</a:t>
            </a:r>
            <a:r>
              <a:rPr sz="1200" spc="16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on</a:t>
            </a:r>
            <a:r>
              <a:rPr sz="1200" spc="17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16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paper</a:t>
            </a:r>
            <a:r>
              <a:rPr sz="1200" spc="16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are</a:t>
            </a:r>
            <a:r>
              <a:rPr sz="1200" spc="16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followed</a:t>
            </a:r>
            <a:r>
              <a:rPr sz="1200" spc="17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rather</a:t>
            </a:r>
            <a:r>
              <a:rPr sz="1200" spc="17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than</a:t>
            </a:r>
            <a:r>
              <a:rPr sz="1200" spc="16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practicing</a:t>
            </a:r>
            <a:r>
              <a:rPr sz="1200" spc="16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on</a:t>
            </a:r>
            <a:r>
              <a:rPr sz="1200" spc="170" dirty="0">
                <a:latin typeface="Calibri"/>
                <a:cs typeface="Calibri"/>
              </a:rPr>
              <a:t> </a:t>
            </a:r>
            <a:r>
              <a:rPr sz="1200" spc="-50" dirty="0">
                <a:latin typeface="Calibri"/>
                <a:cs typeface="Calibri"/>
              </a:rPr>
              <a:t>a </a:t>
            </a:r>
            <a:r>
              <a:rPr sz="1200" dirty="0">
                <a:latin typeface="Calibri"/>
                <a:cs typeface="Calibri"/>
              </a:rPr>
              <a:t>real-world</a:t>
            </a:r>
            <a:r>
              <a:rPr sz="1200" spc="13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environment.</a:t>
            </a:r>
            <a:endParaRPr sz="12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320"/>
              </a:spcBef>
            </a:pPr>
            <a:r>
              <a:rPr sz="1200" spc="65" dirty="0">
                <a:latin typeface="Calibri"/>
                <a:cs typeface="Calibri"/>
              </a:rPr>
              <a:t>With</a:t>
            </a:r>
            <a:r>
              <a:rPr sz="1200" spc="1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1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rapid</a:t>
            </a:r>
            <a:r>
              <a:rPr sz="1200" spc="1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growth</a:t>
            </a:r>
            <a:r>
              <a:rPr sz="1200" spc="1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of</a:t>
            </a:r>
            <a:r>
              <a:rPr sz="1200" spc="1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technology</a:t>
            </a:r>
            <a:r>
              <a:rPr sz="1200" spc="1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along</a:t>
            </a:r>
            <a:r>
              <a:rPr sz="1200" spc="1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with</a:t>
            </a:r>
            <a:r>
              <a:rPr sz="1200" spc="140" dirty="0">
                <a:latin typeface="Calibri"/>
                <a:cs typeface="Calibri"/>
              </a:rPr>
              <a:t> </a:t>
            </a:r>
            <a:r>
              <a:rPr sz="1200" spc="100" dirty="0">
                <a:latin typeface="Calibri"/>
                <a:cs typeface="Calibri"/>
              </a:rPr>
              <a:t>AI,</a:t>
            </a:r>
            <a:r>
              <a:rPr sz="1200" spc="145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the </a:t>
            </a:r>
            <a:r>
              <a:rPr sz="1200" dirty="0">
                <a:latin typeface="Calibri"/>
                <a:cs typeface="Calibri"/>
              </a:rPr>
              <a:t>knowledge</a:t>
            </a:r>
            <a:r>
              <a:rPr sz="1200" spc="1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of</a:t>
            </a:r>
            <a:r>
              <a:rPr sz="1200" spc="1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technology</a:t>
            </a:r>
            <a:r>
              <a:rPr sz="1200" spc="1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is</a:t>
            </a:r>
            <a:r>
              <a:rPr sz="1200" spc="1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not</a:t>
            </a:r>
            <a:r>
              <a:rPr sz="1200" spc="1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only</a:t>
            </a:r>
            <a:r>
              <a:rPr sz="1200" spc="1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important</a:t>
            </a:r>
            <a:r>
              <a:rPr sz="1200" spc="1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</a:t>
            </a:r>
            <a:r>
              <a:rPr sz="1200" spc="14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engineering </a:t>
            </a:r>
            <a:r>
              <a:rPr sz="1200" dirty="0">
                <a:latin typeface="Calibri"/>
                <a:cs typeface="Calibri"/>
              </a:rPr>
              <a:t>fields</a:t>
            </a:r>
            <a:r>
              <a:rPr sz="1200" spc="1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but</a:t>
            </a:r>
            <a:r>
              <a:rPr sz="1200" spc="1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also</a:t>
            </a:r>
            <a:r>
              <a:rPr sz="1200" spc="1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</a:t>
            </a:r>
            <a:r>
              <a:rPr sz="1200" spc="13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commerce</a:t>
            </a:r>
            <a:r>
              <a:rPr sz="1200" spc="1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1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art</a:t>
            </a:r>
            <a:r>
              <a:rPr sz="1200" spc="1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fields</a:t>
            </a:r>
            <a:r>
              <a:rPr sz="1200" spc="13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also.</a:t>
            </a:r>
            <a:endParaRPr sz="1200">
              <a:latin typeface="Calibri"/>
              <a:cs typeface="Calibri"/>
            </a:endParaRPr>
          </a:p>
          <a:p>
            <a:pPr marL="12700" marR="100330">
              <a:lnSpc>
                <a:spcPct val="100000"/>
              </a:lnSpc>
              <a:spcBef>
                <a:spcPts val="315"/>
              </a:spcBef>
            </a:pPr>
            <a:r>
              <a:rPr sz="1200" spc="60" dirty="0">
                <a:latin typeface="Calibri"/>
                <a:cs typeface="Calibri"/>
              </a:rPr>
              <a:t>Existing</a:t>
            </a:r>
            <a:r>
              <a:rPr sz="1200" spc="1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solutions</a:t>
            </a:r>
            <a:r>
              <a:rPr sz="1200" spc="1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1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this</a:t>
            </a:r>
            <a:r>
              <a:rPr sz="1200" spc="1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problem</a:t>
            </a:r>
            <a:r>
              <a:rPr sz="1200" spc="1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either</a:t>
            </a:r>
            <a:r>
              <a:rPr sz="1200" spc="1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have</a:t>
            </a:r>
            <a:r>
              <a:rPr sz="1200" spc="1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</a:t>
            </a:r>
            <a:r>
              <a:rPr sz="1200" spc="130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very </a:t>
            </a:r>
            <a:r>
              <a:rPr sz="1200" dirty="0">
                <a:latin typeface="Calibri"/>
                <a:cs typeface="Calibri"/>
              </a:rPr>
              <a:t>complicated</a:t>
            </a:r>
            <a:r>
              <a:rPr sz="1200" spc="114" dirty="0">
                <a:latin typeface="Calibri"/>
                <a:cs typeface="Calibri"/>
              </a:rPr>
              <a:t> </a:t>
            </a:r>
            <a:r>
              <a:rPr sz="1200" spc="135" dirty="0">
                <a:latin typeface="Calibri"/>
                <a:cs typeface="Calibri"/>
              </a:rPr>
              <a:t>UI/UX</a:t>
            </a:r>
            <a:r>
              <a:rPr sz="1200" spc="1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which</a:t>
            </a:r>
            <a:r>
              <a:rPr sz="1200" spc="1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could</a:t>
            </a:r>
            <a:r>
              <a:rPr sz="1200" spc="1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be</a:t>
            </a:r>
            <a:r>
              <a:rPr sz="1200" spc="1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overwhelming</a:t>
            </a:r>
            <a:r>
              <a:rPr sz="1200" spc="120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for </a:t>
            </a:r>
            <a:r>
              <a:rPr sz="1200" dirty="0">
                <a:latin typeface="Calibri"/>
                <a:cs typeface="Calibri"/>
              </a:rPr>
              <a:t>beginners</a:t>
            </a:r>
            <a:r>
              <a:rPr sz="1200" spc="1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or</a:t>
            </a:r>
            <a:r>
              <a:rPr sz="1200" spc="15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might</a:t>
            </a:r>
            <a:r>
              <a:rPr sz="1200" spc="15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not</a:t>
            </a:r>
            <a:r>
              <a:rPr sz="1200" spc="1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have</a:t>
            </a:r>
            <a:r>
              <a:rPr sz="1200" spc="15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</a:t>
            </a:r>
            <a:r>
              <a:rPr sz="1200" spc="1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realtime</a:t>
            </a:r>
            <a:r>
              <a:rPr sz="1200" spc="1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collaborative</a:t>
            </a:r>
            <a:r>
              <a:rPr sz="1200" spc="14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coding environment.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2374" y="1790039"/>
            <a:ext cx="69291" cy="6929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02374" y="2378392"/>
            <a:ext cx="69291" cy="69291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0" y="3349777"/>
            <a:ext cx="4608195" cy="106680"/>
            <a:chOff x="0" y="3349777"/>
            <a:chExt cx="4608195" cy="106680"/>
          </a:xfrm>
        </p:grpSpPr>
        <p:sp>
          <p:nvSpPr>
            <p:cNvPr id="8" name="object 8"/>
            <p:cNvSpPr/>
            <p:nvPr/>
          </p:nvSpPr>
          <p:spPr>
            <a:xfrm>
              <a:off x="0" y="3349777"/>
              <a:ext cx="1536065" cy="106680"/>
            </a:xfrm>
            <a:custGeom>
              <a:avLst/>
              <a:gdLst/>
              <a:ahLst/>
              <a:cxnLst/>
              <a:rect l="l" t="t" r="r" b="b"/>
              <a:pathLst>
                <a:path w="1536065" h="106679">
                  <a:moveTo>
                    <a:pt x="1535976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535976" y="10622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535976" y="3349777"/>
              <a:ext cx="1536065" cy="106680"/>
            </a:xfrm>
            <a:custGeom>
              <a:avLst/>
              <a:gdLst/>
              <a:ahLst/>
              <a:cxnLst/>
              <a:rect l="l" t="t" r="r" b="b"/>
              <a:pathLst>
                <a:path w="1536064" h="106679">
                  <a:moveTo>
                    <a:pt x="1535976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535976" y="10622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071952" y="3349777"/>
              <a:ext cx="1536065" cy="106680"/>
            </a:xfrm>
            <a:custGeom>
              <a:avLst/>
              <a:gdLst/>
              <a:ahLst/>
              <a:cxnLst/>
              <a:rect l="l" t="t" r="r" b="b"/>
              <a:pathLst>
                <a:path w="1536064" h="106679">
                  <a:moveTo>
                    <a:pt x="1535976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535976" y="10622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pc="110" dirty="0"/>
              <a:t>(CSIT(21-</a:t>
            </a:r>
            <a:r>
              <a:rPr spc="120" dirty="0"/>
              <a:t>25/CSIT/27)</a:t>
            </a:r>
            <a:r>
              <a:rPr spc="145" dirty="0"/>
              <a:t> </a:t>
            </a:r>
            <a:r>
              <a:rPr spc="45" dirty="0"/>
              <a:t>)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spc="60" dirty="0"/>
              <a:pPr marL="38100">
                <a:lnSpc>
                  <a:spcPts val="670"/>
                </a:lnSpc>
              </a:pPr>
              <a:t>3</a:t>
            </a:fld>
            <a:r>
              <a:rPr spc="-15" dirty="0"/>
              <a:t> </a:t>
            </a:r>
            <a:r>
              <a:rPr spc="125" dirty="0"/>
              <a:t>/</a:t>
            </a:r>
            <a:r>
              <a:rPr spc="-10" dirty="0"/>
              <a:t> </a:t>
            </a:r>
            <a:r>
              <a:rPr spc="35" dirty="0"/>
              <a:t>26</a:t>
            </a:r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Introduction</a:t>
            </a:r>
            <a:r>
              <a:rPr spc="85" dirty="0"/>
              <a:t> </a:t>
            </a:r>
            <a:r>
              <a:rPr spc="-10" dirty="0"/>
              <a:t>(contd...)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2374" y="896353"/>
            <a:ext cx="69291" cy="69291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pc="75" dirty="0"/>
              <a:t>This</a:t>
            </a:r>
            <a:r>
              <a:rPr spc="140" dirty="0"/>
              <a:t> </a:t>
            </a:r>
            <a:r>
              <a:rPr dirty="0"/>
              <a:t>project,</a:t>
            </a:r>
            <a:r>
              <a:rPr spc="140" dirty="0"/>
              <a:t> </a:t>
            </a:r>
            <a:r>
              <a:rPr dirty="0"/>
              <a:t>a</a:t>
            </a:r>
            <a:r>
              <a:rPr spc="145" dirty="0"/>
              <a:t> </a:t>
            </a:r>
            <a:r>
              <a:rPr b="1" spc="100" dirty="0">
                <a:latin typeface="Calibri"/>
                <a:cs typeface="Calibri"/>
              </a:rPr>
              <a:t>Realtime</a:t>
            </a:r>
            <a:r>
              <a:rPr b="1" spc="210" dirty="0">
                <a:latin typeface="Calibri"/>
                <a:cs typeface="Calibri"/>
              </a:rPr>
              <a:t> </a:t>
            </a:r>
            <a:r>
              <a:rPr b="1" spc="90" dirty="0">
                <a:latin typeface="Calibri"/>
                <a:cs typeface="Calibri"/>
              </a:rPr>
              <a:t>Collaborative</a:t>
            </a:r>
            <a:r>
              <a:rPr b="1" spc="210" dirty="0">
                <a:latin typeface="Calibri"/>
                <a:cs typeface="Calibri"/>
              </a:rPr>
              <a:t> </a:t>
            </a:r>
            <a:r>
              <a:rPr b="1" spc="120" dirty="0">
                <a:latin typeface="Calibri"/>
                <a:cs typeface="Calibri"/>
              </a:rPr>
              <a:t>Code</a:t>
            </a:r>
            <a:r>
              <a:rPr b="1" spc="210" dirty="0">
                <a:latin typeface="Calibri"/>
                <a:cs typeface="Calibri"/>
              </a:rPr>
              <a:t> </a:t>
            </a:r>
            <a:r>
              <a:rPr b="1" spc="90" dirty="0">
                <a:latin typeface="Calibri"/>
                <a:cs typeface="Calibri"/>
              </a:rPr>
              <a:t>Editor</a:t>
            </a:r>
            <a:r>
              <a:rPr spc="90" dirty="0"/>
              <a:t>, </a:t>
            </a:r>
            <a:r>
              <a:rPr dirty="0"/>
              <a:t>provides</a:t>
            </a:r>
            <a:r>
              <a:rPr spc="150" dirty="0"/>
              <a:t> </a:t>
            </a:r>
            <a:r>
              <a:rPr dirty="0"/>
              <a:t>a</a:t>
            </a:r>
            <a:r>
              <a:rPr spc="150" dirty="0"/>
              <a:t> </a:t>
            </a:r>
            <a:r>
              <a:rPr dirty="0"/>
              <a:t>very</a:t>
            </a:r>
            <a:r>
              <a:rPr spc="160" dirty="0"/>
              <a:t> </a:t>
            </a:r>
            <a:r>
              <a:rPr dirty="0"/>
              <a:t>simple</a:t>
            </a:r>
            <a:r>
              <a:rPr spc="150" dirty="0"/>
              <a:t> </a:t>
            </a:r>
            <a:r>
              <a:rPr dirty="0"/>
              <a:t>solution</a:t>
            </a:r>
            <a:r>
              <a:rPr spc="155" dirty="0"/>
              <a:t> </a:t>
            </a:r>
            <a:r>
              <a:rPr dirty="0"/>
              <a:t>to</a:t>
            </a:r>
            <a:r>
              <a:rPr spc="150" dirty="0"/>
              <a:t> </a:t>
            </a:r>
            <a:r>
              <a:rPr dirty="0"/>
              <a:t>this</a:t>
            </a:r>
            <a:r>
              <a:rPr spc="150" dirty="0"/>
              <a:t> </a:t>
            </a:r>
            <a:r>
              <a:rPr dirty="0"/>
              <a:t>problem</a:t>
            </a:r>
            <a:r>
              <a:rPr spc="155" dirty="0"/>
              <a:t> </a:t>
            </a:r>
            <a:r>
              <a:rPr spc="-10" dirty="0"/>
              <a:t>where </a:t>
            </a:r>
            <a:r>
              <a:rPr dirty="0"/>
              <a:t>students</a:t>
            </a:r>
            <a:r>
              <a:rPr spc="150" dirty="0"/>
              <a:t> </a:t>
            </a:r>
            <a:r>
              <a:rPr dirty="0"/>
              <a:t>can</a:t>
            </a:r>
            <a:r>
              <a:rPr spc="150" dirty="0"/>
              <a:t> </a:t>
            </a:r>
            <a:r>
              <a:rPr dirty="0"/>
              <a:t>code,</a:t>
            </a:r>
            <a:r>
              <a:rPr spc="155" dirty="0"/>
              <a:t> </a:t>
            </a:r>
            <a:r>
              <a:rPr dirty="0"/>
              <a:t>learn</a:t>
            </a:r>
            <a:r>
              <a:rPr spc="150" dirty="0"/>
              <a:t> </a:t>
            </a:r>
            <a:r>
              <a:rPr dirty="0"/>
              <a:t>collaboratively</a:t>
            </a:r>
            <a:r>
              <a:rPr spc="155" dirty="0"/>
              <a:t> </a:t>
            </a:r>
            <a:r>
              <a:rPr dirty="0"/>
              <a:t>in</a:t>
            </a:r>
            <a:r>
              <a:rPr spc="155" dirty="0"/>
              <a:t> </a:t>
            </a:r>
            <a:r>
              <a:rPr dirty="0"/>
              <a:t>their</a:t>
            </a:r>
            <a:r>
              <a:rPr spc="155" dirty="0"/>
              <a:t> </a:t>
            </a:r>
            <a:r>
              <a:rPr dirty="0"/>
              <a:t>browser</a:t>
            </a:r>
            <a:r>
              <a:rPr spc="150" dirty="0"/>
              <a:t> </a:t>
            </a:r>
            <a:r>
              <a:rPr spc="-10" dirty="0"/>
              <a:t>itself </a:t>
            </a:r>
            <a:r>
              <a:rPr dirty="0"/>
              <a:t>without</a:t>
            </a:r>
            <a:r>
              <a:rPr spc="204" dirty="0"/>
              <a:t> </a:t>
            </a:r>
            <a:r>
              <a:rPr dirty="0"/>
              <a:t>requiring</a:t>
            </a:r>
            <a:r>
              <a:rPr spc="204" dirty="0"/>
              <a:t> </a:t>
            </a:r>
            <a:r>
              <a:rPr dirty="0"/>
              <a:t>any</a:t>
            </a:r>
            <a:r>
              <a:rPr spc="210" dirty="0"/>
              <a:t> </a:t>
            </a:r>
            <a:r>
              <a:rPr dirty="0"/>
              <a:t>heavy</a:t>
            </a:r>
            <a:r>
              <a:rPr spc="215" dirty="0"/>
              <a:t> </a:t>
            </a:r>
            <a:r>
              <a:rPr spc="-10" dirty="0"/>
              <a:t>installation.</a:t>
            </a:r>
          </a:p>
          <a:p>
            <a:pPr marL="12700" marR="84455">
              <a:lnSpc>
                <a:spcPct val="100000"/>
              </a:lnSpc>
              <a:spcBef>
                <a:spcPts val="315"/>
              </a:spcBef>
            </a:pPr>
            <a:r>
              <a:rPr spc="85" dirty="0"/>
              <a:t>It</a:t>
            </a:r>
            <a:r>
              <a:rPr spc="120" dirty="0"/>
              <a:t> </a:t>
            </a:r>
            <a:r>
              <a:rPr dirty="0"/>
              <a:t>provides</a:t>
            </a:r>
            <a:r>
              <a:rPr spc="125" dirty="0"/>
              <a:t> </a:t>
            </a:r>
            <a:r>
              <a:rPr dirty="0"/>
              <a:t>a</a:t>
            </a:r>
            <a:r>
              <a:rPr spc="125" dirty="0"/>
              <a:t> </a:t>
            </a:r>
            <a:r>
              <a:rPr dirty="0"/>
              <a:t>collaborative</a:t>
            </a:r>
            <a:r>
              <a:rPr spc="125" dirty="0"/>
              <a:t> </a:t>
            </a:r>
            <a:r>
              <a:rPr dirty="0"/>
              <a:t>environment</a:t>
            </a:r>
            <a:r>
              <a:rPr spc="125" dirty="0"/>
              <a:t> </a:t>
            </a:r>
            <a:r>
              <a:rPr dirty="0"/>
              <a:t>where</a:t>
            </a:r>
            <a:r>
              <a:rPr spc="125" dirty="0"/>
              <a:t> </a:t>
            </a:r>
            <a:r>
              <a:rPr dirty="0"/>
              <a:t>students</a:t>
            </a:r>
            <a:r>
              <a:rPr spc="125" dirty="0"/>
              <a:t> </a:t>
            </a:r>
            <a:r>
              <a:rPr spc="-25" dirty="0"/>
              <a:t>can </a:t>
            </a:r>
            <a:r>
              <a:rPr dirty="0"/>
              <a:t>code</a:t>
            </a:r>
            <a:r>
              <a:rPr spc="155" dirty="0"/>
              <a:t> </a:t>
            </a:r>
            <a:r>
              <a:rPr dirty="0"/>
              <a:t>not</a:t>
            </a:r>
            <a:r>
              <a:rPr spc="165" dirty="0"/>
              <a:t> </a:t>
            </a:r>
            <a:r>
              <a:rPr dirty="0"/>
              <a:t>only</a:t>
            </a:r>
            <a:r>
              <a:rPr spc="155" dirty="0"/>
              <a:t> </a:t>
            </a:r>
            <a:r>
              <a:rPr dirty="0"/>
              <a:t>in</a:t>
            </a:r>
            <a:r>
              <a:rPr spc="155" dirty="0"/>
              <a:t> </a:t>
            </a:r>
            <a:r>
              <a:rPr dirty="0"/>
              <a:t>class</a:t>
            </a:r>
            <a:r>
              <a:rPr spc="160" dirty="0"/>
              <a:t> </a:t>
            </a:r>
            <a:r>
              <a:rPr dirty="0"/>
              <a:t>but</a:t>
            </a:r>
            <a:r>
              <a:rPr spc="155" dirty="0"/>
              <a:t> </a:t>
            </a:r>
            <a:r>
              <a:rPr dirty="0"/>
              <a:t>also</a:t>
            </a:r>
            <a:r>
              <a:rPr spc="160" dirty="0"/>
              <a:t> </a:t>
            </a:r>
            <a:r>
              <a:rPr dirty="0"/>
              <a:t>in</a:t>
            </a:r>
            <a:r>
              <a:rPr spc="160" dirty="0"/>
              <a:t> </a:t>
            </a:r>
            <a:r>
              <a:rPr dirty="0"/>
              <a:t>holidays.</a:t>
            </a:r>
            <a:r>
              <a:rPr spc="310" dirty="0"/>
              <a:t> </a:t>
            </a:r>
            <a:r>
              <a:rPr spc="85" dirty="0"/>
              <a:t>It</a:t>
            </a:r>
            <a:r>
              <a:rPr spc="155" dirty="0"/>
              <a:t> </a:t>
            </a:r>
            <a:r>
              <a:rPr dirty="0"/>
              <a:t>will</a:t>
            </a:r>
            <a:r>
              <a:rPr spc="160" dirty="0"/>
              <a:t> </a:t>
            </a:r>
            <a:r>
              <a:rPr dirty="0"/>
              <a:t>help</a:t>
            </a:r>
            <a:r>
              <a:rPr spc="160" dirty="0"/>
              <a:t> </a:t>
            </a:r>
            <a:r>
              <a:rPr spc="-20" dirty="0"/>
              <a:t>them </a:t>
            </a:r>
            <a:r>
              <a:rPr dirty="0"/>
              <a:t>to</a:t>
            </a:r>
            <a:r>
              <a:rPr spc="130" dirty="0"/>
              <a:t> </a:t>
            </a:r>
            <a:r>
              <a:rPr dirty="0"/>
              <a:t>practice</a:t>
            </a:r>
            <a:r>
              <a:rPr spc="130" dirty="0"/>
              <a:t> </a:t>
            </a:r>
            <a:r>
              <a:rPr dirty="0"/>
              <a:t>and</a:t>
            </a:r>
            <a:r>
              <a:rPr spc="135" dirty="0"/>
              <a:t> </a:t>
            </a:r>
            <a:r>
              <a:rPr dirty="0"/>
              <a:t>work</a:t>
            </a:r>
            <a:r>
              <a:rPr spc="130" dirty="0"/>
              <a:t> </a:t>
            </a:r>
            <a:r>
              <a:rPr dirty="0"/>
              <a:t>on</a:t>
            </a:r>
            <a:r>
              <a:rPr spc="130" dirty="0"/>
              <a:t> </a:t>
            </a:r>
            <a:r>
              <a:rPr dirty="0"/>
              <a:t>their</a:t>
            </a:r>
            <a:r>
              <a:rPr spc="140" dirty="0"/>
              <a:t> </a:t>
            </a:r>
            <a:r>
              <a:rPr dirty="0"/>
              <a:t>holiday</a:t>
            </a:r>
            <a:r>
              <a:rPr spc="135" dirty="0"/>
              <a:t> </a:t>
            </a:r>
            <a:r>
              <a:rPr dirty="0"/>
              <a:t>homework</a:t>
            </a:r>
            <a:r>
              <a:rPr spc="140" dirty="0"/>
              <a:t> </a:t>
            </a:r>
            <a:r>
              <a:rPr spc="-10" dirty="0"/>
              <a:t>projects.</a:t>
            </a:r>
          </a:p>
          <a:p>
            <a:pPr marL="12700" marR="73660">
              <a:lnSpc>
                <a:spcPct val="100000"/>
              </a:lnSpc>
              <a:spcBef>
                <a:spcPts val="315"/>
              </a:spcBef>
            </a:pPr>
            <a:r>
              <a:rPr spc="85" dirty="0"/>
              <a:t>It</a:t>
            </a:r>
            <a:r>
              <a:rPr spc="130" dirty="0"/>
              <a:t> </a:t>
            </a:r>
            <a:r>
              <a:rPr dirty="0"/>
              <a:t>is</a:t>
            </a:r>
            <a:r>
              <a:rPr spc="135" dirty="0"/>
              <a:t> </a:t>
            </a:r>
            <a:r>
              <a:rPr dirty="0"/>
              <a:t>not</a:t>
            </a:r>
            <a:r>
              <a:rPr spc="130" dirty="0"/>
              <a:t> </a:t>
            </a:r>
            <a:r>
              <a:rPr dirty="0"/>
              <a:t>only</a:t>
            </a:r>
            <a:r>
              <a:rPr spc="135" dirty="0"/>
              <a:t> </a:t>
            </a:r>
            <a:r>
              <a:rPr dirty="0"/>
              <a:t>beneficial</a:t>
            </a:r>
            <a:r>
              <a:rPr spc="135" dirty="0"/>
              <a:t> </a:t>
            </a:r>
            <a:r>
              <a:rPr dirty="0"/>
              <a:t>for</a:t>
            </a:r>
            <a:r>
              <a:rPr spc="135" dirty="0"/>
              <a:t> </a:t>
            </a:r>
            <a:r>
              <a:rPr dirty="0"/>
              <a:t>students</a:t>
            </a:r>
            <a:r>
              <a:rPr spc="130" dirty="0"/>
              <a:t> </a:t>
            </a:r>
            <a:r>
              <a:rPr dirty="0"/>
              <a:t>but</a:t>
            </a:r>
            <a:r>
              <a:rPr spc="140" dirty="0"/>
              <a:t> </a:t>
            </a:r>
            <a:r>
              <a:rPr dirty="0"/>
              <a:t>also</a:t>
            </a:r>
            <a:r>
              <a:rPr spc="130" dirty="0"/>
              <a:t> </a:t>
            </a:r>
            <a:r>
              <a:rPr dirty="0"/>
              <a:t>for</a:t>
            </a:r>
            <a:r>
              <a:rPr spc="135" dirty="0"/>
              <a:t> </a:t>
            </a:r>
            <a:r>
              <a:rPr spc="-10" dirty="0"/>
              <a:t>teachers </a:t>
            </a:r>
            <a:r>
              <a:rPr dirty="0"/>
              <a:t>where</a:t>
            </a:r>
            <a:r>
              <a:rPr spc="130" dirty="0"/>
              <a:t> </a:t>
            </a:r>
            <a:r>
              <a:rPr dirty="0"/>
              <a:t>they</a:t>
            </a:r>
            <a:r>
              <a:rPr spc="140" dirty="0"/>
              <a:t> </a:t>
            </a:r>
            <a:r>
              <a:rPr dirty="0"/>
              <a:t>can</a:t>
            </a:r>
            <a:r>
              <a:rPr spc="130" dirty="0"/>
              <a:t> </a:t>
            </a:r>
            <a:r>
              <a:rPr dirty="0"/>
              <a:t>explain</a:t>
            </a:r>
            <a:r>
              <a:rPr spc="135" dirty="0"/>
              <a:t> </a:t>
            </a:r>
            <a:r>
              <a:rPr dirty="0"/>
              <a:t>the</a:t>
            </a:r>
            <a:r>
              <a:rPr spc="130" dirty="0"/>
              <a:t> </a:t>
            </a:r>
            <a:r>
              <a:rPr dirty="0"/>
              <a:t>coding</a:t>
            </a:r>
            <a:r>
              <a:rPr spc="135" dirty="0"/>
              <a:t> </a:t>
            </a:r>
            <a:r>
              <a:rPr dirty="0"/>
              <a:t>concepts</a:t>
            </a:r>
            <a:r>
              <a:rPr spc="135" dirty="0"/>
              <a:t> </a:t>
            </a:r>
            <a:r>
              <a:rPr dirty="0"/>
              <a:t>to</a:t>
            </a:r>
            <a:r>
              <a:rPr spc="130" dirty="0"/>
              <a:t> </a:t>
            </a:r>
            <a:r>
              <a:rPr spc="-10" dirty="0"/>
              <a:t>students </a:t>
            </a:r>
            <a:r>
              <a:rPr dirty="0"/>
              <a:t>collaboratively</a:t>
            </a:r>
            <a:r>
              <a:rPr spc="170" dirty="0"/>
              <a:t> </a:t>
            </a:r>
            <a:r>
              <a:rPr dirty="0"/>
              <a:t>along</a:t>
            </a:r>
            <a:r>
              <a:rPr spc="170" dirty="0"/>
              <a:t> </a:t>
            </a:r>
            <a:r>
              <a:rPr dirty="0"/>
              <a:t>with</a:t>
            </a:r>
            <a:r>
              <a:rPr spc="180" dirty="0"/>
              <a:t> </a:t>
            </a:r>
            <a:r>
              <a:rPr dirty="0"/>
              <a:t>the</a:t>
            </a:r>
            <a:r>
              <a:rPr spc="170" dirty="0"/>
              <a:t> </a:t>
            </a:r>
            <a:r>
              <a:rPr dirty="0"/>
              <a:t>workspace</a:t>
            </a:r>
            <a:r>
              <a:rPr spc="175" dirty="0"/>
              <a:t> </a:t>
            </a:r>
            <a:r>
              <a:rPr dirty="0"/>
              <a:t>provided.</a:t>
            </a:r>
            <a:r>
              <a:rPr spc="325" dirty="0"/>
              <a:t> </a:t>
            </a:r>
            <a:r>
              <a:rPr spc="75" dirty="0"/>
              <a:t>This</a:t>
            </a:r>
            <a:r>
              <a:rPr spc="175" dirty="0"/>
              <a:t> </a:t>
            </a:r>
            <a:r>
              <a:rPr spc="-20" dirty="0"/>
              <a:t>will </a:t>
            </a:r>
            <a:r>
              <a:rPr dirty="0"/>
              <a:t>also</a:t>
            </a:r>
            <a:r>
              <a:rPr spc="120" dirty="0"/>
              <a:t> </a:t>
            </a:r>
            <a:r>
              <a:rPr dirty="0"/>
              <a:t>help</a:t>
            </a:r>
            <a:r>
              <a:rPr spc="130" dirty="0"/>
              <a:t> </a:t>
            </a:r>
            <a:r>
              <a:rPr dirty="0"/>
              <a:t>them</a:t>
            </a:r>
            <a:r>
              <a:rPr spc="120" dirty="0"/>
              <a:t> </a:t>
            </a:r>
            <a:r>
              <a:rPr dirty="0"/>
              <a:t>to</a:t>
            </a:r>
            <a:r>
              <a:rPr spc="125" dirty="0"/>
              <a:t> </a:t>
            </a:r>
            <a:r>
              <a:rPr dirty="0"/>
              <a:t>monitor</a:t>
            </a:r>
            <a:r>
              <a:rPr spc="120" dirty="0"/>
              <a:t> </a:t>
            </a:r>
            <a:r>
              <a:rPr dirty="0"/>
              <a:t>students</a:t>
            </a:r>
            <a:r>
              <a:rPr spc="125" dirty="0"/>
              <a:t> </a:t>
            </a:r>
            <a:r>
              <a:rPr dirty="0"/>
              <a:t>progress</a:t>
            </a:r>
            <a:r>
              <a:rPr spc="120" dirty="0"/>
              <a:t> </a:t>
            </a:r>
            <a:r>
              <a:rPr dirty="0"/>
              <a:t>in</a:t>
            </a:r>
            <a:r>
              <a:rPr spc="125" dirty="0"/>
              <a:t> </a:t>
            </a:r>
            <a:r>
              <a:rPr dirty="0"/>
              <a:t>real</a:t>
            </a:r>
            <a:r>
              <a:rPr spc="130" dirty="0"/>
              <a:t> </a:t>
            </a:r>
            <a:r>
              <a:rPr spc="-10" dirty="0"/>
              <a:t>time.</a:t>
            </a: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2374" y="1668157"/>
            <a:ext cx="69291" cy="6929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02374" y="2256497"/>
            <a:ext cx="69291" cy="69291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0" y="3349777"/>
            <a:ext cx="4608195" cy="106680"/>
            <a:chOff x="0" y="3349777"/>
            <a:chExt cx="4608195" cy="106680"/>
          </a:xfrm>
        </p:grpSpPr>
        <p:sp>
          <p:nvSpPr>
            <p:cNvPr id="8" name="object 8"/>
            <p:cNvSpPr/>
            <p:nvPr/>
          </p:nvSpPr>
          <p:spPr>
            <a:xfrm>
              <a:off x="0" y="3349777"/>
              <a:ext cx="1536065" cy="106680"/>
            </a:xfrm>
            <a:custGeom>
              <a:avLst/>
              <a:gdLst/>
              <a:ahLst/>
              <a:cxnLst/>
              <a:rect l="l" t="t" r="r" b="b"/>
              <a:pathLst>
                <a:path w="1536065" h="106679">
                  <a:moveTo>
                    <a:pt x="1535976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535976" y="10622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535976" y="3349777"/>
              <a:ext cx="1536065" cy="106680"/>
            </a:xfrm>
            <a:custGeom>
              <a:avLst/>
              <a:gdLst/>
              <a:ahLst/>
              <a:cxnLst/>
              <a:rect l="l" t="t" r="r" b="b"/>
              <a:pathLst>
                <a:path w="1536064" h="106679">
                  <a:moveTo>
                    <a:pt x="1535976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535976" y="10622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071952" y="3349777"/>
              <a:ext cx="1536065" cy="106680"/>
            </a:xfrm>
            <a:custGeom>
              <a:avLst/>
              <a:gdLst/>
              <a:ahLst/>
              <a:cxnLst/>
              <a:rect l="l" t="t" r="r" b="b"/>
              <a:pathLst>
                <a:path w="1536064" h="106679">
                  <a:moveTo>
                    <a:pt x="1535976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535976" y="10622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pc="110" dirty="0"/>
              <a:t>(CSIT(21-</a:t>
            </a:r>
            <a:r>
              <a:rPr spc="120" dirty="0"/>
              <a:t>25/CSIT/27)</a:t>
            </a:r>
            <a:r>
              <a:rPr spc="145" dirty="0"/>
              <a:t> </a:t>
            </a:r>
            <a:r>
              <a:rPr spc="45" dirty="0"/>
              <a:t>)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spc="60" dirty="0"/>
              <a:pPr marL="38100">
                <a:lnSpc>
                  <a:spcPts val="670"/>
                </a:lnSpc>
              </a:pPr>
              <a:t>4</a:t>
            </a:fld>
            <a:r>
              <a:rPr spc="-15" dirty="0"/>
              <a:t> </a:t>
            </a:r>
            <a:r>
              <a:rPr spc="125" dirty="0"/>
              <a:t>/</a:t>
            </a:r>
            <a:r>
              <a:rPr spc="-10" dirty="0"/>
              <a:t> </a:t>
            </a:r>
            <a:r>
              <a:rPr spc="35" dirty="0"/>
              <a:t>26</a:t>
            </a:r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80" dirty="0"/>
              <a:t>Key</a:t>
            </a:r>
            <a:r>
              <a:rPr spc="145" dirty="0"/>
              <a:t> </a:t>
            </a:r>
            <a:r>
              <a:rPr spc="-25" dirty="0"/>
              <a:t>Features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2374" y="820432"/>
            <a:ext cx="69291" cy="6929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33298" y="688518"/>
            <a:ext cx="3939540" cy="2347595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1200" dirty="0">
                <a:latin typeface="Calibri"/>
                <a:cs typeface="Calibri"/>
              </a:rPr>
              <a:t>Simple</a:t>
            </a:r>
            <a:r>
              <a:rPr sz="1200" spc="2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24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user-</a:t>
            </a:r>
            <a:r>
              <a:rPr sz="1200" dirty="0">
                <a:latin typeface="Calibri"/>
                <a:cs typeface="Calibri"/>
              </a:rPr>
              <a:t>friendly</a:t>
            </a:r>
            <a:r>
              <a:rPr sz="1200" spc="245" dirty="0">
                <a:latin typeface="Calibri"/>
                <a:cs typeface="Calibri"/>
              </a:rPr>
              <a:t> </a:t>
            </a:r>
            <a:r>
              <a:rPr sz="1200" spc="105" dirty="0">
                <a:latin typeface="Calibri"/>
                <a:cs typeface="Calibri"/>
              </a:rPr>
              <a:t>UI/UX.</a:t>
            </a:r>
            <a:endParaRPr sz="1200">
              <a:latin typeface="Calibri"/>
              <a:cs typeface="Calibri"/>
            </a:endParaRPr>
          </a:p>
          <a:p>
            <a:pPr marL="12700" marR="447675">
              <a:lnSpc>
                <a:spcPct val="121100"/>
              </a:lnSpc>
            </a:pPr>
            <a:r>
              <a:rPr sz="1200" dirty="0">
                <a:latin typeface="Calibri"/>
                <a:cs typeface="Calibri"/>
              </a:rPr>
              <a:t>Direct</a:t>
            </a:r>
            <a:r>
              <a:rPr sz="1200" spc="15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browser</a:t>
            </a:r>
            <a:r>
              <a:rPr sz="1200" spc="15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access</a:t>
            </a:r>
            <a:r>
              <a:rPr sz="1200" spc="15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without</a:t>
            </a:r>
            <a:r>
              <a:rPr sz="1200" spc="15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any</a:t>
            </a:r>
            <a:r>
              <a:rPr sz="1200" spc="16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heavy</a:t>
            </a:r>
            <a:r>
              <a:rPr sz="1200" spc="15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installation. </a:t>
            </a:r>
            <a:r>
              <a:rPr sz="1200" dirty="0">
                <a:latin typeface="Calibri"/>
                <a:cs typeface="Calibri"/>
              </a:rPr>
              <a:t>No</a:t>
            </a:r>
            <a:r>
              <a:rPr sz="1200" spc="1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account</a:t>
            </a:r>
            <a:r>
              <a:rPr sz="1200" spc="15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creation</a:t>
            </a:r>
            <a:r>
              <a:rPr sz="1200" spc="15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required.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1200" spc="145" dirty="0">
                <a:latin typeface="Calibri"/>
                <a:cs typeface="Calibri"/>
              </a:rPr>
              <a:t>AI</a:t>
            </a:r>
            <a:r>
              <a:rPr sz="1200" spc="17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chatbot</a:t>
            </a:r>
            <a:r>
              <a:rPr sz="1200" spc="17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for</a:t>
            </a:r>
            <a:r>
              <a:rPr sz="1200" spc="17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instant</a:t>
            </a:r>
            <a:r>
              <a:rPr sz="1200" spc="17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guidance</a:t>
            </a:r>
            <a:r>
              <a:rPr sz="1200" spc="17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</a:t>
            </a:r>
            <a:r>
              <a:rPr sz="1200" spc="18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algorithms.</a:t>
            </a:r>
            <a:endParaRPr sz="12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305"/>
              </a:spcBef>
            </a:pPr>
            <a:r>
              <a:rPr sz="1200" dirty="0">
                <a:latin typeface="Calibri"/>
                <a:cs typeface="Calibri"/>
              </a:rPr>
              <a:t>Real</a:t>
            </a:r>
            <a:r>
              <a:rPr sz="1200" spc="2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time</a:t>
            </a:r>
            <a:r>
              <a:rPr sz="1200" spc="2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notifications</a:t>
            </a:r>
            <a:r>
              <a:rPr sz="1200" spc="2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including</a:t>
            </a:r>
            <a:r>
              <a:rPr sz="1200" spc="2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screen</a:t>
            </a:r>
            <a:r>
              <a:rPr sz="1200" spc="2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time</a:t>
            </a:r>
            <a:r>
              <a:rPr sz="1200" spc="2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notification</a:t>
            </a:r>
            <a:r>
              <a:rPr sz="1200" spc="215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for </a:t>
            </a:r>
            <a:r>
              <a:rPr sz="1200" spc="-10" dirty="0">
                <a:latin typeface="Calibri"/>
                <a:cs typeface="Calibri"/>
              </a:rPr>
              <a:t>health.</a:t>
            </a:r>
            <a:endParaRPr sz="1200">
              <a:latin typeface="Calibri"/>
              <a:cs typeface="Calibri"/>
            </a:endParaRPr>
          </a:p>
          <a:p>
            <a:pPr marL="12700" marR="430530">
              <a:lnSpc>
                <a:spcPct val="100000"/>
              </a:lnSpc>
              <a:spcBef>
                <a:spcPts val="305"/>
              </a:spcBef>
            </a:pPr>
            <a:r>
              <a:rPr sz="1200" dirty="0">
                <a:latin typeface="Calibri"/>
                <a:cs typeface="Calibri"/>
              </a:rPr>
              <a:t>Communication</a:t>
            </a:r>
            <a:r>
              <a:rPr sz="1200" spc="2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via</a:t>
            </a:r>
            <a:r>
              <a:rPr sz="1200" spc="2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text/voice</a:t>
            </a:r>
            <a:r>
              <a:rPr sz="1200" spc="2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chat</a:t>
            </a:r>
            <a:r>
              <a:rPr sz="1200" spc="2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2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also</a:t>
            </a:r>
            <a:r>
              <a:rPr sz="1200" spc="2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</a:t>
            </a:r>
            <a:r>
              <a:rPr sz="1200" spc="2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shared </a:t>
            </a:r>
            <a:r>
              <a:rPr sz="1200" dirty="0">
                <a:latin typeface="Calibri"/>
                <a:cs typeface="Calibri"/>
              </a:rPr>
              <a:t>drawing</a:t>
            </a:r>
            <a:r>
              <a:rPr sz="1200" spc="114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workspace</a:t>
            </a:r>
            <a:r>
              <a:rPr sz="1200" spc="1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for</a:t>
            </a:r>
            <a:r>
              <a:rPr sz="1200" spc="1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teachers.</a:t>
            </a:r>
            <a:endParaRPr sz="1200">
              <a:latin typeface="Calibri"/>
              <a:cs typeface="Calibri"/>
            </a:endParaRPr>
          </a:p>
          <a:p>
            <a:pPr marL="12700" marR="372110">
              <a:lnSpc>
                <a:spcPct val="100000"/>
              </a:lnSpc>
              <a:spcBef>
                <a:spcPts val="310"/>
              </a:spcBef>
            </a:pPr>
            <a:r>
              <a:rPr sz="1200" dirty="0">
                <a:latin typeface="Calibri"/>
                <a:cs typeface="Calibri"/>
              </a:rPr>
              <a:t>Real-time</a:t>
            </a:r>
            <a:r>
              <a:rPr sz="1200" spc="2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collaboration</a:t>
            </a:r>
            <a:r>
              <a:rPr sz="1200" spc="2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on</a:t>
            </a:r>
            <a:r>
              <a:rPr sz="1200" spc="2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coding</a:t>
            </a:r>
            <a:r>
              <a:rPr sz="1200" spc="2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projects</a:t>
            </a:r>
            <a:r>
              <a:rPr sz="1200" spc="2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using</a:t>
            </a:r>
            <a:r>
              <a:rPr sz="1200" spc="225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room </a:t>
            </a:r>
            <a:r>
              <a:rPr sz="1200" spc="-10" dirty="0">
                <a:latin typeface="Calibri"/>
                <a:cs typeface="Calibri"/>
              </a:rPr>
              <a:t>creation.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09"/>
              </a:spcBef>
            </a:pPr>
            <a:r>
              <a:rPr sz="1200" spc="60" dirty="0">
                <a:latin typeface="Calibri"/>
                <a:cs typeface="Calibri"/>
              </a:rPr>
              <a:t>Ability</a:t>
            </a:r>
            <a:r>
              <a:rPr sz="1200" spc="1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114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download</a:t>
            </a:r>
            <a:r>
              <a:rPr sz="1200" spc="114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files</a:t>
            </a:r>
            <a:r>
              <a:rPr sz="1200" spc="1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114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also</a:t>
            </a:r>
            <a:r>
              <a:rPr sz="1200" spc="114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upload</a:t>
            </a:r>
            <a:r>
              <a:rPr sz="1200" spc="1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files</a:t>
            </a:r>
            <a:r>
              <a:rPr sz="1200" spc="11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locally.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2374" y="1041857"/>
            <a:ext cx="69291" cy="6929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02374" y="1263281"/>
            <a:ext cx="69291" cy="6929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02374" y="1484693"/>
            <a:ext cx="69291" cy="6929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02374" y="1706118"/>
            <a:ext cx="69291" cy="69291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02374" y="2110994"/>
            <a:ext cx="69291" cy="69291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2374" y="2515882"/>
            <a:ext cx="69291" cy="69291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02374" y="2920758"/>
            <a:ext cx="69291" cy="69291"/>
          </a:xfrm>
          <a:prstGeom prst="rect">
            <a:avLst/>
          </a:prstGeom>
        </p:spPr>
      </p:pic>
      <p:grpSp>
        <p:nvGrpSpPr>
          <p:cNvPr id="12" name="object 12"/>
          <p:cNvGrpSpPr/>
          <p:nvPr/>
        </p:nvGrpSpPr>
        <p:grpSpPr>
          <a:xfrm>
            <a:off x="0" y="3349777"/>
            <a:ext cx="4608195" cy="106680"/>
            <a:chOff x="0" y="3349777"/>
            <a:chExt cx="4608195" cy="106680"/>
          </a:xfrm>
        </p:grpSpPr>
        <p:sp>
          <p:nvSpPr>
            <p:cNvPr id="13" name="object 13"/>
            <p:cNvSpPr/>
            <p:nvPr/>
          </p:nvSpPr>
          <p:spPr>
            <a:xfrm>
              <a:off x="0" y="3349777"/>
              <a:ext cx="1536065" cy="106680"/>
            </a:xfrm>
            <a:custGeom>
              <a:avLst/>
              <a:gdLst/>
              <a:ahLst/>
              <a:cxnLst/>
              <a:rect l="l" t="t" r="r" b="b"/>
              <a:pathLst>
                <a:path w="1536065" h="106679">
                  <a:moveTo>
                    <a:pt x="1535976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535976" y="10622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535976" y="3349777"/>
              <a:ext cx="1536065" cy="106680"/>
            </a:xfrm>
            <a:custGeom>
              <a:avLst/>
              <a:gdLst/>
              <a:ahLst/>
              <a:cxnLst/>
              <a:rect l="l" t="t" r="r" b="b"/>
              <a:pathLst>
                <a:path w="1536064" h="106679">
                  <a:moveTo>
                    <a:pt x="1535976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535976" y="10622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071952" y="3349777"/>
              <a:ext cx="1536065" cy="106680"/>
            </a:xfrm>
            <a:custGeom>
              <a:avLst/>
              <a:gdLst/>
              <a:ahLst/>
              <a:cxnLst/>
              <a:rect l="l" t="t" r="r" b="b"/>
              <a:pathLst>
                <a:path w="1536064" h="106679">
                  <a:moveTo>
                    <a:pt x="1535976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535976" y="10622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pc="110" dirty="0"/>
              <a:t>(CSIT(21-</a:t>
            </a:r>
            <a:r>
              <a:rPr spc="120" dirty="0"/>
              <a:t>25/CSIT/27)</a:t>
            </a:r>
            <a:r>
              <a:rPr spc="145" dirty="0"/>
              <a:t> </a:t>
            </a:r>
            <a:r>
              <a:rPr spc="45" dirty="0"/>
              <a:t>)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spc="60" dirty="0"/>
              <a:pPr marL="38100">
                <a:lnSpc>
                  <a:spcPts val="670"/>
                </a:lnSpc>
              </a:pPr>
              <a:t>5</a:t>
            </a:fld>
            <a:r>
              <a:rPr spc="-15" dirty="0"/>
              <a:t> </a:t>
            </a:r>
            <a:r>
              <a:rPr spc="125" dirty="0"/>
              <a:t>/</a:t>
            </a:r>
            <a:r>
              <a:rPr spc="-10" dirty="0"/>
              <a:t> </a:t>
            </a:r>
            <a:r>
              <a:rPr spc="35" dirty="0"/>
              <a:t>26</a:t>
            </a:r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181554"/>
            <a:ext cx="532765" cy="2882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25" dirty="0"/>
              <a:t>Scope</a:t>
            </a:r>
          </a:p>
        </p:txBody>
      </p:sp>
      <p:sp>
        <p:nvSpPr>
          <p:cNvPr id="3" name="object 3"/>
          <p:cNvSpPr/>
          <p:nvPr/>
        </p:nvSpPr>
        <p:spPr>
          <a:xfrm>
            <a:off x="97865" y="943368"/>
            <a:ext cx="4412615" cy="225425"/>
          </a:xfrm>
          <a:custGeom>
            <a:avLst/>
            <a:gdLst/>
            <a:ahLst/>
            <a:cxnLst/>
            <a:rect l="l" t="t" r="r" b="b"/>
            <a:pathLst>
              <a:path w="4412615" h="225425">
                <a:moveTo>
                  <a:pt x="436152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25360"/>
                </a:lnTo>
                <a:lnTo>
                  <a:pt x="4412325" y="225360"/>
                </a:lnTo>
                <a:lnTo>
                  <a:pt x="4412325" y="50800"/>
                </a:lnTo>
                <a:lnTo>
                  <a:pt x="4408317" y="31075"/>
                </a:lnTo>
                <a:lnTo>
                  <a:pt x="4397403" y="14922"/>
                </a:lnTo>
                <a:lnTo>
                  <a:pt x="4381250" y="4008"/>
                </a:lnTo>
                <a:lnTo>
                  <a:pt x="4361525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48666" y="971351"/>
            <a:ext cx="2420620" cy="182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55"/>
              </a:lnSpc>
            </a:pPr>
            <a:r>
              <a:rPr sz="1400" spc="10" dirty="0">
                <a:solidFill>
                  <a:srgbClr val="3333B2"/>
                </a:solidFill>
                <a:latin typeface="Calibri"/>
                <a:cs typeface="Calibri"/>
              </a:rPr>
              <a:t>Realtime</a:t>
            </a:r>
            <a:r>
              <a:rPr sz="1400" spc="100" dirty="0">
                <a:solidFill>
                  <a:srgbClr val="3333B2"/>
                </a:solidFill>
                <a:latin typeface="Calibri"/>
                <a:cs typeface="Calibri"/>
              </a:rPr>
              <a:t>  </a:t>
            </a:r>
            <a:r>
              <a:rPr sz="1400" spc="10" dirty="0">
                <a:solidFill>
                  <a:srgbClr val="3333B2"/>
                </a:solidFill>
                <a:latin typeface="Calibri"/>
                <a:cs typeface="Calibri"/>
              </a:rPr>
              <a:t>Collaborative</a:t>
            </a:r>
            <a:r>
              <a:rPr sz="1400" spc="100" dirty="0">
                <a:solidFill>
                  <a:srgbClr val="3333B2"/>
                </a:solidFill>
                <a:latin typeface="Calibri"/>
                <a:cs typeface="Calibri"/>
              </a:rPr>
              <a:t>  </a:t>
            </a:r>
            <a:r>
              <a:rPr sz="1400" spc="60" dirty="0">
                <a:solidFill>
                  <a:srgbClr val="3333B2"/>
                </a:solidFill>
                <a:latin typeface="Calibri"/>
                <a:cs typeface="Calibri"/>
              </a:rPr>
              <a:t>Coding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7865" y="1923897"/>
            <a:ext cx="4412615" cy="225425"/>
          </a:xfrm>
          <a:custGeom>
            <a:avLst/>
            <a:gdLst/>
            <a:ahLst/>
            <a:cxnLst/>
            <a:rect l="l" t="t" r="r" b="b"/>
            <a:pathLst>
              <a:path w="4412615" h="225425">
                <a:moveTo>
                  <a:pt x="436152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25360"/>
                </a:lnTo>
                <a:lnTo>
                  <a:pt x="4412325" y="225360"/>
                </a:lnTo>
                <a:lnTo>
                  <a:pt x="4412325" y="50800"/>
                </a:lnTo>
                <a:lnTo>
                  <a:pt x="4408317" y="31075"/>
                </a:lnTo>
                <a:lnTo>
                  <a:pt x="4397403" y="14922"/>
                </a:lnTo>
                <a:lnTo>
                  <a:pt x="4381250" y="4008"/>
                </a:lnTo>
                <a:lnTo>
                  <a:pt x="4361525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48666" y="1951880"/>
            <a:ext cx="1646555" cy="182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55"/>
              </a:lnSpc>
            </a:pPr>
            <a:r>
              <a:rPr sz="1400" spc="60" dirty="0">
                <a:solidFill>
                  <a:srgbClr val="3333B2"/>
                </a:solidFill>
                <a:latin typeface="Calibri"/>
                <a:cs typeface="Calibri"/>
              </a:rPr>
              <a:t>AI-</a:t>
            </a:r>
            <a:r>
              <a:rPr sz="1400" spc="70" dirty="0">
                <a:solidFill>
                  <a:srgbClr val="3333B2"/>
                </a:solidFill>
                <a:latin typeface="Calibri"/>
                <a:cs typeface="Calibri"/>
              </a:rPr>
              <a:t>Assisted</a:t>
            </a:r>
            <a:r>
              <a:rPr sz="1400" spc="160" dirty="0">
                <a:solidFill>
                  <a:srgbClr val="3333B2"/>
                </a:solidFill>
                <a:latin typeface="Calibri"/>
                <a:cs typeface="Calibri"/>
              </a:rPr>
              <a:t> </a:t>
            </a:r>
            <a:r>
              <a:rPr sz="1400" spc="45" dirty="0">
                <a:solidFill>
                  <a:srgbClr val="3333B2"/>
                </a:solidFill>
                <a:latin typeface="Calibri"/>
                <a:cs typeface="Calibri"/>
              </a:rPr>
              <a:t>Learning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71450" y="1166568"/>
            <a:ext cx="4389831" cy="15536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281940">
              <a:lnSpc>
                <a:spcPct val="100000"/>
              </a:lnSpc>
              <a:spcBef>
                <a:spcPts val="95"/>
              </a:spcBef>
            </a:pPr>
            <a:r>
              <a:rPr sz="1200" spc="85" dirty="0">
                <a:latin typeface="Calibri"/>
                <a:cs typeface="Calibri"/>
              </a:rPr>
              <a:t>It</a:t>
            </a:r>
            <a:r>
              <a:rPr sz="1200" spc="1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uses</a:t>
            </a:r>
            <a:r>
              <a:rPr sz="1200" spc="1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WebSockets</a:t>
            </a:r>
            <a:r>
              <a:rPr sz="1200" spc="1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1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provide</a:t>
            </a:r>
            <a:r>
              <a:rPr sz="1200" spc="1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</a:t>
            </a:r>
            <a:r>
              <a:rPr sz="1200" spc="1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platform</a:t>
            </a:r>
            <a:r>
              <a:rPr sz="1200" spc="1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ere</a:t>
            </a:r>
            <a:r>
              <a:rPr sz="1200" spc="1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multiple</a:t>
            </a:r>
            <a:r>
              <a:rPr sz="1200" spc="1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students </a:t>
            </a:r>
            <a:r>
              <a:rPr sz="1200" dirty="0">
                <a:latin typeface="Calibri"/>
                <a:cs typeface="Calibri"/>
              </a:rPr>
              <a:t>can</a:t>
            </a:r>
            <a:r>
              <a:rPr sz="1200" spc="1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create,</a:t>
            </a:r>
            <a:r>
              <a:rPr sz="1200" spc="15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practice</a:t>
            </a:r>
            <a:r>
              <a:rPr sz="1200" spc="1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15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even</a:t>
            </a:r>
            <a:r>
              <a:rPr sz="1200" spc="1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run</a:t>
            </a:r>
            <a:r>
              <a:rPr sz="1200" spc="15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code</a:t>
            </a:r>
            <a:r>
              <a:rPr sz="1200" spc="15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directly</a:t>
            </a:r>
            <a:r>
              <a:rPr sz="1200" spc="1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</a:t>
            </a:r>
            <a:r>
              <a:rPr sz="1200" spc="15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</a:t>
            </a:r>
            <a:r>
              <a:rPr sz="1200" spc="14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browser </a:t>
            </a:r>
            <a:r>
              <a:rPr sz="1200" dirty="0">
                <a:latin typeface="Calibri"/>
                <a:cs typeface="Calibri"/>
              </a:rPr>
              <a:t>window</a:t>
            </a:r>
            <a:r>
              <a:rPr sz="1200" spc="17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reachable</a:t>
            </a:r>
            <a:r>
              <a:rPr sz="1200" spc="18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through</a:t>
            </a:r>
            <a:r>
              <a:rPr sz="1200" spc="18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link,</a:t>
            </a:r>
            <a:r>
              <a:rPr sz="1200" spc="18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without</a:t>
            </a:r>
            <a:r>
              <a:rPr sz="1200" spc="18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any</a:t>
            </a:r>
            <a:r>
              <a:rPr sz="1200" spc="18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heavy</a:t>
            </a:r>
            <a:r>
              <a:rPr sz="1200" spc="18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installation.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70"/>
              </a:spcBef>
            </a:pPr>
            <a:endParaRPr sz="1200">
              <a:latin typeface="Calibri"/>
              <a:cs typeface="Calibri"/>
            </a:endParaRPr>
          </a:p>
          <a:p>
            <a:pPr marR="116205">
              <a:lnSpc>
                <a:spcPct val="100000"/>
              </a:lnSpc>
            </a:pPr>
            <a:r>
              <a:rPr sz="1200" spc="145" dirty="0">
                <a:latin typeface="Calibri"/>
                <a:cs typeface="Calibri"/>
              </a:rPr>
              <a:t>AI </a:t>
            </a:r>
            <a:r>
              <a:rPr sz="1200" dirty="0">
                <a:latin typeface="Calibri"/>
                <a:cs typeface="Calibri"/>
              </a:rPr>
              <a:t>chatbot</a:t>
            </a:r>
            <a:r>
              <a:rPr sz="1200" spc="16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has</a:t>
            </a:r>
            <a:r>
              <a:rPr sz="1200" spc="15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been</a:t>
            </a:r>
            <a:r>
              <a:rPr sz="1200" spc="15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integrated</a:t>
            </a:r>
            <a:r>
              <a:rPr sz="1200" spc="15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which</a:t>
            </a:r>
            <a:r>
              <a:rPr sz="1200" spc="15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have</a:t>
            </a:r>
            <a:r>
              <a:rPr sz="1200" spc="15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15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capability</a:t>
            </a:r>
            <a:r>
              <a:rPr sz="1200" spc="15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15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solve </a:t>
            </a:r>
            <a:r>
              <a:rPr sz="1200" dirty="0">
                <a:latin typeface="Calibri"/>
                <a:cs typeface="Calibri"/>
              </a:rPr>
              <a:t>any</a:t>
            </a:r>
            <a:r>
              <a:rPr sz="1200" spc="1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query</a:t>
            </a:r>
            <a:r>
              <a:rPr sz="1200" spc="1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of</a:t>
            </a:r>
            <a:r>
              <a:rPr sz="1200" spc="15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students</a:t>
            </a:r>
            <a:r>
              <a:rPr sz="1200" spc="1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15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also</a:t>
            </a:r>
            <a:r>
              <a:rPr sz="1200" spc="1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guide</a:t>
            </a:r>
            <a:r>
              <a:rPr sz="1200" spc="15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them</a:t>
            </a:r>
            <a:r>
              <a:rPr sz="1200" spc="1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with</a:t>
            </a:r>
            <a:r>
              <a:rPr sz="1200" spc="1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hints</a:t>
            </a:r>
            <a:r>
              <a:rPr sz="1200" spc="150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and </a:t>
            </a:r>
            <a:r>
              <a:rPr sz="1200" dirty="0">
                <a:latin typeface="Calibri"/>
                <a:cs typeface="Calibri"/>
              </a:rPr>
              <a:t>explanations,</a:t>
            </a:r>
            <a:r>
              <a:rPr sz="1200" spc="2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thus,</a:t>
            </a:r>
            <a:r>
              <a:rPr sz="1200" spc="2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making</a:t>
            </a:r>
            <a:r>
              <a:rPr sz="1200" spc="2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programming</a:t>
            </a:r>
            <a:r>
              <a:rPr sz="1200" spc="2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more</a:t>
            </a:r>
            <a:r>
              <a:rPr sz="1200" spc="21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interactive.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0" y="3349777"/>
            <a:ext cx="4608195" cy="106680"/>
            <a:chOff x="0" y="3349777"/>
            <a:chExt cx="4608195" cy="106680"/>
          </a:xfrm>
        </p:grpSpPr>
        <p:sp>
          <p:nvSpPr>
            <p:cNvPr id="17" name="object 17"/>
            <p:cNvSpPr/>
            <p:nvPr/>
          </p:nvSpPr>
          <p:spPr>
            <a:xfrm>
              <a:off x="0" y="3349777"/>
              <a:ext cx="1536065" cy="106680"/>
            </a:xfrm>
            <a:custGeom>
              <a:avLst/>
              <a:gdLst/>
              <a:ahLst/>
              <a:cxnLst/>
              <a:rect l="l" t="t" r="r" b="b"/>
              <a:pathLst>
                <a:path w="1536065" h="106679">
                  <a:moveTo>
                    <a:pt x="1535976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535976" y="10622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535976" y="3349777"/>
              <a:ext cx="1536065" cy="106680"/>
            </a:xfrm>
            <a:custGeom>
              <a:avLst/>
              <a:gdLst/>
              <a:ahLst/>
              <a:cxnLst/>
              <a:rect l="l" t="t" r="r" b="b"/>
              <a:pathLst>
                <a:path w="1536064" h="106679">
                  <a:moveTo>
                    <a:pt x="1535976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535976" y="10622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071952" y="3349777"/>
              <a:ext cx="1536065" cy="106680"/>
            </a:xfrm>
            <a:custGeom>
              <a:avLst/>
              <a:gdLst/>
              <a:ahLst/>
              <a:cxnLst/>
              <a:rect l="l" t="t" r="r" b="b"/>
              <a:pathLst>
                <a:path w="1536064" h="106679">
                  <a:moveTo>
                    <a:pt x="1535976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535976" y="10622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pc="110" dirty="0"/>
              <a:t>(CSIT(21-</a:t>
            </a:r>
            <a:r>
              <a:rPr spc="120" dirty="0"/>
              <a:t>25/CSIT/27)</a:t>
            </a:r>
            <a:r>
              <a:rPr spc="145" dirty="0"/>
              <a:t> </a:t>
            </a:r>
            <a:r>
              <a:rPr spc="45" dirty="0"/>
              <a:t>)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spc="60" dirty="0"/>
              <a:pPr marL="38100">
                <a:lnSpc>
                  <a:spcPts val="670"/>
                </a:lnSpc>
              </a:pPr>
              <a:t>6</a:t>
            </a:fld>
            <a:r>
              <a:rPr spc="-15" dirty="0"/>
              <a:t> </a:t>
            </a:r>
            <a:r>
              <a:rPr spc="125" dirty="0"/>
              <a:t>/</a:t>
            </a:r>
            <a:r>
              <a:rPr spc="-10" dirty="0"/>
              <a:t> </a:t>
            </a:r>
            <a:r>
              <a:rPr spc="35" dirty="0"/>
              <a:t>26</a:t>
            </a:r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Scope</a:t>
            </a:r>
            <a:r>
              <a:rPr spc="-40" dirty="0"/>
              <a:t> </a:t>
            </a:r>
            <a:r>
              <a:rPr spc="-10" dirty="0"/>
              <a:t>(contd...)</a:t>
            </a:r>
          </a:p>
        </p:txBody>
      </p:sp>
      <p:sp>
        <p:nvSpPr>
          <p:cNvPr id="3" name="object 3"/>
          <p:cNvSpPr/>
          <p:nvPr/>
        </p:nvSpPr>
        <p:spPr>
          <a:xfrm>
            <a:off x="97865" y="589178"/>
            <a:ext cx="4412615" cy="208915"/>
          </a:xfrm>
          <a:custGeom>
            <a:avLst/>
            <a:gdLst/>
            <a:ahLst/>
            <a:cxnLst/>
            <a:rect l="l" t="t" r="r" b="b"/>
            <a:pathLst>
              <a:path w="4412615" h="208915">
                <a:moveTo>
                  <a:pt x="436152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08911"/>
                </a:lnTo>
                <a:lnTo>
                  <a:pt x="4412325" y="208911"/>
                </a:lnTo>
                <a:lnTo>
                  <a:pt x="4412325" y="50800"/>
                </a:lnTo>
                <a:lnTo>
                  <a:pt x="4408317" y="31075"/>
                </a:lnTo>
                <a:lnTo>
                  <a:pt x="4397403" y="14922"/>
                </a:lnTo>
                <a:lnTo>
                  <a:pt x="4381250" y="4008"/>
                </a:lnTo>
                <a:lnTo>
                  <a:pt x="4361525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48666" y="617161"/>
            <a:ext cx="2429510" cy="182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55"/>
              </a:lnSpc>
            </a:pPr>
            <a:r>
              <a:rPr sz="1400" dirty="0">
                <a:solidFill>
                  <a:srgbClr val="3333B2"/>
                </a:solidFill>
                <a:latin typeface="Calibri"/>
                <a:cs typeface="Calibri"/>
              </a:rPr>
              <a:t>Teacher–Student</a:t>
            </a:r>
            <a:r>
              <a:rPr sz="1400" spc="130" dirty="0">
                <a:solidFill>
                  <a:srgbClr val="3333B2"/>
                </a:solidFill>
                <a:latin typeface="Calibri"/>
                <a:cs typeface="Calibri"/>
              </a:rPr>
              <a:t>  </a:t>
            </a:r>
            <a:r>
              <a:rPr sz="1400" spc="-10" dirty="0">
                <a:solidFill>
                  <a:srgbClr val="3333B2"/>
                </a:solidFill>
                <a:latin typeface="Calibri"/>
                <a:cs typeface="Calibri"/>
              </a:rPr>
              <a:t>Collaboration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7865" y="1517967"/>
            <a:ext cx="4412615" cy="225425"/>
          </a:xfrm>
          <a:custGeom>
            <a:avLst/>
            <a:gdLst/>
            <a:ahLst/>
            <a:cxnLst/>
            <a:rect l="l" t="t" r="r" b="b"/>
            <a:pathLst>
              <a:path w="4412615" h="225425">
                <a:moveTo>
                  <a:pt x="436152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25360"/>
                </a:lnTo>
                <a:lnTo>
                  <a:pt x="4412325" y="225360"/>
                </a:lnTo>
                <a:lnTo>
                  <a:pt x="4412325" y="50800"/>
                </a:lnTo>
                <a:lnTo>
                  <a:pt x="4408317" y="31075"/>
                </a:lnTo>
                <a:lnTo>
                  <a:pt x="4397403" y="14922"/>
                </a:lnTo>
                <a:lnTo>
                  <a:pt x="4381250" y="4008"/>
                </a:lnTo>
                <a:lnTo>
                  <a:pt x="4361525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48666" y="1545950"/>
            <a:ext cx="2404110" cy="182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55"/>
              </a:lnSpc>
            </a:pPr>
            <a:r>
              <a:rPr sz="1400" spc="50" dirty="0">
                <a:solidFill>
                  <a:srgbClr val="3333B2"/>
                </a:solidFill>
                <a:latin typeface="Calibri"/>
                <a:cs typeface="Calibri"/>
              </a:rPr>
              <a:t>Holistic</a:t>
            </a:r>
            <a:r>
              <a:rPr sz="1400" spc="160" dirty="0">
                <a:solidFill>
                  <a:srgbClr val="3333B2"/>
                </a:solidFill>
                <a:latin typeface="Calibri"/>
                <a:cs typeface="Calibri"/>
              </a:rPr>
              <a:t> </a:t>
            </a:r>
            <a:r>
              <a:rPr sz="1400" spc="55" dirty="0">
                <a:solidFill>
                  <a:srgbClr val="3333B2"/>
                </a:solidFill>
                <a:latin typeface="Calibri"/>
                <a:cs typeface="Calibri"/>
              </a:rPr>
              <a:t>Learning</a:t>
            </a:r>
            <a:r>
              <a:rPr sz="1400" spc="160" dirty="0">
                <a:solidFill>
                  <a:srgbClr val="3333B2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33B2"/>
                </a:solidFill>
                <a:latin typeface="Calibri"/>
                <a:cs typeface="Calibri"/>
              </a:rPr>
              <a:t>Environment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97865" y="2617152"/>
            <a:ext cx="4412615" cy="223520"/>
          </a:xfrm>
          <a:custGeom>
            <a:avLst/>
            <a:gdLst/>
            <a:ahLst/>
            <a:cxnLst/>
            <a:rect l="l" t="t" r="r" b="b"/>
            <a:pathLst>
              <a:path w="4412615" h="223519">
                <a:moveTo>
                  <a:pt x="436152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23335"/>
                </a:lnTo>
                <a:lnTo>
                  <a:pt x="4412325" y="223335"/>
                </a:lnTo>
                <a:lnTo>
                  <a:pt x="4412325" y="50800"/>
                </a:lnTo>
                <a:lnTo>
                  <a:pt x="4408317" y="31075"/>
                </a:lnTo>
                <a:lnTo>
                  <a:pt x="4397403" y="14922"/>
                </a:lnTo>
                <a:lnTo>
                  <a:pt x="4381250" y="4008"/>
                </a:lnTo>
                <a:lnTo>
                  <a:pt x="4361525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48666" y="2643103"/>
            <a:ext cx="1513205" cy="182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55"/>
              </a:lnSpc>
            </a:pPr>
            <a:r>
              <a:rPr sz="1400" spc="55" dirty="0">
                <a:solidFill>
                  <a:srgbClr val="3333B2"/>
                </a:solidFill>
                <a:latin typeface="Calibri"/>
                <a:cs typeface="Calibri"/>
              </a:rPr>
              <a:t>Learning</a:t>
            </a:r>
            <a:r>
              <a:rPr sz="1400" spc="150" dirty="0">
                <a:solidFill>
                  <a:srgbClr val="3333B2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33B2"/>
                </a:solidFill>
                <a:latin typeface="Calibri"/>
                <a:cs typeface="Calibri"/>
              </a:rPr>
              <a:t>Resources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7865" y="815975"/>
            <a:ext cx="4416985" cy="243335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 marR="541020" algn="just">
              <a:lnSpc>
                <a:spcPct val="100000"/>
              </a:lnSpc>
              <a:spcBef>
                <a:spcPts val="95"/>
              </a:spcBef>
            </a:pPr>
            <a:r>
              <a:rPr sz="1200" spc="85" dirty="0">
                <a:latin typeface="Calibri"/>
                <a:cs typeface="Calibri"/>
              </a:rPr>
              <a:t>It</a:t>
            </a:r>
            <a:r>
              <a:rPr sz="1200" spc="1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will</a:t>
            </a:r>
            <a:r>
              <a:rPr sz="1200" spc="1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allow</a:t>
            </a:r>
            <a:r>
              <a:rPr sz="1200" spc="1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teachers</a:t>
            </a:r>
            <a:r>
              <a:rPr sz="1200" spc="1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1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take</a:t>
            </a:r>
            <a:r>
              <a:rPr sz="1200" spc="1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coding</a:t>
            </a:r>
            <a:r>
              <a:rPr sz="1200" spc="1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classes</a:t>
            </a:r>
            <a:r>
              <a:rPr sz="1200" spc="1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online</a:t>
            </a:r>
            <a:r>
              <a:rPr sz="1200" spc="1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</a:t>
            </a:r>
            <a:r>
              <a:rPr sz="1200" spc="1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</a:t>
            </a:r>
            <a:r>
              <a:rPr sz="1200" spc="125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very </a:t>
            </a:r>
            <a:r>
              <a:rPr sz="1200" dirty="0">
                <a:latin typeface="Calibri"/>
                <a:cs typeface="Calibri"/>
              </a:rPr>
              <a:t>interactive</a:t>
            </a:r>
            <a:r>
              <a:rPr sz="1200" spc="1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way</a:t>
            </a:r>
            <a:r>
              <a:rPr sz="1200" spc="1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1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also</a:t>
            </a:r>
            <a:r>
              <a:rPr sz="1200" spc="114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provides</a:t>
            </a:r>
            <a:r>
              <a:rPr sz="1200" spc="1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workspace</a:t>
            </a:r>
            <a:r>
              <a:rPr sz="1200" spc="114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114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teachers</a:t>
            </a:r>
            <a:r>
              <a:rPr sz="1200" spc="114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for </a:t>
            </a:r>
            <a:r>
              <a:rPr sz="1200" dirty="0">
                <a:latin typeface="Calibri"/>
                <a:cs typeface="Calibri"/>
              </a:rPr>
              <a:t>concept</a:t>
            </a:r>
            <a:r>
              <a:rPr sz="1200" spc="7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explanation.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90"/>
              </a:spcBef>
            </a:pPr>
            <a:endParaRPr sz="1200">
              <a:latin typeface="Calibri"/>
              <a:cs typeface="Calibri"/>
            </a:endParaRPr>
          </a:p>
          <a:p>
            <a:pPr marL="50800" marR="240665">
              <a:lnSpc>
                <a:spcPct val="100000"/>
              </a:lnSpc>
            </a:pPr>
            <a:r>
              <a:rPr sz="1200" spc="85" dirty="0">
                <a:latin typeface="Calibri"/>
                <a:cs typeface="Calibri"/>
              </a:rPr>
              <a:t>It</a:t>
            </a:r>
            <a:r>
              <a:rPr sz="1200" spc="17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has</a:t>
            </a:r>
            <a:r>
              <a:rPr sz="1200" spc="17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17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capability</a:t>
            </a:r>
            <a:r>
              <a:rPr sz="1200" spc="17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17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go</a:t>
            </a:r>
            <a:r>
              <a:rPr sz="1200" spc="18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beyond</a:t>
            </a:r>
            <a:r>
              <a:rPr sz="1200" spc="17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coding</a:t>
            </a:r>
            <a:r>
              <a:rPr sz="1200" spc="17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by</a:t>
            </a:r>
            <a:r>
              <a:rPr sz="1200" spc="18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providing</a:t>
            </a:r>
            <a:r>
              <a:rPr sz="1200" spc="18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features </a:t>
            </a:r>
            <a:r>
              <a:rPr sz="1200" dirty="0">
                <a:latin typeface="Calibri"/>
                <a:cs typeface="Calibri"/>
              </a:rPr>
              <a:t>like</a:t>
            </a:r>
            <a:r>
              <a:rPr sz="1200" spc="17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text/voice</a:t>
            </a:r>
            <a:r>
              <a:rPr sz="1200" spc="17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chat,</a:t>
            </a:r>
            <a:r>
              <a:rPr sz="1200" spc="17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screen-</a:t>
            </a:r>
            <a:r>
              <a:rPr sz="1200" dirty="0">
                <a:latin typeface="Calibri"/>
                <a:cs typeface="Calibri"/>
              </a:rPr>
              <a:t>time</a:t>
            </a:r>
            <a:r>
              <a:rPr sz="1200" spc="17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management,</a:t>
            </a:r>
            <a:r>
              <a:rPr sz="1200" spc="17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18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collaborative </a:t>
            </a:r>
            <a:r>
              <a:rPr sz="1200" dirty="0">
                <a:latin typeface="Calibri"/>
                <a:cs typeface="Calibri"/>
              </a:rPr>
              <a:t>project-building</a:t>
            </a:r>
            <a:r>
              <a:rPr sz="1200" spc="1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which</a:t>
            </a:r>
            <a:r>
              <a:rPr sz="1200" spc="1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makes</a:t>
            </a:r>
            <a:r>
              <a:rPr sz="1200" spc="135" dirty="0">
                <a:latin typeface="Calibri"/>
                <a:cs typeface="Calibri"/>
              </a:rPr>
              <a:t> </a:t>
            </a:r>
            <a:r>
              <a:rPr sz="1200" spc="50" dirty="0">
                <a:latin typeface="Calibri"/>
                <a:cs typeface="Calibri"/>
              </a:rPr>
              <a:t>it</a:t>
            </a:r>
            <a:r>
              <a:rPr sz="1200" spc="1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complete</a:t>
            </a:r>
            <a:r>
              <a:rPr sz="1200" spc="1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ecosystem</a:t>
            </a:r>
            <a:r>
              <a:rPr sz="1200" spc="1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for</a:t>
            </a:r>
            <a:r>
              <a:rPr sz="1200" spc="13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coding education.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15"/>
              </a:spcBef>
            </a:pPr>
            <a:endParaRPr sz="1200">
              <a:latin typeface="Calibri"/>
              <a:cs typeface="Calibri"/>
            </a:endParaRPr>
          </a:p>
          <a:p>
            <a:pPr marL="50800" marR="398780">
              <a:lnSpc>
                <a:spcPct val="100000"/>
              </a:lnSpc>
            </a:pPr>
            <a:r>
              <a:rPr sz="1200" dirty="0">
                <a:latin typeface="Calibri"/>
                <a:cs typeface="Calibri"/>
              </a:rPr>
              <a:t>Students</a:t>
            </a:r>
            <a:r>
              <a:rPr sz="1200" spc="1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can</a:t>
            </a:r>
            <a:r>
              <a:rPr sz="1200" spc="1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demand</a:t>
            </a:r>
            <a:r>
              <a:rPr sz="1200" spc="1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specific</a:t>
            </a:r>
            <a:r>
              <a:rPr sz="1200" spc="1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video</a:t>
            </a:r>
            <a:r>
              <a:rPr sz="1200" spc="1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lessons</a:t>
            </a:r>
            <a:r>
              <a:rPr sz="1200" spc="1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according</a:t>
            </a:r>
            <a:r>
              <a:rPr sz="1200" spc="1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13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their needs</a:t>
            </a:r>
            <a:r>
              <a:rPr sz="1200" spc="1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which</a:t>
            </a:r>
            <a:r>
              <a:rPr sz="1200" spc="1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will</a:t>
            </a:r>
            <a:r>
              <a:rPr sz="1200" spc="1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be</a:t>
            </a:r>
            <a:r>
              <a:rPr sz="1200" spc="1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published</a:t>
            </a:r>
            <a:r>
              <a:rPr sz="1200" spc="1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on</a:t>
            </a:r>
            <a:r>
              <a:rPr sz="1200" spc="1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1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platform</a:t>
            </a:r>
            <a:r>
              <a:rPr sz="1200" spc="13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regularly.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0" y="3349777"/>
            <a:ext cx="4608195" cy="106680"/>
            <a:chOff x="0" y="3349777"/>
            <a:chExt cx="4608195" cy="106680"/>
          </a:xfrm>
        </p:grpSpPr>
        <p:sp>
          <p:nvSpPr>
            <p:cNvPr id="23" name="object 23"/>
            <p:cNvSpPr/>
            <p:nvPr/>
          </p:nvSpPr>
          <p:spPr>
            <a:xfrm>
              <a:off x="0" y="3349777"/>
              <a:ext cx="1536065" cy="106680"/>
            </a:xfrm>
            <a:custGeom>
              <a:avLst/>
              <a:gdLst/>
              <a:ahLst/>
              <a:cxnLst/>
              <a:rect l="l" t="t" r="r" b="b"/>
              <a:pathLst>
                <a:path w="1536065" h="106679">
                  <a:moveTo>
                    <a:pt x="1535976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535976" y="10622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535976" y="3349777"/>
              <a:ext cx="1536065" cy="106680"/>
            </a:xfrm>
            <a:custGeom>
              <a:avLst/>
              <a:gdLst/>
              <a:ahLst/>
              <a:cxnLst/>
              <a:rect l="l" t="t" r="r" b="b"/>
              <a:pathLst>
                <a:path w="1536064" h="106679">
                  <a:moveTo>
                    <a:pt x="1535976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535976" y="10622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071952" y="3349777"/>
              <a:ext cx="1536065" cy="106680"/>
            </a:xfrm>
            <a:custGeom>
              <a:avLst/>
              <a:gdLst/>
              <a:ahLst/>
              <a:cxnLst/>
              <a:rect l="l" t="t" r="r" b="b"/>
              <a:pathLst>
                <a:path w="1536064" h="106679">
                  <a:moveTo>
                    <a:pt x="1535976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535976" y="10622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pc="110" dirty="0"/>
              <a:t>(CSIT(21-</a:t>
            </a:r>
            <a:r>
              <a:rPr spc="120" dirty="0"/>
              <a:t>25/CSIT/27)</a:t>
            </a:r>
            <a:r>
              <a:rPr spc="145" dirty="0"/>
              <a:t> </a:t>
            </a:r>
            <a:r>
              <a:rPr spc="45" dirty="0"/>
              <a:t>)</a:t>
            </a:r>
          </a:p>
        </p:txBody>
      </p:sp>
      <p:sp>
        <p:nvSpPr>
          <p:cNvPr id="27" name="object 2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spc="60" dirty="0"/>
              <a:pPr marL="38100">
                <a:lnSpc>
                  <a:spcPts val="670"/>
                </a:lnSpc>
              </a:pPr>
              <a:t>7</a:t>
            </a:fld>
            <a:r>
              <a:rPr spc="-15" dirty="0"/>
              <a:t> </a:t>
            </a:r>
            <a:r>
              <a:rPr spc="125" dirty="0"/>
              <a:t>/</a:t>
            </a:r>
            <a:r>
              <a:rPr spc="-10" dirty="0"/>
              <a:t> </a:t>
            </a:r>
            <a:r>
              <a:rPr spc="35" dirty="0"/>
              <a:t>26</a:t>
            </a:r>
          </a:p>
        </p:txBody>
      </p: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10" dirty="0"/>
              <a:t>Objective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2374" y="896353"/>
            <a:ext cx="69291" cy="6929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33298" y="803640"/>
            <a:ext cx="4017645" cy="21183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71120">
              <a:lnSpc>
                <a:spcPct val="100000"/>
              </a:lnSpc>
              <a:spcBef>
                <a:spcPts val="95"/>
              </a:spcBef>
            </a:pPr>
            <a:r>
              <a:rPr sz="1200" b="1" spc="95" dirty="0">
                <a:latin typeface="Calibri"/>
                <a:cs typeface="Calibri"/>
              </a:rPr>
              <a:t>Provide</a:t>
            </a:r>
            <a:r>
              <a:rPr sz="1200" b="1" spc="190" dirty="0">
                <a:latin typeface="Calibri"/>
                <a:cs typeface="Calibri"/>
              </a:rPr>
              <a:t> </a:t>
            </a:r>
            <a:r>
              <a:rPr sz="1200" b="1" spc="110" dirty="0">
                <a:latin typeface="Calibri"/>
                <a:cs typeface="Calibri"/>
              </a:rPr>
              <a:t>Real-</a:t>
            </a:r>
            <a:r>
              <a:rPr sz="1200" b="1" spc="95" dirty="0">
                <a:latin typeface="Calibri"/>
                <a:cs typeface="Calibri"/>
              </a:rPr>
              <a:t>World</a:t>
            </a:r>
            <a:r>
              <a:rPr sz="1200" b="1" spc="195" dirty="0">
                <a:latin typeface="Calibri"/>
                <a:cs typeface="Calibri"/>
              </a:rPr>
              <a:t> </a:t>
            </a:r>
            <a:r>
              <a:rPr sz="1200" b="1" spc="120" dirty="0">
                <a:latin typeface="Calibri"/>
                <a:cs typeface="Calibri"/>
              </a:rPr>
              <a:t>Coding</a:t>
            </a:r>
            <a:r>
              <a:rPr sz="1200" b="1" spc="195" dirty="0">
                <a:latin typeface="Calibri"/>
                <a:cs typeface="Calibri"/>
              </a:rPr>
              <a:t> </a:t>
            </a:r>
            <a:r>
              <a:rPr sz="1200" b="1" spc="100" dirty="0">
                <a:latin typeface="Calibri"/>
                <a:cs typeface="Calibri"/>
              </a:rPr>
              <a:t>Exposure:</a:t>
            </a:r>
            <a:r>
              <a:rPr sz="1200" b="1" spc="265" dirty="0">
                <a:latin typeface="Calibri"/>
                <a:cs typeface="Calibri"/>
              </a:rPr>
              <a:t> </a:t>
            </a:r>
            <a:r>
              <a:rPr sz="1200" spc="65" dirty="0">
                <a:latin typeface="Calibri"/>
                <a:cs typeface="Calibri"/>
              </a:rPr>
              <a:t>The</a:t>
            </a:r>
            <a:r>
              <a:rPr sz="1200" spc="130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main </a:t>
            </a:r>
            <a:r>
              <a:rPr sz="1200" dirty="0">
                <a:latin typeface="Calibri"/>
                <a:cs typeface="Calibri"/>
              </a:rPr>
              <a:t>objective</a:t>
            </a:r>
            <a:r>
              <a:rPr sz="1200" spc="1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is</a:t>
            </a:r>
            <a:r>
              <a:rPr sz="1200" spc="1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1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provide</a:t>
            </a:r>
            <a:r>
              <a:rPr sz="1200" spc="1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</a:t>
            </a:r>
            <a:r>
              <a:rPr sz="1200" spc="1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coding</a:t>
            </a:r>
            <a:r>
              <a:rPr sz="1200" spc="1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environment</a:t>
            </a:r>
            <a:r>
              <a:rPr sz="1200" spc="1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1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14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students </a:t>
            </a:r>
            <a:r>
              <a:rPr sz="1200" dirty="0">
                <a:latin typeface="Calibri"/>
                <a:cs typeface="Calibri"/>
              </a:rPr>
              <a:t>without</a:t>
            </a:r>
            <a:r>
              <a:rPr sz="1200" spc="19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any</a:t>
            </a:r>
            <a:r>
              <a:rPr sz="1200" spc="20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heavy</a:t>
            </a:r>
            <a:r>
              <a:rPr sz="1200" spc="20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installation</a:t>
            </a:r>
            <a:r>
              <a:rPr sz="1200" spc="204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so</a:t>
            </a:r>
            <a:r>
              <a:rPr sz="1200" spc="20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that</a:t>
            </a:r>
            <a:r>
              <a:rPr sz="1200" spc="20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they</a:t>
            </a:r>
            <a:r>
              <a:rPr sz="1200" spc="204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can</a:t>
            </a:r>
            <a:r>
              <a:rPr sz="1200" spc="20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practice</a:t>
            </a:r>
            <a:r>
              <a:rPr sz="1200" spc="200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in </a:t>
            </a:r>
            <a:r>
              <a:rPr sz="1200" dirty="0">
                <a:latin typeface="Calibri"/>
                <a:cs typeface="Calibri"/>
              </a:rPr>
              <a:t>their</a:t>
            </a:r>
            <a:r>
              <a:rPr sz="1200" spc="1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school</a:t>
            </a:r>
            <a:r>
              <a:rPr sz="1200" spc="1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labs</a:t>
            </a:r>
            <a:r>
              <a:rPr sz="1200" spc="1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1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even</a:t>
            </a:r>
            <a:r>
              <a:rPr sz="1200" spc="1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at</a:t>
            </a:r>
            <a:r>
              <a:rPr sz="1200" spc="1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home</a:t>
            </a:r>
            <a:r>
              <a:rPr sz="1200" spc="1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during</a:t>
            </a:r>
            <a:r>
              <a:rPr sz="1200" spc="1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holidays.</a:t>
            </a:r>
            <a:endParaRPr sz="12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315"/>
              </a:spcBef>
            </a:pPr>
            <a:r>
              <a:rPr sz="1200" b="1" spc="95" dirty="0">
                <a:latin typeface="Calibri"/>
                <a:cs typeface="Calibri"/>
              </a:rPr>
              <a:t>Promote</a:t>
            </a:r>
            <a:r>
              <a:rPr sz="1200" b="1" spc="170" dirty="0">
                <a:latin typeface="Calibri"/>
                <a:cs typeface="Calibri"/>
              </a:rPr>
              <a:t> </a:t>
            </a:r>
            <a:r>
              <a:rPr sz="1200" b="1" spc="90" dirty="0">
                <a:latin typeface="Calibri"/>
                <a:cs typeface="Calibri"/>
              </a:rPr>
              <a:t>Collaborative</a:t>
            </a:r>
            <a:r>
              <a:rPr sz="1200" b="1" spc="170" dirty="0">
                <a:latin typeface="Calibri"/>
                <a:cs typeface="Calibri"/>
              </a:rPr>
              <a:t> </a:t>
            </a:r>
            <a:r>
              <a:rPr sz="1200" b="1" spc="95" dirty="0">
                <a:latin typeface="Calibri"/>
                <a:cs typeface="Calibri"/>
              </a:rPr>
              <a:t>Learning:</a:t>
            </a:r>
            <a:r>
              <a:rPr sz="1200" b="1" spc="240" dirty="0">
                <a:latin typeface="Calibri"/>
                <a:cs typeface="Calibri"/>
              </a:rPr>
              <a:t> </a:t>
            </a:r>
            <a:r>
              <a:rPr sz="1200" spc="85" dirty="0">
                <a:latin typeface="Calibri"/>
                <a:cs typeface="Calibri"/>
              </a:rPr>
              <a:t>It</a:t>
            </a:r>
            <a:r>
              <a:rPr sz="1200" spc="1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have</a:t>
            </a:r>
            <a:r>
              <a:rPr sz="1200" spc="10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features</a:t>
            </a:r>
            <a:r>
              <a:rPr sz="1200" spc="110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to </a:t>
            </a:r>
            <a:r>
              <a:rPr sz="1200" dirty="0">
                <a:latin typeface="Calibri"/>
                <a:cs typeface="Calibri"/>
              </a:rPr>
              <a:t>enable</a:t>
            </a:r>
            <a:r>
              <a:rPr sz="1200" spc="15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collaborative</a:t>
            </a:r>
            <a:r>
              <a:rPr sz="1200" spc="16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coding</a:t>
            </a:r>
            <a:r>
              <a:rPr sz="1200" spc="16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thus</a:t>
            </a:r>
            <a:r>
              <a:rPr sz="1200" spc="16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helping</a:t>
            </a:r>
            <a:r>
              <a:rPr sz="1200" spc="16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students</a:t>
            </a:r>
            <a:r>
              <a:rPr sz="1200" spc="15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165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work </a:t>
            </a:r>
            <a:r>
              <a:rPr sz="1200" dirty="0">
                <a:latin typeface="Calibri"/>
                <a:cs typeface="Calibri"/>
              </a:rPr>
              <a:t>together</a:t>
            </a:r>
            <a:r>
              <a:rPr sz="1200" spc="1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on</a:t>
            </a:r>
            <a:r>
              <a:rPr sz="1200" spc="15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any</a:t>
            </a:r>
            <a:r>
              <a:rPr sz="1200" spc="1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project</a:t>
            </a:r>
            <a:r>
              <a:rPr sz="1200" spc="1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which</a:t>
            </a:r>
            <a:r>
              <a:rPr sz="1200" spc="1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</a:t>
            </a:r>
            <a:r>
              <a:rPr sz="1200" spc="1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turn</a:t>
            </a:r>
            <a:r>
              <a:rPr sz="1200" spc="1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improves</a:t>
            </a:r>
            <a:r>
              <a:rPr sz="1200" spc="1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their</a:t>
            </a:r>
            <a:r>
              <a:rPr sz="1200" spc="14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sense</a:t>
            </a:r>
            <a:r>
              <a:rPr sz="1200" spc="140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of </a:t>
            </a:r>
            <a:r>
              <a:rPr sz="1200" dirty="0">
                <a:latin typeface="Calibri"/>
                <a:cs typeface="Calibri"/>
              </a:rPr>
              <a:t>teamwork</a:t>
            </a:r>
            <a:r>
              <a:rPr sz="1200" spc="1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1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problem</a:t>
            </a:r>
            <a:r>
              <a:rPr sz="1200" spc="1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solving</a:t>
            </a:r>
            <a:r>
              <a:rPr sz="1200" spc="15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skills.</a:t>
            </a:r>
            <a:endParaRPr sz="1200">
              <a:latin typeface="Calibri"/>
              <a:cs typeface="Calibri"/>
            </a:endParaRPr>
          </a:p>
          <a:p>
            <a:pPr marL="12700" marR="313055" algn="just">
              <a:lnSpc>
                <a:spcPct val="100000"/>
              </a:lnSpc>
              <a:spcBef>
                <a:spcPts val="320"/>
              </a:spcBef>
            </a:pPr>
            <a:r>
              <a:rPr sz="1200" b="1" spc="105" dirty="0">
                <a:latin typeface="Calibri"/>
                <a:cs typeface="Calibri"/>
              </a:rPr>
              <a:t>Support</a:t>
            </a:r>
            <a:r>
              <a:rPr sz="1200" b="1" spc="170" dirty="0">
                <a:latin typeface="Calibri"/>
                <a:cs typeface="Calibri"/>
              </a:rPr>
              <a:t> </a:t>
            </a:r>
            <a:r>
              <a:rPr sz="1200" b="1" spc="70" dirty="0">
                <a:latin typeface="Calibri"/>
                <a:cs typeface="Calibri"/>
              </a:rPr>
              <a:t>Teachers:</a:t>
            </a:r>
            <a:r>
              <a:rPr sz="1200" b="1" spc="240" dirty="0">
                <a:latin typeface="Calibri"/>
                <a:cs typeface="Calibri"/>
              </a:rPr>
              <a:t> </a:t>
            </a:r>
            <a:r>
              <a:rPr sz="1200" spc="85" dirty="0">
                <a:latin typeface="Calibri"/>
                <a:cs typeface="Calibri"/>
              </a:rPr>
              <a:t>It</a:t>
            </a:r>
            <a:r>
              <a:rPr sz="1200" spc="1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also</a:t>
            </a:r>
            <a:r>
              <a:rPr sz="1200" spc="1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provides</a:t>
            </a:r>
            <a:r>
              <a:rPr sz="1200" spc="10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teachers</a:t>
            </a:r>
            <a:r>
              <a:rPr sz="1200" spc="1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</a:t>
            </a:r>
            <a:r>
              <a:rPr sz="1200" spc="11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drawing </a:t>
            </a:r>
            <a:r>
              <a:rPr sz="1200" dirty="0">
                <a:latin typeface="Calibri"/>
                <a:cs typeface="Calibri"/>
              </a:rPr>
              <a:t>workspace</a:t>
            </a:r>
            <a:r>
              <a:rPr sz="1200" spc="15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15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give</a:t>
            </a:r>
            <a:r>
              <a:rPr sz="1200" spc="15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them</a:t>
            </a:r>
            <a:r>
              <a:rPr sz="1200" spc="16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ability</a:t>
            </a:r>
            <a:r>
              <a:rPr sz="1200" spc="16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15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explain</a:t>
            </a:r>
            <a:r>
              <a:rPr sz="1200" spc="15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concepts</a:t>
            </a:r>
            <a:r>
              <a:rPr sz="1200" spc="155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more </a:t>
            </a:r>
            <a:r>
              <a:rPr sz="1200" dirty="0">
                <a:latin typeface="Calibri"/>
                <a:cs typeface="Calibri"/>
              </a:rPr>
              <a:t>perfectly</a:t>
            </a:r>
            <a:r>
              <a:rPr sz="1200" spc="15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16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students.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2374" y="1668157"/>
            <a:ext cx="69291" cy="6929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02374" y="2439962"/>
            <a:ext cx="69291" cy="69291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0" y="3349777"/>
            <a:ext cx="4608195" cy="106680"/>
            <a:chOff x="0" y="3349777"/>
            <a:chExt cx="4608195" cy="106680"/>
          </a:xfrm>
        </p:grpSpPr>
        <p:sp>
          <p:nvSpPr>
            <p:cNvPr id="8" name="object 8"/>
            <p:cNvSpPr/>
            <p:nvPr/>
          </p:nvSpPr>
          <p:spPr>
            <a:xfrm>
              <a:off x="0" y="3349777"/>
              <a:ext cx="1536065" cy="106680"/>
            </a:xfrm>
            <a:custGeom>
              <a:avLst/>
              <a:gdLst/>
              <a:ahLst/>
              <a:cxnLst/>
              <a:rect l="l" t="t" r="r" b="b"/>
              <a:pathLst>
                <a:path w="1536065" h="106679">
                  <a:moveTo>
                    <a:pt x="1535976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535976" y="10622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535976" y="3349777"/>
              <a:ext cx="1536065" cy="106680"/>
            </a:xfrm>
            <a:custGeom>
              <a:avLst/>
              <a:gdLst/>
              <a:ahLst/>
              <a:cxnLst/>
              <a:rect l="l" t="t" r="r" b="b"/>
              <a:pathLst>
                <a:path w="1536064" h="106679">
                  <a:moveTo>
                    <a:pt x="1535976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535976" y="10622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071952" y="3349777"/>
              <a:ext cx="1536065" cy="106680"/>
            </a:xfrm>
            <a:custGeom>
              <a:avLst/>
              <a:gdLst/>
              <a:ahLst/>
              <a:cxnLst/>
              <a:rect l="l" t="t" r="r" b="b"/>
              <a:pathLst>
                <a:path w="1536064" h="106679">
                  <a:moveTo>
                    <a:pt x="1535976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535976" y="10622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pc="110" dirty="0"/>
              <a:t>(CSIT(21-</a:t>
            </a:r>
            <a:r>
              <a:rPr spc="120" dirty="0"/>
              <a:t>25/CSIT/27)</a:t>
            </a:r>
            <a:r>
              <a:rPr spc="145" dirty="0"/>
              <a:t> </a:t>
            </a:r>
            <a:r>
              <a:rPr spc="45" dirty="0"/>
              <a:t>)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spc="60" dirty="0"/>
              <a:pPr marL="38100">
                <a:lnSpc>
                  <a:spcPts val="670"/>
                </a:lnSpc>
              </a:pPr>
              <a:t>8</a:t>
            </a:fld>
            <a:r>
              <a:rPr spc="-15" dirty="0"/>
              <a:t> </a:t>
            </a:r>
            <a:r>
              <a:rPr spc="125" dirty="0"/>
              <a:t>/</a:t>
            </a:r>
            <a:r>
              <a:rPr spc="-10" dirty="0"/>
              <a:t> </a:t>
            </a:r>
            <a:r>
              <a:rPr spc="35" dirty="0"/>
              <a:t>26</a:t>
            </a:r>
          </a:p>
        </p:txBody>
      </p: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Objective</a:t>
            </a:r>
            <a:r>
              <a:rPr spc="125" dirty="0"/>
              <a:t> </a:t>
            </a:r>
            <a:r>
              <a:rPr spc="-10" dirty="0"/>
              <a:t>(contd...)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2374" y="969734"/>
            <a:ext cx="69291" cy="69291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85458" rIns="0" bIns="0" rtlCol="0">
            <a:spAutoFit/>
          </a:bodyPr>
          <a:lstStyle/>
          <a:p>
            <a:pPr marL="12700" marR="20320">
              <a:lnSpc>
                <a:spcPct val="100000"/>
              </a:lnSpc>
              <a:spcBef>
                <a:spcPts val="95"/>
              </a:spcBef>
            </a:pPr>
            <a:r>
              <a:rPr b="1" spc="229" dirty="0">
                <a:latin typeface="Calibri"/>
                <a:cs typeface="Calibri"/>
              </a:rPr>
              <a:t>AI</a:t>
            </a:r>
            <a:r>
              <a:rPr b="1" spc="180" dirty="0">
                <a:latin typeface="Calibri"/>
                <a:cs typeface="Calibri"/>
              </a:rPr>
              <a:t> </a:t>
            </a:r>
            <a:r>
              <a:rPr b="1" spc="85" dirty="0">
                <a:latin typeface="Calibri"/>
                <a:cs typeface="Calibri"/>
              </a:rPr>
              <a:t>Assistance:</a:t>
            </a:r>
            <a:r>
              <a:rPr b="1" spc="254" dirty="0">
                <a:latin typeface="Calibri"/>
                <a:cs typeface="Calibri"/>
              </a:rPr>
              <a:t> </a:t>
            </a:r>
            <a:r>
              <a:rPr spc="145" dirty="0"/>
              <a:t>AI</a:t>
            </a:r>
            <a:r>
              <a:rPr spc="114" dirty="0"/>
              <a:t> </a:t>
            </a:r>
            <a:r>
              <a:rPr dirty="0"/>
              <a:t>chatbot</a:t>
            </a:r>
            <a:r>
              <a:rPr spc="120" dirty="0"/>
              <a:t> </a:t>
            </a:r>
            <a:r>
              <a:rPr dirty="0"/>
              <a:t>has</a:t>
            </a:r>
            <a:r>
              <a:rPr spc="120" dirty="0"/>
              <a:t> </a:t>
            </a:r>
            <a:r>
              <a:rPr dirty="0"/>
              <a:t>been</a:t>
            </a:r>
            <a:r>
              <a:rPr spc="114" dirty="0"/>
              <a:t> </a:t>
            </a:r>
            <a:r>
              <a:rPr dirty="0"/>
              <a:t>integrated</a:t>
            </a:r>
            <a:r>
              <a:rPr spc="125" dirty="0"/>
              <a:t> </a:t>
            </a:r>
            <a:r>
              <a:rPr dirty="0"/>
              <a:t>to</a:t>
            </a:r>
            <a:r>
              <a:rPr spc="114" dirty="0"/>
              <a:t> </a:t>
            </a:r>
            <a:r>
              <a:rPr dirty="0"/>
              <a:t>solve</a:t>
            </a:r>
            <a:r>
              <a:rPr spc="120" dirty="0"/>
              <a:t> </a:t>
            </a:r>
            <a:r>
              <a:rPr spc="-25" dirty="0"/>
              <a:t>any </a:t>
            </a:r>
            <a:r>
              <a:rPr dirty="0"/>
              <a:t>query</a:t>
            </a:r>
            <a:r>
              <a:rPr spc="140" dirty="0"/>
              <a:t> </a:t>
            </a:r>
            <a:r>
              <a:rPr dirty="0"/>
              <a:t>of</a:t>
            </a:r>
            <a:r>
              <a:rPr spc="145" dirty="0"/>
              <a:t> </a:t>
            </a:r>
            <a:r>
              <a:rPr dirty="0"/>
              <a:t>students</a:t>
            </a:r>
            <a:r>
              <a:rPr spc="145" dirty="0"/>
              <a:t> </a:t>
            </a:r>
            <a:r>
              <a:rPr dirty="0"/>
              <a:t>and</a:t>
            </a:r>
            <a:r>
              <a:rPr spc="140" dirty="0"/>
              <a:t> </a:t>
            </a:r>
            <a:r>
              <a:rPr dirty="0"/>
              <a:t>also</a:t>
            </a:r>
            <a:r>
              <a:rPr spc="145" dirty="0"/>
              <a:t> </a:t>
            </a:r>
            <a:r>
              <a:rPr dirty="0"/>
              <a:t>guide</a:t>
            </a:r>
            <a:r>
              <a:rPr spc="145" dirty="0"/>
              <a:t> </a:t>
            </a:r>
            <a:r>
              <a:rPr dirty="0"/>
              <a:t>them</a:t>
            </a:r>
            <a:r>
              <a:rPr spc="145" dirty="0"/>
              <a:t> </a:t>
            </a:r>
            <a:r>
              <a:rPr dirty="0"/>
              <a:t>with</a:t>
            </a:r>
            <a:r>
              <a:rPr spc="140" dirty="0"/>
              <a:t> </a:t>
            </a:r>
            <a:r>
              <a:rPr dirty="0"/>
              <a:t>hints</a:t>
            </a:r>
            <a:r>
              <a:rPr spc="145" dirty="0"/>
              <a:t> </a:t>
            </a:r>
            <a:r>
              <a:rPr spc="-25" dirty="0"/>
              <a:t>and </a:t>
            </a:r>
            <a:r>
              <a:rPr dirty="0"/>
              <a:t>explanations,</a:t>
            </a:r>
            <a:r>
              <a:rPr spc="220" dirty="0"/>
              <a:t> </a:t>
            </a:r>
            <a:r>
              <a:rPr dirty="0"/>
              <a:t>thus,</a:t>
            </a:r>
            <a:r>
              <a:rPr spc="220" dirty="0"/>
              <a:t> </a:t>
            </a:r>
            <a:r>
              <a:rPr dirty="0"/>
              <a:t>making</a:t>
            </a:r>
            <a:r>
              <a:rPr spc="225" dirty="0"/>
              <a:t> </a:t>
            </a:r>
            <a:r>
              <a:rPr dirty="0"/>
              <a:t>programming</a:t>
            </a:r>
            <a:r>
              <a:rPr spc="229" dirty="0"/>
              <a:t> </a:t>
            </a:r>
            <a:r>
              <a:rPr dirty="0"/>
              <a:t>more</a:t>
            </a:r>
            <a:r>
              <a:rPr spc="220" dirty="0"/>
              <a:t> </a:t>
            </a:r>
            <a:r>
              <a:rPr spc="-10" dirty="0"/>
              <a:t>interactive</a:t>
            </a:r>
          </a:p>
          <a:p>
            <a:pPr marL="12700" marR="85090">
              <a:lnSpc>
                <a:spcPct val="100000"/>
              </a:lnSpc>
              <a:spcBef>
                <a:spcPts val="310"/>
              </a:spcBef>
            </a:pPr>
            <a:r>
              <a:rPr b="1" spc="105" dirty="0">
                <a:latin typeface="Calibri"/>
                <a:cs typeface="Calibri"/>
              </a:rPr>
              <a:t>Healthy</a:t>
            </a:r>
            <a:r>
              <a:rPr b="1" spc="200" dirty="0">
                <a:latin typeface="Calibri"/>
                <a:cs typeface="Calibri"/>
              </a:rPr>
              <a:t> </a:t>
            </a:r>
            <a:r>
              <a:rPr b="1" spc="105" dirty="0">
                <a:latin typeface="Calibri"/>
                <a:cs typeface="Calibri"/>
              </a:rPr>
              <a:t>Digital</a:t>
            </a:r>
            <a:r>
              <a:rPr b="1" spc="200" dirty="0">
                <a:latin typeface="Calibri"/>
                <a:cs typeface="Calibri"/>
              </a:rPr>
              <a:t> </a:t>
            </a:r>
            <a:r>
              <a:rPr b="1" spc="100" dirty="0">
                <a:latin typeface="Calibri"/>
                <a:cs typeface="Calibri"/>
              </a:rPr>
              <a:t>Habits:</a:t>
            </a:r>
            <a:r>
              <a:rPr b="1" spc="275" dirty="0">
                <a:latin typeface="Calibri"/>
                <a:cs typeface="Calibri"/>
              </a:rPr>
              <a:t> </a:t>
            </a:r>
            <a:r>
              <a:rPr dirty="0"/>
              <a:t>To</a:t>
            </a:r>
            <a:r>
              <a:rPr spc="140" dirty="0"/>
              <a:t> </a:t>
            </a:r>
            <a:r>
              <a:rPr dirty="0"/>
              <a:t>notify</a:t>
            </a:r>
            <a:r>
              <a:rPr spc="135" dirty="0"/>
              <a:t> </a:t>
            </a:r>
            <a:r>
              <a:rPr dirty="0"/>
              <a:t>students</a:t>
            </a:r>
            <a:r>
              <a:rPr spc="135" dirty="0"/>
              <a:t> </a:t>
            </a:r>
            <a:r>
              <a:rPr dirty="0"/>
              <a:t>as</a:t>
            </a:r>
            <a:r>
              <a:rPr spc="135" dirty="0"/>
              <a:t> </a:t>
            </a:r>
            <a:r>
              <a:rPr dirty="0"/>
              <a:t>soon</a:t>
            </a:r>
            <a:r>
              <a:rPr spc="130" dirty="0"/>
              <a:t> </a:t>
            </a:r>
            <a:r>
              <a:rPr spc="-25" dirty="0"/>
              <a:t>as </a:t>
            </a:r>
            <a:r>
              <a:rPr dirty="0"/>
              <a:t>their</a:t>
            </a:r>
            <a:r>
              <a:rPr spc="105" dirty="0"/>
              <a:t> </a:t>
            </a:r>
            <a:r>
              <a:rPr dirty="0"/>
              <a:t>screen</a:t>
            </a:r>
            <a:r>
              <a:rPr spc="110" dirty="0"/>
              <a:t> </a:t>
            </a:r>
            <a:r>
              <a:rPr dirty="0"/>
              <a:t>time</a:t>
            </a:r>
            <a:r>
              <a:rPr spc="110" dirty="0"/>
              <a:t> </a:t>
            </a:r>
            <a:r>
              <a:rPr spc="-10" dirty="0"/>
              <a:t>exceeds</a:t>
            </a:r>
            <a:r>
              <a:rPr spc="105" dirty="0"/>
              <a:t> </a:t>
            </a:r>
            <a:r>
              <a:rPr dirty="0"/>
              <a:t>a</a:t>
            </a:r>
            <a:r>
              <a:rPr spc="110" dirty="0"/>
              <a:t> </a:t>
            </a:r>
            <a:r>
              <a:rPr dirty="0"/>
              <a:t>limit</a:t>
            </a:r>
            <a:r>
              <a:rPr spc="114" dirty="0"/>
              <a:t> </a:t>
            </a:r>
            <a:r>
              <a:rPr dirty="0"/>
              <a:t>of</a:t>
            </a:r>
            <a:r>
              <a:rPr spc="105" dirty="0"/>
              <a:t> </a:t>
            </a:r>
            <a:r>
              <a:rPr dirty="0"/>
              <a:t>2</a:t>
            </a:r>
            <a:r>
              <a:rPr spc="110" dirty="0"/>
              <a:t> </a:t>
            </a:r>
            <a:r>
              <a:rPr dirty="0"/>
              <a:t>hours</a:t>
            </a:r>
            <a:r>
              <a:rPr spc="110" dirty="0"/>
              <a:t> </a:t>
            </a:r>
            <a:r>
              <a:rPr dirty="0"/>
              <a:t>to</a:t>
            </a:r>
            <a:r>
              <a:rPr spc="105" dirty="0"/>
              <a:t> </a:t>
            </a:r>
            <a:r>
              <a:rPr dirty="0"/>
              <a:t>ensure</a:t>
            </a:r>
            <a:r>
              <a:rPr spc="105" dirty="0"/>
              <a:t> </a:t>
            </a:r>
            <a:r>
              <a:rPr dirty="0"/>
              <a:t>a</a:t>
            </a:r>
            <a:r>
              <a:rPr spc="114" dirty="0"/>
              <a:t> </a:t>
            </a:r>
            <a:r>
              <a:rPr spc="-20" dirty="0"/>
              <a:t>good </a:t>
            </a:r>
            <a:r>
              <a:rPr dirty="0"/>
              <a:t>and</a:t>
            </a:r>
            <a:r>
              <a:rPr spc="114" dirty="0"/>
              <a:t> </a:t>
            </a:r>
            <a:r>
              <a:rPr dirty="0"/>
              <a:t>healthy</a:t>
            </a:r>
            <a:r>
              <a:rPr spc="120" dirty="0"/>
              <a:t> </a:t>
            </a:r>
            <a:r>
              <a:rPr dirty="0"/>
              <a:t>use</a:t>
            </a:r>
            <a:r>
              <a:rPr spc="114" dirty="0"/>
              <a:t> </a:t>
            </a:r>
            <a:r>
              <a:rPr dirty="0"/>
              <a:t>of</a:t>
            </a:r>
            <a:r>
              <a:rPr spc="120" dirty="0"/>
              <a:t> </a:t>
            </a:r>
            <a:r>
              <a:rPr spc="-10" dirty="0"/>
              <a:t>technology.</a:t>
            </a:r>
          </a:p>
          <a:p>
            <a:pPr marL="12700" marR="5080">
              <a:lnSpc>
                <a:spcPct val="100000"/>
              </a:lnSpc>
              <a:spcBef>
                <a:spcPts val="315"/>
              </a:spcBef>
            </a:pPr>
            <a:r>
              <a:rPr b="1" spc="95" dirty="0">
                <a:latin typeface="Calibri"/>
                <a:cs typeface="Calibri"/>
              </a:rPr>
              <a:t>Complete</a:t>
            </a:r>
            <a:r>
              <a:rPr b="1" spc="200" dirty="0">
                <a:latin typeface="Calibri"/>
                <a:cs typeface="Calibri"/>
              </a:rPr>
              <a:t> </a:t>
            </a:r>
            <a:r>
              <a:rPr b="1" spc="105" dirty="0">
                <a:latin typeface="Calibri"/>
                <a:cs typeface="Calibri"/>
              </a:rPr>
              <a:t>Learning</a:t>
            </a:r>
            <a:r>
              <a:rPr b="1" spc="204" dirty="0">
                <a:latin typeface="Calibri"/>
                <a:cs typeface="Calibri"/>
              </a:rPr>
              <a:t> </a:t>
            </a:r>
            <a:r>
              <a:rPr b="1" spc="90" dirty="0">
                <a:latin typeface="Calibri"/>
                <a:cs typeface="Calibri"/>
              </a:rPr>
              <a:t>Ecosystem:</a:t>
            </a:r>
            <a:r>
              <a:rPr b="1" spc="275" dirty="0">
                <a:latin typeface="Calibri"/>
                <a:cs typeface="Calibri"/>
              </a:rPr>
              <a:t> </a:t>
            </a:r>
            <a:r>
              <a:rPr spc="75" dirty="0"/>
              <a:t>This</a:t>
            </a:r>
            <a:r>
              <a:rPr spc="135" dirty="0"/>
              <a:t> </a:t>
            </a:r>
            <a:r>
              <a:rPr spc="-10" dirty="0"/>
              <a:t>compherensive </a:t>
            </a:r>
            <a:r>
              <a:rPr dirty="0"/>
              <a:t>solution</a:t>
            </a:r>
            <a:r>
              <a:rPr spc="185" dirty="0"/>
              <a:t> </a:t>
            </a:r>
            <a:r>
              <a:rPr dirty="0"/>
              <a:t>combines</a:t>
            </a:r>
            <a:r>
              <a:rPr spc="190" dirty="0"/>
              <a:t> </a:t>
            </a:r>
            <a:r>
              <a:rPr dirty="0"/>
              <a:t>coding,</a:t>
            </a:r>
            <a:r>
              <a:rPr spc="195" dirty="0"/>
              <a:t> </a:t>
            </a:r>
            <a:r>
              <a:rPr dirty="0"/>
              <a:t>collaboration,</a:t>
            </a:r>
            <a:r>
              <a:rPr spc="185" dirty="0"/>
              <a:t> </a:t>
            </a:r>
            <a:r>
              <a:rPr spc="-10" dirty="0"/>
              <a:t>communication </a:t>
            </a:r>
            <a:r>
              <a:rPr dirty="0"/>
              <a:t>(text/voice),</a:t>
            </a:r>
            <a:r>
              <a:rPr spc="215" dirty="0"/>
              <a:t> </a:t>
            </a:r>
            <a:r>
              <a:rPr dirty="0"/>
              <a:t>learning</a:t>
            </a:r>
            <a:r>
              <a:rPr spc="210" dirty="0"/>
              <a:t> </a:t>
            </a:r>
            <a:r>
              <a:rPr spc="-10" dirty="0"/>
              <a:t>resources</a:t>
            </a:r>
            <a:r>
              <a:rPr spc="210" dirty="0"/>
              <a:t> </a:t>
            </a:r>
            <a:r>
              <a:rPr dirty="0"/>
              <a:t>(like</a:t>
            </a:r>
            <a:r>
              <a:rPr spc="210" dirty="0"/>
              <a:t> </a:t>
            </a:r>
            <a:r>
              <a:rPr spc="-10" dirty="0"/>
              <a:t>requested</a:t>
            </a:r>
            <a:r>
              <a:rPr spc="215" dirty="0"/>
              <a:t> </a:t>
            </a:r>
            <a:r>
              <a:rPr dirty="0"/>
              <a:t>videos),</a:t>
            </a:r>
            <a:r>
              <a:rPr spc="215" dirty="0"/>
              <a:t> </a:t>
            </a:r>
            <a:r>
              <a:rPr spc="-10" dirty="0"/>
              <a:t>health </a:t>
            </a:r>
            <a:r>
              <a:rPr dirty="0"/>
              <a:t>management</a:t>
            </a:r>
            <a:r>
              <a:rPr spc="125" dirty="0"/>
              <a:t> </a:t>
            </a:r>
            <a:r>
              <a:rPr dirty="0"/>
              <a:t>and</a:t>
            </a:r>
            <a:r>
              <a:rPr spc="125" dirty="0"/>
              <a:t> </a:t>
            </a:r>
            <a:r>
              <a:rPr spc="145" dirty="0"/>
              <a:t>AI</a:t>
            </a:r>
            <a:r>
              <a:rPr spc="130" dirty="0"/>
              <a:t> </a:t>
            </a:r>
            <a:r>
              <a:rPr dirty="0"/>
              <a:t>assistance</a:t>
            </a:r>
            <a:r>
              <a:rPr spc="125" dirty="0"/>
              <a:t> </a:t>
            </a:r>
            <a:r>
              <a:rPr dirty="0"/>
              <a:t>into</a:t>
            </a:r>
            <a:r>
              <a:rPr spc="125" dirty="0"/>
              <a:t> </a:t>
            </a:r>
            <a:r>
              <a:rPr dirty="0"/>
              <a:t>a</a:t>
            </a:r>
            <a:r>
              <a:rPr spc="130" dirty="0"/>
              <a:t> </a:t>
            </a:r>
            <a:r>
              <a:rPr dirty="0"/>
              <a:t>single</a:t>
            </a:r>
            <a:r>
              <a:rPr spc="125" dirty="0"/>
              <a:t> </a:t>
            </a:r>
            <a:r>
              <a:rPr spc="-10" dirty="0"/>
              <a:t>platform.</a:t>
            </a: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2374" y="1558086"/>
            <a:ext cx="69291" cy="6929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02374" y="2146427"/>
            <a:ext cx="69291" cy="69291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0" y="3349777"/>
            <a:ext cx="4608195" cy="106680"/>
            <a:chOff x="0" y="3349777"/>
            <a:chExt cx="4608195" cy="106680"/>
          </a:xfrm>
        </p:grpSpPr>
        <p:sp>
          <p:nvSpPr>
            <p:cNvPr id="8" name="object 8"/>
            <p:cNvSpPr/>
            <p:nvPr/>
          </p:nvSpPr>
          <p:spPr>
            <a:xfrm>
              <a:off x="0" y="3349777"/>
              <a:ext cx="1536065" cy="106680"/>
            </a:xfrm>
            <a:custGeom>
              <a:avLst/>
              <a:gdLst/>
              <a:ahLst/>
              <a:cxnLst/>
              <a:rect l="l" t="t" r="r" b="b"/>
              <a:pathLst>
                <a:path w="1536065" h="106679">
                  <a:moveTo>
                    <a:pt x="1535976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535976" y="10622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535976" y="3349777"/>
              <a:ext cx="1536065" cy="106680"/>
            </a:xfrm>
            <a:custGeom>
              <a:avLst/>
              <a:gdLst/>
              <a:ahLst/>
              <a:cxnLst/>
              <a:rect l="l" t="t" r="r" b="b"/>
              <a:pathLst>
                <a:path w="1536064" h="106679">
                  <a:moveTo>
                    <a:pt x="1535976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535976" y="10622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071952" y="3349777"/>
              <a:ext cx="1536065" cy="106680"/>
            </a:xfrm>
            <a:custGeom>
              <a:avLst/>
              <a:gdLst/>
              <a:ahLst/>
              <a:cxnLst/>
              <a:rect l="l" t="t" r="r" b="b"/>
              <a:pathLst>
                <a:path w="1536064" h="106679">
                  <a:moveTo>
                    <a:pt x="1535976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535976" y="10622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pc="110" dirty="0"/>
              <a:t>(CSIT(21-</a:t>
            </a:r>
            <a:r>
              <a:rPr spc="120" dirty="0"/>
              <a:t>25/CSIT/27)</a:t>
            </a:r>
            <a:r>
              <a:rPr spc="145" dirty="0"/>
              <a:t> </a:t>
            </a:r>
            <a:r>
              <a:rPr spc="45" dirty="0"/>
              <a:t>)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spc="60" dirty="0"/>
              <a:pPr marL="38100">
                <a:lnSpc>
                  <a:spcPts val="670"/>
                </a:lnSpc>
              </a:pPr>
              <a:t>9</a:t>
            </a:fld>
            <a:r>
              <a:rPr spc="-15" dirty="0"/>
              <a:t> </a:t>
            </a:r>
            <a:r>
              <a:rPr spc="125" dirty="0"/>
              <a:t>/</a:t>
            </a:r>
            <a:r>
              <a:rPr spc="-10" dirty="0"/>
              <a:t> </a:t>
            </a:r>
            <a:r>
              <a:rPr spc="35" dirty="0"/>
              <a:t>26</a:t>
            </a:r>
          </a:p>
        </p:txBody>
      </p: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181554"/>
            <a:ext cx="1604645" cy="2882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700" dirty="0">
                <a:solidFill>
                  <a:srgbClr val="3333B2"/>
                </a:solidFill>
                <a:latin typeface="Calibri"/>
                <a:cs typeface="Calibri"/>
              </a:rPr>
              <a:t>Literature</a:t>
            </a:r>
            <a:r>
              <a:rPr sz="1700" spc="200" dirty="0">
                <a:solidFill>
                  <a:srgbClr val="3333B2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3333B2"/>
                </a:solidFill>
                <a:latin typeface="Calibri"/>
                <a:cs typeface="Calibri"/>
              </a:rPr>
              <a:t>Review</a:t>
            </a:r>
            <a:endParaRPr sz="17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8666" y="637651"/>
            <a:ext cx="4310765" cy="2491145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0" y="3349777"/>
            <a:ext cx="4608195" cy="106680"/>
            <a:chOff x="0" y="3349777"/>
            <a:chExt cx="4608195" cy="106680"/>
          </a:xfrm>
        </p:grpSpPr>
        <p:sp>
          <p:nvSpPr>
            <p:cNvPr id="5" name="object 5"/>
            <p:cNvSpPr/>
            <p:nvPr/>
          </p:nvSpPr>
          <p:spPr>
            <a:xfrm>
              <a:off x="0" y="3349777"/>
              <a:ext cx="1536065" cy="106680"/>
            </a:xfrm>
            <a:custGeom>
              <a:avLst/>
              <a:gdLst/>
              <a:ahLst/>
              <a:cxnLst/>
              <a:rect l="l" t="t" r="r" b="b"/>
              <a:pathLst>
                <a:path w="1536065" h="106679">
                  <a:moveTo>
                    <a:pt x="1535976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535976" y="10622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535976" y="3349777"/>
              <a:ext cx="1536065" cy="106680"/>
            </a:xfrm>
            <a:custGeom>
              <a:avLst/>
              <a:gdLst/>
              <a:ahLst/>
              <a:cxnLst/>
              <a:rect l="l" t="t" r="r" b="b"/>
              <a:pathLst>
                <a:path w="1536064" h="106679">
                  <a:moveTo>
                    <a:pt x="1535976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535976" y="10622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071952" y="3349777"/>
              <a:ext cx="1536065" cy="106680"/>
            </a:xfrm>
            <a:custGeom>
              <a:avLst/>
              <a:gdLst/>
              <a:ahLst/>
              <a:cxnLst/>
              <a:rect l="l" t="t" r="r" b="b"/>
              <a:pathLst>
                <a:path w="1536064" h="106679">
                  <a:moveTo>
                    <a:pt x="1535976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535976" y="10622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pc="110" dirty="0"/>
              <a:t>(CSIT(21-</a:t>
            </a:r>
            <a:r>
              <a:rPr spc="120" dirty="0"/>
              <a:t>25/CSIT/27)</a:t>
            </a:r>
            <a:r>
              <a:rPr spc="145" dirty="0"/>
              <a:t> </a:t>
            </a:r>
            <a:r>
              <a:rPr spc="45" dirty="0"/>
              <a:t>)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spc="60" dirty="0"/>
              <a:pPr marL="38100">
                <a:lnSpc>
                  <a:spcPts val="670"/>
                </a:lnSpc>
              </a:pPr>
              <a:t>10</a:t>
            </a:fld>
            <a:r>
              <a:rPr spc="-15" dirty="0"/>
              <a:t> </a:t>
            </a:r>
            <a:r>
              <a:rPr spc="125" dirty="0"/>
              <a:t>/</a:t>
            </a:r>
            <a:r>
              <a:rPr spc="-10" dirty="0"/>
              <a:t> </a:t>
            </a:r>
            <a:r>
              <a:rPr spc="35" dirty="0"/>
              <a:t>26</a:t>
            </a:r>
          </a:p>
        </p:txBody>
      </p:sp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181554"/>
            <a:ext cx="1604645" cy="2882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700" dirty="0">
                <a:solidFill>
                  <a:srgbClr val="3333B2"/>
                </a:solidFill>
                <a:latin typeface="Calibri"/>
                <a:cs typeface="Calibri"/>
              </a:rPr>
              <a:t>Literature</a:t>
            </a:r>
            <a:r>
              <a:rPr sz="1700" spc="200" dirty="0">
                <a:solidFill>
                  <a:srgbClr val="3333B2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3333B2"/>
                </a:solidFill>
                <a:latin typeface="Calibri"/>
                <a:cs typeface="Calibri"/>
              </a:rPr>
              <a:t>Review</a:t>
            </a:r>
            <a:endParaRPr sz="17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8666" y="696055"/>
            <a:ext cx="4310770" cy="2345149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0" y="3349777"/>
            <a:ext cx="4608195" cy="106680"/>
            <a:chOff x="0" y="3349777"/>
            <a:chExt cx="4608195" cy="106680"/>
          </a:xfrm>
        </p:grpSpPr>
        <p:sp>
          <p:nvSpPr>
            <p:cNvPr id="5" name="object 5"/>
            <p:cNvSpPr/>
            <p:nvPr/>
          </p:nvSpPr>
          <p:spPr>
            <a:xfrm>
              <a:off x="0" y="3349777"/>
              <a:ext cx="1536065" cy="106680"/>
            </a:xfrm>
            <a:custGeom>
              <a:avLst/>
              <a:gdLst/>
              <a:ahLst/>
              <a:cxnLst/>
              <a:rect l="l" t="t" r="r" b="b"/>
              <a:pathLst>
                <a:path w="1536065" h="106679">
                  <a:moveTo>
                    <a:pt x="1535976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535976" y="10622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535976" y="3349777"/>
              <a:ext cx="1536065" cy="106680"/>
            </a:xfrm>
            <a:custGeom>
              <a:avLst/>
              <a:gdLst/>
              <a:ahLst/>
              <a:cxnLst/>
              <a:rect l="l" t="t" r="r" b="b"/>
              <a:pathLst>
                <a:path w="1536064" h="106679">
                  <a:moveTo>
                    <a:pt x="1535976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535976" y="10622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071952" y="3349777"/>
              <a:ext cx="1536065" cy="106680"/>
            </a:xfrm>
            <a:custGeom>
              <a:avLst/>
              <a:gdLst/>
              <a:ahLst/>
              <a:cxnLst/>
              <a:rect l="l" t="t" r="r" b="b"/>
              <a:pathLst>
                <a:path w="1536064" h="106679">
                  <a:moveTo>
                    <a:pt x="1535976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535976" y="10622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pc="110" dirty="0"/>
              <a:t>(CSIT(21-</a:t>
            </a:r>
            <a:r>
              <a:rPr spc="120" dirty="0"/>
              <a:t>25/CSIT/27)</a:t>
            </a:r>
            <a:r>
              <a:rPr spc="145" dirty="0"/>
              <a:t> </a:t>
            </a:r>
            <a:r>
              <a:rPr spc="45" dirty="0"/>
              <a:t>)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spc="60" dirty="0"/>
              <a:pPr marL="38100">
                <a:lnSpc>
                  <a:spcPts val="670"/>
                </a:lnSpc>
              </a:pPr>
              <a:t>11</a:t>
            </a:fld>
            <a:r>
              <a:rPr spc="-15" dirty="0"/>
              <a:t> </a:t>
            </a:r>
            <a:r>
              <a:rPr spc="125" dirty="0"/>
              <a:t>/</a:t>
            </a:r>
            <a:r>
              <a:rPr spc="-10" dirty="0"/>
              <a:t> </a:t>
            </a:r>
            <a:r>
              <a:rPr spc="35" dirty="0"/>
              <a:t>26</a:t>
            </a:r>
          </a:p>
        </p:txBody>
      </p:sp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10" dirty="0"/>
              <a:t>Research</a:t>
            </a:r>
            <a:r>
              <a:rPr spc="-15" dirty="0"/>
              <a:t> </a:t>
            </a:r>
            <a:r>
              <a:rPr spc="-20" dirty="0"/>
              <a:t>Gaps</a:t>
            </a:r>
          </a:p>
        </p:txBody>
      </p:sp>
      <p:sp>
        <p:nvSpPr>
          <p:cNvPr id="3" name="object 3"/>
          <p:cNvSpPr/>
          <p:nvPr/>
        </p:nvSpPr>
        <p:spPr>
          <a:xfrm>
            <a:off x="95250" y="663575"/>
            <a:ext cx="4412615" cy="225425"/>
          </a:xfrm>
          <a:custGeom>
            <a:avLst/>
            <a:gdLst/>
            <a:ahLst/>
            <a:cxnLst/>
            <a:rect l="l" t="t" r="r" b="b"/>
            <a:pathLst>
              <a:path w="4412615" h="225425">
                <a:moveTo>
                  <a:pt x="436152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25360"/>
                </a:lnTo>
                <a:lnTo>
                  <a:pt x="4412325" y="225360"/>
                </a:lnTo>
                <a:lnTo>
                  <a:pt x="4412325" y="50800"/>
                </a:lnTo>
                <a:lnTo>
                  <a:pt x="4408317" y="31075"/>
                </a:lnTo>
                <a:lnTo>
                  <a:pt x="4397403" y="14922"/>
                </a:lnTo>
                <a:lnTo>
                  <a:pt x="4381250" y="4008"/>
                </a:lnTo>
                <a:lnTo>
                  <a:pt x="4361525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71450" y="663575"/>
            <a:ext cx="2366645" cy="182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55"/>
              </a:lnSpc>
            </a:pPr>
            <a:r>
              <a:rPr sz="1400" spc="45" dirty="0">
                <a:solidFill>
                  <a:srgbClr val="3333B2"/>
                </a:solidFill>
                <a:latin typeface="Calibri"/>
                <a:cs typeface="Calibri"/>
              </a:rPr>
              <a:t>Accessibility</a:t>
            </a:r>
            <a:r>
              <a:rPr sz="1400" spc="225" dirty="0">
                <a:solidFill>
                  <a:srgbClr val="3333B2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B2"/>
                </a:solidFill>
                <a:latin typeface="Calibri"/>
                <a:cs typeface="Calibri"/>
              </a:rPr>
              <a:t>and</a:t>
            </a:r>
            <a:r>
              <a:rPr sz="1400" spc="225" dirty="0">
                <a:solidFill>
                  <a:srgbClr val="3333B2"/>
                </a:solidFill>
                <a:latin typeface="Calibri"/>
                <a:cs typeface="Calibri"/>
              </a:rPr>
              <a:t> </a:t>
            </a:r>
            <a:r>
              <a:rPr sz="1400" spc="35" dirty="0">
                <a:solidFill>
                  <a:srgbClr val="3333B2"/>
                </a:solidFill>
                <a:latin typeface="Calibri"/>
                <a:cs typeface="Calibri"/>
              </a:rPr>
              <a:t>Affordability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7865" y="1960600"/>
            <a:ext cx="4412615" cy="225425"/>
          </a:xfrm>
          <a:custGeom>
            <a:avLst/>
            <a:gdLst/>
            <a:ahLst/>
            <a:cxnLst/>
            <a:rect l="l" t="t" r="r" b="b"/>
            <a:pathLst>
              <a:path w="4412615" h="225425">
                <a:moveTo>
                  <a:pt x="436152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25360"/>
                </a:lnTo>
                <a:lnTo>
                  <a:pt x="4412325" y="225360"/>
                </a:lnTo>
                <a:lnTo>
                  <a:pt x="4412325" y="50800"/>
                </a:lnTo>
                <a:lnTo>
                  <a:pt x="4408317" y="31075"/>
                </a:lnTo>
                <a:lnTo>
                  <a:pt x="4397403" y="14922"/>
                </a:lnTo>
                <a:lnTo>
                  <a:pt x="4381250" y="4008"/>
                </a:lnTo>
                <a:lnTo>
                  <a:pt x="4361525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48666" y="1988570"/>
            <a:ext cx="1670685" cy="182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55"/>
              </a:lnSpc>
            </a:pPr>
            <a:r>
              <a:rPr sz="1400" spc="60" dirty="0">
                <a:solidFill>
                  <a:srgbClr val="3333B2"/>
                </a:solidFill>
                <a:latin typeface="Calibri"/>
                <a:cs typeface="Calibri"/>
              </a:rPr>
              <a:t>Real-</a:t>
            </a:r>
            <a:r>
              <a:rPr sz="1400" dirty="0">
                <a:solidFill>
                  <a:srgbClr val="3333B2"/>
                </a:solidFill>
                <a:latin typeface="Calibri"/>
                <a:cs typeface="Calibri"/>
              </a:rPr>
              <a:t>World</a:t>
            </a:r>
            <a:r>
              <a:rPr sz="1400" spc="350" dirty="0">
                <a:solidFill>
                  <a:srgbClr val="3333B2"/>
                </a:solidFill>
                <a:latin typeface="Calibri"/>
                <a:cs typeface="Calibri"/>
              </a:rPr>
              <a:t> </a:t>
            </a:r>
            <a:r>
              <a:rPr sz="1400" spc="40" dirty="0">
                <a:solidFill>
                  <a:srgbClr val="3333B2"/>
                </a:solidFill>
                <a:latin typeface="Calibri"/>
                <a:cs typeface="Calibri"/>
              </a:rPr>
              <a:t>Exposure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71450" y="892175"/>
            <a:ext cx="4366183" cy="210762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9271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latin typeface="Calibri"/>
                <a:cs typeface="Calibri"/>
              </a:rPr>
              <a:t>Many</a:t>
            </a:r>
            <a:r>
              <a:rPr sz="1200" spc="1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school</a:t>
            </a:r>
            <a:r>
              <a:rPr sz="1200" spc="1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students</a:t>
            </a:r>
            <a:r>
              <a:rPr sz="1200" spc="1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do</a:t>
            </a:r>
            <a:r>
              <a:rPr sz="1200" spc="114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not</a:t>
            </a:r>
            <a:r>
              <a:rPr sz="1200" spc="1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have</a:t>
            </a:r>
            <a:r>
              <a:rPr sz="1200" spc="114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access</a:t>
            </a:r>
            <a:r>
              <a:rPr sz="1200" spc="1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114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personal</a:t>
            </a:r>
            <a:r>
              <a:rPr sz="1200" spc="1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laptops</a:t>
            </a:r>
            <a:r>
              <a:rPr sz="1200" spc="110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or </a:t>
            </a:r>
            <a:r>
              <a:rPr sz="1200" dirty="0">
                <a:latin typeface="Calibri"/>
                <a:cs typeface="Calibri"/>
              </a:rPr>
              <a:t>devices</a:t>
            </a:r>
            <a:r>
              <a:rPr sz="1200" spc="1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15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usually</a:t>
            </a:r>
            <a:r>
              <a:rPr sz="1200" spc="1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depend</a:t>
            </a:r>
            <a:r>
              <a:rPr sz="1200" spc="1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on</a:t>
            </a:r>
            <a:r>
              <a:rPr sz="1200" spc="15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outdated</a:t>
            </a:r>
            <a:r>
              <a:rPr sz="1200" spc="1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computer</a:t>
            </a:r>
            <a:r>
              <a:rPr sz="1200" spc="1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labs</a:t>
            </a:r>
            <a:r>
              <a:rPr sz="1200" spc="14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which </a:t>
            </a:r>
            <a:r>
              <a:rPr sz="1200" dirty="0">
                <a:latin typeface="Calibri"/>
                <a:cs typeface="Calibri"/>
              </a:rPr>
              <a:t>create</a:t>
            </a:r>
            <a:r>
              <a:rPr sz="1200" spc="1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</a:t>
            </a:r>
            <a:r>
              <a:rPr sz="1200" spc="15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gap</a:t>
            </a:r>
            <a:r>
              <a:rPr sz="1200" spc="15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</a:t>
            </a:r>
            <a:r>
              <a:rPr sz="1200" spc="15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providing</a:t>
            </a:r>
            <a:r>
              <a:rPr sz="1200" spc="15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</a:t>
            </a:r>
            <a:r>
              <a:rPr sz="1200" spc="15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affordable,</a:t>
            </a:r>
            <a:r>
              <a:rPr sz="1200" spc="15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lightweight,</a:t>
            </a:r>
            <a:r>
              <a:rPr sz="1200" spc="150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browser-</a:t>
            </a:r>
            <a:r>
              <a:rPr sz="1200" spc="-10" dirty="0">
                <a:latin typeface="Calibri"/>
                <a:cs typeface="Calibri"/>
              </a:rPr>
              <a:t>based </a:t>
            </a:r>
            <a:r>
              <a:rPr sz="1200" dirty="0">
                <a:latin typeface="Calibri"/>
                <a:cs typeface="Calibri"/>
              </a:rPr>
              <a:t>solution</a:t>
            </a:r>
            <a:r>
              <a:rPr sz="1200" spc="15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which</a:t>
            </a:r>
            <a:r>
              <a:rPr sz="1200" spc="15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can</a:t>
            </a:r>
            <a:r>
              <a:rPr sz="1200" spc="15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works</a:t>
            </a:r>
            <a:r>
              <a:rPr sz="1200" spc="15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seamlessly</a:t>
            </a:r>
            <a:r>
              <a:rPr sz="1200" spc="15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without</a:t>
            </a:r>
            <a:r>
              <a:rPr sz="1200" spc="15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heavy</a:t>
            </a:r>
            <a:r>
              <a:rPr sz="1200" spc="15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installations.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75"/>
              </a:spcBef>
            </a:pPr>
            <a:endParaRPr sz="1200">
              <a:latin typeface="Calibri"/>
              <a:cs typeface="Calibri"/>
            </a:endParaRPr>
          </a:p>
          <a:p>
            <a:pPr marR="93980">
              <a:lnSpc>
                <a:spcPct val="100000"/>
              </a:lnSpc>
            </a:pPr>
            <a:r>
              <a:rPr sz="1200" dirty="0">
                <a:latin typeface="Calibri"/>
                <a:cs typeface="Calibri"/>
              </a:rPr>
              <a:t>Current</a:t>
            </a:r>
            <a:r>
              <a:rPr sz="1200" spc="18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school</a:t>
            </a:r>
            <a:r>
              <a:rPr sz="1200" spc="19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curriculums</a:t>
            </a:r>
            <a:r>
              <a:rPr sz="1200" spc="19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fail</a:t>
            </a:r>
            <a:r>
              <a:rPr sz="1200" spc="18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19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provide</a:t>
            </a:r>
            <a:r>
              <a:rPr sz="1200" spc="19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students</a:t>
            </a:r>
            <a:r>
              <a:rPr sz="1200" spc="18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with</a:t>
            </a:r>
            <a:r>
              <a:rPr sz="1200" spc="19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real-</a:t>
            </a:r>
            <a:r>
              <a:rPr sz="1200" spc="-10" dirty="0">
                <a:latin typeface="Calibri"/>
                <a:cs typeface="Calibri"/>
              </a:rPr>
              <a:t>time, </a:t>
            </a:r>
            <a:r>
              <a:rPr sz="1200" dirty="0">
                <a:latin typeface="Calibri"/>
                <a:cs typeface="Calibri"/>
              </a:rPr>
              <a:t>hands-on</a:t>
            </a:r>
            <a:r>
              <a:rPr sz="1200" spc="18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exposure</a:t>
            </a:r>
            <a:r>
              <a:rPr sz="1200" spc="19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19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coding</a:t>
            </a:r>
            <a:r>
              <a:rPr sz="1200" spc="19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19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project</a:t>
            </a:r>
            <a:r>
              <a:rPr sz="1200" spc="19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making.</a:t>
            </a:r>
            <a:r>
              <a:rPr sz="1200" spc="35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Another</a:t>
            </a:r>
            <a:r>
              <a:rPr sz="1200" spc="195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gap </a:t>
            </a:r>
            <a:r>
              <a:rPr sz="1200" dirty="0">
                <a:latin typeface="Calibri"/>
                <a:cs typeface="Calibri"/>
              </a:rPr>
              <a:t>exists</a:t>
            </a:r>
            <a:r>
              <a:rPr sz="1200" spc="19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</a:t>
            </a:r>
            <a:r>
              <a:rPr sz="1200" spc="19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platforms</a:t>
            </a:r>
            <a:r>
              <a:rPr sz="1200" spc="19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that</a:t>
            </a:r>
            <a:r>
              <a:rPr sz="1200" spc="19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allow</a:t>
            </a:r>
            <a:r>
              <a:rPr sz="1200" spc="19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collaborative</a:t>
            </a:r>
            <a:r>
              <a:rPr sz="1200" spc="19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project</a:t>
            </a:r>
            <a:r>
              <a:rPr sz="1200" spc="19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work</a:t>
            </a:r>
            <a:r>
              <a:rPr sz="1200" spc="190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and </a:t>
            </a:r>
            <a:r>
              <a:rPr sz="1200" dirty="0">
                <a:latin typeface="Calibri"/>
                <a:cs typeface="Calibri"/>
              </a:rPr>
              <a:t>coding</a:t>
            </a:r>
            <a:r>
              <a:rPr sz="1200" spc="1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practice</a:t>
            </a:r>
            <a:r>
              <a:rPr sz="1200" spc="1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during</a:t>
            </a:r>
            <a:r>
              <a:rPr sz="1200" spc="1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classes</a:t>
            </a:r>
            <a:r>
              <a:rPr sz="1200" spc="1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as</a:t>
            </a:r>
            <a:r>
              <a:rPr sz="1200" spc="1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well</a:t>
            </a:r>
            <a:r>
              <a:rPr sz="1200" spc="1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as</a:t>
            </a:r>
            <a:r>
              <a:rPr sz="1200" spc="14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holidays.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0" y="3349777"/>
            <a:ext cx="4608195" cy="106680"/>
            <a:chOff x="0" y="3349777"/>
            <a:chExt cx="4608195" cy="106680"/>
          </a:xfrm>
        </p:grpSpPr>
        <p:sp>
          <p:nvSpPr>
            <p:cNvPr id="17" name="object 17"/>
            <p:cNvSpPr/>
            <p:nvPr/>
          </p:nvSpPr>
          <p:spPr>
            <a:xfrm>
              <a:off x="0" y="3349777"/>
              <a:ext cx="1536065" cy="106680"/>
            </a:xfrm>
            <a:custGeom>
              <a:avLst/>
              <a:gdLst/>
              <a:ahLst/>
              <a:cxnLst/>
              <a:rect l="l" t="t" r="r" b="b"/>
              <a:pathLst>
                <a:path w="1536065" h="106679">
                  <a:moveTo>
                    <a:pt x="1535976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535976" y="10622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535976" y="3349777"/>
              <a:ext cx="1536065" cy="106680"/>
            </a:xfrm>
            <a:custGeom>
              <a:avLst/>
              <a:gdLst/>
              <a:ahLst/>
              <a:cxnLst/>
              <a:rect l="l" t="t" r="r" b="b"/>
              <a:pathLst>
                <a:path w="1536064" h="106679">
                  <a:moveTo>
                    <a:pt x="1535976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535976" y="10622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071952" y="3349777"/>
              <a:ext cx="1536065" cy="106680"/>
            </a:xfrm>
            <a:custGeom>
              <a:avLst/>
              <a:gdLst/>
              <a:ahLst/>
              <a:cxnLst/>
              <a:rect l="l" t="t" r="r" b="b"/>
              <a:pathLst>
                <a:path w="1536064" h="106679">
                  <a:moveTo>
                    <a:pt x="1535976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535976" y="10622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pc="110" dirty="0"/>
              <a:t>(CSIT(21-</a:t>
            </a:r>
            <a:r>
              <a:rPr spc="120" dirty="0"/>
              <a:t>25/CSIT/27)</a:t>
            </a:r>
            <a:r>
              <a:rPr spc="145" dirty="0"/>
              <a:t> </a:t>
            </a:r>
            <a:r>
              <a:rPr spc="45" dirty="0"/>
              <a:t>)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spc="60" dirty="0"/>
              <a:pPr marL="38100">
                <a:lnSpc>
                  <a:spcPts val="670"/>
                </a:lnSpc>
              </a:pPr>
              <a:t>12</a:t>
            </a:fld>
            <a:r>
              <a:rPr spc="-15" dirty="0"/>
              <a:t> </a:t>
            </a:r>
            <a:r>
              <a:rPr spc="125" dirty="0"/>
              <a:t>/</a:t>
            </a:r>
            <a:r>
              <a:rPr spc="-10" dirty="0"/>
              <a:t> </a:t>
            </a:r>
            <a:r>
              <a:rPr spc="35" dirty="0"/>
              <a:t>26</a:t>
            </a:r>
          </a:p>
        </p:txBody>
      </p:sp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10" dirty="0"/>
              <a:t>Research</a:t>
            </a:r>
            <a:r>
              <a:rPr spc="95" dirty="0"/>
              <a:t> </a:t>
            </a:r>
            <a:r>
              <a:rPr dirty="0"/>
              <a:t>Gaps</a:t>
            </a:r>
            <a:r>
              <a:rPr spc="90" dirty="0"/>
              <a:t> </a:t>
            </a:r>
            <a:r>
              <a:rPr spc="-10" dirty="0"/>
              <a:t>(contd...)</a:t>
            </a:r>
          </a:p>
        </p:txBody>
      </p:sp>
      <p:sp>
        <p:nvSpPr>
          <p:cNvPr id="3" name="object 3"/>
          <p:cNvSpPr/>
          <p:nvPr/>
        </p:nvSpPr>
        <p:spPr>
          <a:xfrm>
            <a:off x="97865" y="876566"/>
            <a:ext cx="4412615" cy="208915"/>
          </a:xfrm>
          <a:custGeom>
            <a:avLst/>
            <a:gdLst/>
            <a:ahLst/>
            <a:cxnLst/>
            <a:rect l="l" t="t" r="r" b="b"/>
            <a:pathLst>
              <a:path w="4412615" h="208915">
                <a:moveTo>
                  <a:pt x="436152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08911"/>
                </a:lnTo>
                <a:lnTo>
                  <a:pt x="4412325" y="208911"/>
                </a:lnTo>
                <a:lnTo>
                  <a:pt x="4412325" y="50800"/>
                </a:lnTo>
                <a:lnTo>
                  <a:pt x="4408317" y="31075"/>
                </a:lnTo>
                <a:lnTo>
                  <a:pt x="4397403" y="14922"/>
                </a:lnTo>
                <a:lnTo>
                  <a:pt x="4381250" y="4008"/>
                </a:lnTo>
                <a:lnTo>
                  <a:pt x="4361525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48666" y="904549"/>
            <a:ext cx="1610995" cy="182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55"/>
              </a:lnSpc>
            </a:pPr>
            <a:r>
              <a:rPr sz="1400" dirty="0">
                <a:solidFill>
                  <a:srgbClr val="3333B2"/>
                </a:solidFill>
                <a:latin typeface="Calibri"/>
                <a:cs typeface="Calibri"/>
              </a:rPr>
              <a:t>Teacher</a:t>
            </a:r>
            <a:r>
              <a:rPr sz="1400" spc="305" dirty="0">
                <a:solidFill>
                  <a:srgbClr val="3333B2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33B2"/>
                </a:solidFill>
                <a:latin typeface="Calibri"/>
                <a:cs typeface="Calibri"/>
              </a:rPr>
              <a:t>Involvement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7865" y="2024113"/>
            <a:ext cx="4412615" cy="225425"/>
          </a:xfrm>
          <a:custGeom>
            <a:avLst/>
            <a:gdLst/>
            <a:ahLst/>
            <a:cxnLst/>
            <a:rect l="l" t="t" r="r" b="b"/>
            <a:pathLst>
              <a:path w="4412615" h="225425">
                <a:moveTo>
                  <a:pt x="436152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25360"/>
                </a:lnTo>
                <a:lnTo>
                  <a:pt x="4412325" y="225360"/>
                </a:lnTo>
                <a:lnTo>
                  <a:pt x="4412325" y="50800"/>
                </a:lnTo>
                <a:lnTo>
                  <a:pt x="4408317" y="31075"/>
                </a:lnTo>
                <a:lnTo>
                  <a:pt x="4397403" y="14922"/>
                </a:lnTo>
                <a:lnTo>
                  <a:pt x="4381250" y="4008"/>
                </a:lnTo>
                <a:lnTo>
                  <a:pt x="4361525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48666" y="2052083"/>
            <a:ext cx="1475105" cy="182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55"/>
              </a:lnSpc>
            </a:pPr>
            <a:r>
              <a:rPr sz="1400" spc="70" dirty="0">
                <a:solidFill>
                  <a:srgbClr val="3333B2"/>
                </a:solidFill>
                <a:latin typeface="Calibri"/>
                <a:cs typeface="Calibri"/>
              </a:rPr>
              <a:t>Privacy</a:t>
            </a:r>
            <a:r>
              <a:rPr sz="1400" spc="210" dirty="0">
                <a:solidFill>
                  <a:srgbClr val="3333B2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B2"/>
                </a:solidFill>
                <a:latin typeface="Calibri"/>
                <a:cs typeface="Calibri"/>
              </a:rPr>
              <a:t>and</a:t>
            </a:r>
            <a:r>
              <a:rPr sz="1400" spc="210" dirty="0">
                <a:solidFill>
                  <a:srgbClr val="3333B2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33B2"/>
                </a:solidFill>
                <a:latin typeface="Calibri"/>
                <a:cs typeface="Calibri"/>
              </a:rPr>
              <a:t>Safety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71450" y="1083320"/>
            <a:ext cx="4389831" cy="17386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158115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latin typeface="Calibri"/>
                <a:cs typeface="Calibri"/>
              </a:rPr>
              <a:t>While</a:t>
            </a:r>
            <a:r>
              <a:rPr sz="1200" spc="16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many</a:t>
            </a:r>
            <a:r>
              <a:rPr sz="1200" spc="16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coding</a:t>
            </a:r>
            <a:r>
              <a:rPr sz="1200" spc="17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platforms</a:t>
            </a:r>
            <a:r>
              <a:rPr sz="1200" spc="16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exist,</a:t>
            </a:r>
            <a:r>
              <a:rPr sz="1200" spc="16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but</a:t>
            </a:r>
            <a:r>
              <a:rPr sz="1200" spc="17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none</a:t>
            </a:r>
            <a:r>
              <a:rPr sz="1200" spc="16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are</a:t>
            </a:r>
            <a:r>
              <a:rPr sz="1200" spc="17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designed</a:t>
            </a:r>
            <a:r>
              <a:rPr sz="1200" spc="170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by </a:t>
            </a:r>
            <a:r>
              <a:rPr sz="1200" dirty="0">
                <a:latin typeface="Calibri"/>
                <a:cs typeface="Calibri"/>
              </a:rPr>
              <a:t>keeping</a:t>
            </a:r>
            <a:r>
              <a:rPr sz="1200" spc="15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teachers</a:t>
            </a:r>
            <a:r>
              <a:rPr sz="1200" spc="15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</a:t>
            </a:r>
            <a:r>
              <a:rPr sz="1200" spc="15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mind.</a:t>
            </a:r>
            <a:r>
              <a:rPr sz="1200" spc="29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There</a:t>
            </a:r>
            <a:r>
              <a:rPr sz="1200" spc="15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is</a:t>
            </a:r>
            <a:r>
              <a:rPr sz="1200" spc="15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</a:t>
            </a:r>
            <a:r>
              <a:rPr sz="1200" spc="16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huge</a:t>
            </a:r>
            <a:r>
              <a:rPr sz="1200" spc="15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gap</a:t>
            </a:r>
            <a:r>
              <a:rPr sz="1200" spc="15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</a:t>
            </a:r>
            <a:r>
              <a:rPr sz="1200" spc="15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tools</a:t>
            </a:r>
            <a:r>
              <a:rPr sz="1200" spc="15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that</a:t>
            </a:r>
            <a:r>
              <a:rPr sz="1200" spc="15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allow </a:t>
            </a:r>
            <a:r>
              <a:rPr sz="1200" dirty="0">
                <a:latin typeface="Calibri"/>
                <a:cs typeface="Calibri"/>
              </a:rPr>
              <a:t>teachers</a:t>
            </a:r>
            <a:r>
              <a:rPr sz="1200" spc="1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1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conduct</a:t>
            </a:r>
            <a:r>
              <a:rPr sz="1200" spc="1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coding</a:t>
            </a:r>
            <a:r>
              <a:rPr sz="1200" spc="1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classes</a:t>
            </a:r>
            <a:r>
              <a:rPr sz="1200" spc="1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15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explain</a:t>
            </a:r>
            <a:r>
              <a:rPr sz="1200" spc="14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concepts interactively.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75"/>
              </a:spcBef>
            </a:pPr>
            <a:endParaRPr sz="1200">
              <a:latin typeface="Calibri"/>
              <a:cs typeface="Calibri"/>
            </a:endParaRPr>
          </a:p>
          <a:p>
            <a:pPr marR="121285">
              <a:lnSpc>
                <a:spcPct val="100000"/>
              </a:lnSpc>
            </a:pPr>
            <a:r>
              <a:rPr sz="1200" dirty="0">
                <a:latin typeface="Calibri"/>
                <a:cs typeface="Calibri"/>
              </a:rPr>
              <a:t>Since</a:t>
            </a:r>
            <a:r>
              <a:rPr sz="1200" spc="17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17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platform</a:t>
            </a:r>
            <a:r>
              <a:rPr sz="1200" spc="18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involves</a:t>
            </a:r>
            <a:r>
              <a:rPr sz="1200" spc="17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collaboration</a:t>
            </a:r>
            <a:r>
              <a:rPr sz="1200" spc="18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17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communication </a:t>
            </a:r>
            <a:r>
              <a:rPr sz="1200" dirty="0">
                <a:latin typeface="Calibri"/>
                <a:cs typeface="Calibri"/>
              </a:rPr>
              <a:t>(chat/voice),</a:t>
            </a:r>
            <a:r>
              <a:rPr sz="1200" spc="17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ensuring</a:t>
            </a:r>
            <a:r>
              <a:rPr sz="1200" spc="16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screen-</a:t>
            </a:r>
            <a:r>
              <a:rPr sz="1200" dirty="0">
                <a:latin typeface="Calibri"/>
                <a:cs typeface="Calibri"/>
              </a:rPr>
              <a:t>time</a:t>
            </a:r>
            <a:r>
              <a:rPr sz="1200" spc="17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management</a:t>
            </a:r>
            <a:r>
              <a:rPr sz="1200" spc="16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of</a:t>
            </a:r>
            <a:r>
              <a:rPr sz="1200" spc="16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students</a:t>
            </a:r>
            <a:r>
              <a:rPr sz="1200" spc="16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is</a:t>
            </a:r>
            <a:r>
              <a:rPr sz="1200" spc="17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still </a:t>
            </a:r>
            <a:r>
              <a:rPr sz="1200" dirty="0">
                <a:latin typeface="Calibri"/>
                <a:cs typeface="Calibri"/>
              </a:rPr>
              <a:t>a</a:t>
            </a:r>
            <a:r>
              <a:rPr sz="1200" spc="19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critical</a:t>
            </a:r>
            <a:r>
              <a:rPr sz="1200" spc="20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part</a:t>
            </a:r>
            <a:r>
              <a:rPr sz="1200" spc="19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which</a:t>
            </a:r>
            <a:r>
              <a:rPr sz="1200" spc="19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is</a:t>
            </a:r>
            <a:r>
              <a:rPr sz="1200" spc="19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overlooked</a:t>
            </a:r>
            <a:r>
              <a:rPr sz="1200" spc="19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by</a:t>
            </a:r>
            <a:r>
              <a:rPr sz="1200" spc="19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existing</a:t>
            </a:r>
            <a:r>
              <a:rPr sz="1200" spc="20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tools.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0" y="3349777"/>
            <a:ext cx="4608195" cy="106680"/>
            <a:chOff x="0" y="3349777"/>
            <a:chExt cx="4608195" cy="106680"/>
          </a:xfrm>
        </p:grpSpPr>
        <p:sp>
          <p:nvSpPr>
            <p:cNvPr id="17" name="object 17"/>
            <p:cNvSpPr/>
            <p:nvPr/>
          </p:nvSpPr>
          <p:spPr>
            <a:xfrm>
              <a:off x="0" y="3349777"/>
              <a:ext cx="1536065" cy="106680"/>
            </a:xfrm>
            <a:custGeom>
              <a:avLst/>
              <a:gdLst/>
              <a:ahLst/>
              <a:cxnLst/>
              <a:rect l="l" t="t" r="r" b="b"/>
              <a:pathLst>
                <a:path w="1536065" h="106679">
                  <a:moveTo>
                    <a:pt x="1535976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535976" y="10622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535976" y="3349777"/>
              <a:ext cx="1536065" cy="106680"/>
            </a:xfrm>
            <a:custGeom>
              <a:avLst/>
              <a:gdLst/>
              <a:ahLst/>
              <a:cxnLst/>
              <a:rect l="l" t="t" r="r" b="b"/>
              <a:pathLst>
                <a:path w="1536064" h="106679">
                  <a:moveTo>
                    <a:pt x="1535976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535976" y="10622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071952" y="3349777"/>
              <a:ext cx="1536065" cy="106680"/>
            </a:xfrm>
            <a:custGeom>
              <a:avLst/>
              <a:gdLst/>
              <a:ahLst/>
              <a:cxnLst/>
              <a:rect l="l" t="t" r="r" b="b"/>
              <a:pathLst>
                <a:path w="1536064" h="106679">
                  <a:moveTo>
                    <a:pt x="1535976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535976" y="10622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pc="110" dirty="0"/>
              <a:t>(CSIT(21-</a:t>
            </a:r>
            <a:r>
              <a:rPr spc="120" dirty="0"/>
              <a:t>25/CSIT/27)</a:t>
            </a:r>
            <a:r>
              <a:rPr spc="145" dirty="0"/>
              <a:t> </a:t>
            </a:r>
            <a:r>
              <a:rPr spc="45" dirty="0"/>
              <a:t>)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spc="60" dirty="0"/>
              <a:pPr marL="38100">
                <a:lnSpc>
                  <a:spcPts val="670"/>
                </a:lnSpc>
              </a:pPr>
              <a:t>13</a:t>
            </a:fld>
            <a:r>
              <a:rPr spc="-15" dirty="0"/>
              <a:t> </a:t>
            </a:r>
            <a:r>
              <a:rPr spc="125" dirty="0"/>
              <a:t>/</a:t>
            </a:r>
            <a:r>
              <a:rPr spc="-10" dirty="0"/>
              <a:t> </a:t>
            </a:r>
            <a:r>
              <a:rPr spc="35" dirty="0"/>
              <a:t>26</a:t>
            </a:r>
          </a:p>
        </p:txBody>
      </p:sp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181554"/>
            <a:ext cx="1665605" cy="2882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700" spc="-25" dirty="0">
                <a:solidFill>
                  <a:srgbClr val="3333B2"/>
                </a:solidFill>
                <a:latin typeface="Calibri"/>
                <a:cs typeface="Calibri"/>
              </a:rPr>
              <a:t>Methodology</a:t>
            </a:r>
            <a:r>
              <a:rPr sz="1700" spc="35" dirty="0">
                <a:solidFill>
                  <a:srgbClr val="3333B2"/>
                </a:solidFill>
                <a:latin typeface="Calibri"/>
                <a:cs typeface="Calibri"/>
              </a:rPr>
              <a:t> </a:t>
            </a:r>
            <a:r>
              <a:rPr sz="1700" spc="-20" dirty="0">
                <a:solidFill>
                  <a:srgbClr val="3333B2"/>
                </a:solidFill>
                <a:latin typeface="Calibri"/>
                <a:cs typeface="Calibri"/>
              </a:rPr>
              <a:t>Used</a:t>
            </a:r>
            <a:endParaRPr sz="17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5071" y="706904"/>
            <a:ext cx="2785062" cy="201303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587792" y="2843122"/>
            <a:ext cx="138684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solidFill>
                  <a:srgbClr val="3333B2"/>
                </a:solidFill>
                <a:latin typeface="Calibri"/>
                <a:cs typeface="Calibri"/>
              </a:rPr>
              <a:t>Figure:</a:t>
            </a:r>
            <a:r>
              <a:rPr sz="1100" spc="260" dirty="0">
                <a:solidFill>
                  <a:srgbClr val="3333B2"/>
                </a:solidFill>
                <a:latin typeface="Calibri"/>
                <a:cs typeface="Calibri"/>
              </a:rPr>
              <a:t> </a:t>
            </a:r>
            <a:r>
              <a:rPr sz="1100" spc="50" dirty="0">
                <a:latin typeface="Calibri"/>
                <a:cs typeface="Calibri"/>
              </a:rPr>
              <a:t>Class</a:t>
            </a:r>
            <a:r>
              <a:rPr sz="1100" spc="26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Diagram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9777"/>
            <a:ext cx="4608195" cy="106680"/>
            <a:chOff x="0" y="3349777"/>
            <a:chExt cx="4608195" cy="106680"/>
          </a:xfrm>
        </p:grpSpPr>
        <p:sp>
          <p:nvSpPr>
            <p:cNvPr id="6" name="object 6"/>
            <p:cNvSpPr/>
            <p:nvPr/>
          </p:nvSpPr>
          <p:spPr>
            <a:xfrm>
              <a:off x="0" y="3349777"/>
              <a:ext cx="1536065" cy="106680"/>
            </a:xfrm>
            <a:custGeom>
              <a:avLst/>
              <a:gdLst/>
              <a:ahLst/>
              <a:cxnLst/>
              <a:rect l="l" t="t" r="r" b="b"/>
              <a:pathLst>
                <a:path w="1536065" h="106679">
                  <a:moveTo>
                    <a:pt x="1535976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535976" y="10622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535976" y="3349777"/>
              <a:ext cx="1536065" cy="106680"/>
            </a:xfrm>
            <a:custGeom>
              <a:avLst/>
              <a:gdLst/>
              <a:ahLst/>
              <a:cxnLst/>
              <a:rect l="l" t="t" r="r" b="b"/>
              <a:pathLst>
                <a:path w="1536064" h="106679">
                  <a:moveTo>
                    <a:pt x="1535976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535976" y="10622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071952" y="3349777"/>
              <a:ext cx="1536065" cy="106680"/>
            </a:xfrm>
            <a:custGeom>
              <a:avLst/>
              <a:gdLst/>
              <a:ahLst/>
              <a:cxnLst/>
              <a:rect l="l" t="t" r="r" b="b"/>
              <a:pathLst>
                <a:path w="1536064" h="106679">
                  <a:moveTo>
                    <a:pt x="1535976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535976" y="10622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pc="110" dirty="0"/>
              <a:t>(CSIT(21-</a:t>
            </a:r>
            <a:r>
              <a:rPr spc="120" dirty="0"/>
              <a:t>25/CSIT/27)</a:t>
            </a:r>
            <a:r>
              <a:rPr spc="145" dirty="0"/>
              <a:t> </a:t>
            </a:r>
            <a:r>
              <a:rPr spc="45" dirty="0"/>
              <a:t>)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spc="60" dirty="0"/>
              <a:pPr marL="38100">
                <a:lnSpc>
                  <a:spcPts val="670"/>
                </a:lnSpc>
              </a:pPr>
              <a:t>14</a:t>
            </a:fld>
            <a:r>
              <a:rPr spc="-15" dirty="0"/>
              <a:t> </a:t>
            </a:r>
            <a:r>
              <a:rPr spc="125" dirty="0"/>
              <a:t>/</a:t>
            </a:r>
            <a:r>
              <a:rPr spc="-10" dirty="0"/>
              <a:t> </a:t>
            </a:r>
            <a:r>
              <a:rPr spc="35" dirty="0"/>
              <a:t>26</a:t>
            </a:r>
          </a:p>
        </p:txBody>
      </p:sp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181554"/>
            <a:ext cx="1665605" cy="2882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700" spc="-25" dirty="0">
                <a:solidFill>
                  <a:srgbClr val="3333B2"/>
                </a:solidFill>
                <a:latin typeface="Calibri"/>
                <a:cs typeface="Calibri"/>
              </a:rPr>
              <a:t>Methodology</a:t>
            </a:r>
            <a:r>
              <a:rPr sz="1700" spc="35" dirty="0">
                <a:solidFill>
                  <a:srgbClr val="3333B2"/>
                </a:solidFill>
                <a:latin typeface="Calibri"/>
                <a:cs typeface="Calibri"/>
              </a:rPr>
              <a:t> </a:t>
            </a:r>
            <a:r>
              <a:rPr sz="1700" spc="-20" dirty="0">
                <a:solidFill>
                  <a:srgbClr val="3333B2"/>
                </a:solidFill>
                <a:latin typeface="Calibri"/>
                <a:cs typeface="Calibri"/>
              </a:rPr>
              <a:t>Used</a:t>
            </a:r>
            <a:endParaRPr sz="17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1499" y="586163"/>
            <a:ext cx="2339336" cy="230780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249895" y="3017620"/>
            <a:ext cx="204787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solidFill>
                  <a:srgbClr val="3333B2"/>
                </a:solidFill>
                <a:latin typeface="Calibri"/>
                <a:cs typeface="Calibri"/>
              </a:rPr>
              <a:t>Figure:</a:t>
            </a:r>
            <a:r>
              <a:rPr sz="1100" spc="430" dirty="0">
                <a:solidFill>
                  <a:srgbClr val="3333B2"/>
                </a:solidFill>
                <a:latin typeface="Calibri"/>
                <a:cs typeface="Calibri"/>
              </a:rPr>
              <a:t> </a:t>
            </a:r>
            <a:r>
              <a:rPr sz="1100" spc="55" dirty="0">
                <a:latin typeface="Calibri"/>
                <a:cs typeface="Calibri"/>
              </a:rPr>
              <a:t>Entity-</a:t>
            </a:r>
            <a:r>
              <a:rPr sz="1100" dirty="0">
                <a:latin typeface="Calibri"/>
                <a:cs typeface="Calibri"/>
              </a:rPr>
              <a:t>Relation</a:t>
            </a:r>
            <a:r>
              <a:rPr sz="1100" spc="434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Diagram.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9777"/>
            <a:ext cx="4608195" cy="106680"/>
            <a:chOff x="0" y="3349777"/>
            <a:chExt cx="4608195" cy="106680"/>
          </a:xfrm>
        </p:grpSpPr>
        <p:sp>
          <p:nvSpPr>
            <p:cNvPr id="6" name="object 6"/>
            <p:cNvSpPr/>
            <p:nvPr/>
          </p:nvSpPr>
          <p:spPr>
            <a:xfrm>
              <a:off x="0" y="3349777"/>
              <a:ext cx="1536065" cy="106680"/>
            </a:xfrm>
            <a:custGeom>
              <a:avLst/>
              <a:gdLst/>
              <a:ahLst/>
              <a:cxnLst/>
              <a:rect l="l" t="t" r="r" b="b"/>
              <a:pathLst>
                <a:path w="1536065" h="106679">
                  <a:moveTo>
                    <a:pt x="1535976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535976" y="10622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535976" y="3349777"/>
              <a:ext cx="1536065" cy="106680"/>
            </a:xfrm>
            <a:custGeom>
              <a:avLst/>
              <a:gdLst/>
              <a:ahLst/>
              <a:cxnLst/>
              <a:rect l="l" t="t" r="r" b="b"/>
              <a:pathLst>
                <a:path w="1536064" h="106679">
                  <a:moveTo>
                    <a:pt x="1535976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535976" y="10622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071952" y="3349777"/>
              <a:ext cx="1536065" cy="106680"/>
            </a:xfrm>
            <a:custGeom>
              <a:avLst/>
              <a:gdLst/>
              <a:ahLst/>
              <a:cxnLst/>
              <a:rect l="l" t="t" r="r" b="b"/>
              <a:pathLst>
                <a:path w="1536064" h="106679">
                  <a:moveTo>
                    <a:pt x="1535976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535976" y="10622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pc="110" dirty="0"/>
              <a:t>(CSIT(21-</a:t>
            </a:r>
            <a:r>
              <a:rPr spc="120" dirty="0"/>
              <a:t>25/CSIT/27)</a:t>
            </a:r>
            <a:r>
              <a:rPr spc="145" dirty="0"/>
              <a:t> </a:t>
            </a:r>
            <a:r>
              <a:rPr spc="45" dirty="0"/>
              <a:t>)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spc="60" dirty="0"/>
              <a:pPr marL="38100">
                <a:lnSpc>
                  <a:spcPts val="670"/>
                </a:lnSpc>
              </a:pPr>
              <a:t>15</a:t>
            </a:fld>
            <a:r>
              <a:rPr spc="-15" dirty="0"/>
              <a:t> </a:t>
            </a:r>
            <a:r>
              <a:rPr spc="125" dirty="0"/>
              <a:t>/</a:t>
            </a:r>
            <a:r>
              <a:rPr spc="-10" dirty="0"/>
              <a:t> </a:t>
            </a:r>
            <a:r>
              <a:rPr spc="35" dirty="0"/>
              <a:t>26</a:t>
            </a:r>
          </a:p>
        </p:txBody>
      </p:sp>
    </p:spTree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181554"/>
            <a:ext cx="1665605" cy="2882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700" spc="-25" dirty="0">
                <a:solidFill>
                  <a:srgbClr val="3333B2"/>
                </a:solidFill>
                <a:latin typeface="Calibri"/>
                <a:cs typeface="Calibri"/>
              </a:rPr>
              <a:t>Methodology</a:t>
            </a:r>
            <a:r>
              <a:rPr sz="1700" spc="35" dirty="0">
                <a:solidFill>
                  <a:srgbClr val="3333B2"/>
                </a:solidFill>
                <a:latin typeface="Calibri"/>
                <a:cs typeface="Calibri"/>
              </a:rPr>
              <a:t> </a:t>
            </a:r>
            <a:r>
              <a:rPr sz="1700" spc="-20" dirty="0">
                <a:solidFill>
                  <a:srgbClr val="3333B2"/>
                </a:solidFill>
                <a:latin typeface="Calibri"/>
                <a:cs typeface="Calibri"/>
              </a:rPr>
              <a:t>Used</a:t>
            </a:r>
            <a:endParaRPr sz="17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4033" y="832423"/>
            <a:ext cx="2553179" cy="167334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474266" y="2653104"/>
            <a:ext cx="166052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solidFill>
                  <a:srgbClr val="3333B2"/>
                </a:solidFill>
                <a:latin typeface="Calibri"/>
                <a:cs typeface="Calibri"/>
              </a:rPr>
              <a:t>Figure:</a:t>
            </a:r>
            <a:r>
              <a:rPr sz="1100" spc="270" dirty="0">
                <a:solidFill>
                  <a:srgbClr val="3333B2"/>
                </a:solidFill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Use</a:t>
            </a:r>
            <a:r>
              <a:rPr sz="1100" spc="27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Case</a:t>
            </a:r>
            <a:r>
              <a:rPr sz="1100" spc="27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Diagram.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9777"/>
            <a:ext cx="4608195" cy="106680"/>
            <a:chOff x="0" y="3349777"/>
            <a:chExt cx="4608195" cy="106680"/>
          </a:xfrm>
        </p:grpSpPr>
        <p:sp>
          <p:nvSpPr>
            <p:cNvPr id="6" name="object 6"/>
            <p:cNvSpPr/>
            <p:nvPr/>
          </p:nvSpPr>
          <p:spPr>
            <a:xfrm>
              <a:off x="0" y="3349777"/>
              <a:ext cx="1536065" cy="106680"/>
            </a:xfrm>
            <a:custGeom>
              <a:avLst/>
              <a:gdLst/>
              <a:ahLst/>
              <a:cxnLst/>
              <a:rect l="l" t="t" r="r" b="b"/>
              <a:pathLst>
                <a:path w="1536065" h="106679">
                  <a:moveTo>
                    <a:pt x="1535976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535976" y="10622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535976" y="3349777"/>
              <a:ext cx="1536065" cy="106680"/>
            </a:xfrm>
            <a:custGeom>
              <a:avLst/>
              <a:gdLst/>
              <a:ahLst/>
              <a:cxnLst/>
              <a:rect l="l" t="t" r="r" b="b"/>
              <a:pathLst>
                <a:path w="1536064" h="106679">
                  <a:moveTo>
                    <a:pt x="1535976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535976" y="10622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071952" y="3349777"/>
              <a:ext cx="1536065" cy="106680"/>
            </a:xfrm>
            <a:custGeom>
              <a:avLst/>
              <a:gdLst/>
              <a:ahLst/>
              <a:cxnLst/>
              <a:rect l="l" t="t" r="r" b="b"/>
              <a:pathLst>
                <a:path w="1536064" h="106679">
                  <a:moveTo>
                    <a:pt x="1535976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535976" y="10622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pc="110" dirty="0"/>
              <a:t>(CSIT(21-</a:t>
            </a:r>
            <a:r>
              <a:rPr spc="120" dirty="0"/>
              <a:t>25/CSIT/27)</a:t>
            </a:r>
            <a:r>
              <a:rPr spc="145" dirty="0"/>
              <a:t> </a:t>
            </a:r>
            <a:r>
              <a:rPr spc="45" dirty="0"/>
              <a:t>)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spc="60" dirty="0"/>
              <a:pPr marL="38100">
                <a:lnSpc>
                  <a:spcPts val="670"/>
                </a:lnSpc>
              </a:pPr>
              <a:t>16</a:t>
            </a:fld>
            <a:r>
              <a:rPr spc="-15" dirty="0"/>
              <a:t> </a:t>
            </a:r>
            <a:r>
              <a:rPr spc="125" dirty="0"/>
              <a:t>/</a:t>
            </a:r>
            <a:r>
              <a:rPr spc="-10" dirty="0"/>
              <a:t> </a:t>
            </a:r>
            <a:r>
              <a:rPr spc="35" dirty="0"/>
              <a:t>26</a:t>
            </a:r>
          </a:p>
        </p:txBody>
      </p:sp>
    </p:spTree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181554"/>
            <a:ext cx="1123950" cy="2882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700" dirty="0">
                <a:solidFill>
                  <a:srgbClr val="3333B2"/>
                </a:solidFill>
                <a:latin typeface="Calibri"/>
                <a:cs typeface="Calibri"/>
              </a:rPr>
              <a:t>Gantt</a:t>
            </a:r>
            <a:r>
              <a:rPr sz="1700" spc="285" dirty="0">
                <a:solidFill>
                  <a:srgbClr val="3333B2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3333B2"/>
                </a:solidFill>
                <a:latin typeface="Calibri"/>
                <a:cs typeface="Calibri"/>
              </a:rPr>
              <a:t>Chart</a:t>
            </a:r>
            <a:endParaRPr sz="17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8666" y="785665"/>
            <a:ext cx="4296934" cy="2107413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0" y="3349777"/>
            <a:ext cx="4608195" cy="106680"/>
            <a:chOff x="0" y="3349777"/>
            <a:chExt cx="4608195" cy="106680"/>
          </a:xfrm>
        </p:grpSpPr>
        <p:sp>
          <p:nvSpPr>
            <p:cNvPr id="5" name="object 5"/>
            <p:cNvSpPr/>
            <p:nvPr/>
          </p:nvSpPr>
          <p:spPr>
            <a:xfrm>
              <a:off x="0" y="3349777"/>
              <a:ext cx="1536065" cy="106680"/>
            </a:xfrm>
            <a:custGeom>
              <a:avLst/>
              <a:gdLst/>
              <a:ahLst/>
              <a:cxnLst/>
              <a:rect l="l" t="t" r="r" b="b"/>
              <a:pathLst>
                <a:path w="1536065" h="106679">
                  <a:moveTo>
                    <a:pt x="1535976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535976" y="10622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535976" y="3349777"/>
              <a:ext cx="1536065" cy="106680"/>
            </a:xfrm>
            <a:custGeom>
              <a:avLst/>
              <a:gdLst/>
              <a:ahLst/>
              <a:cxnLst/>
              <a:rect l="l" t="t" r="r" b="b"/>
              <a:pathLst>
                <a:path w="1536064" h="106679">
                  <a:moveTo>
                    <a:pt x="1535976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535976" y="10622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071952" y="3349777"/>
              <a:ext cx="1536065" cy="106680"/>
            </a:xfrm>
            <a:custGeom>
              <a:avLst/>
              <a:gdLst/>
              <a:ahLst/>
              <a:cxnLst/>
              <a:rect l="l" t="t" r="r" b="b"/>
              <a:pathLst>
                <a:path w="1536064" h="106679">
                  <a:moveTo>
                    <a:pt x="1535976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535976" y="10622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pc="110" dirty="0"/>
              <a:t>(CSIT(21-</a:t>
            </a:r>
            <a:r>
              <a:rPr spc="120" dirty="0"/>
              <a:t>25/CSIT/27)</a:t>
            </a:r>
            <a:r>
              <a:rPr spc="145" dirty="0"/>
              <a:t> </a:t>
            </a:r>
            <a:r>
              <a:rPr spc="45" dirty="0"/>
              <a:t>)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spc="60" dirty="0"/>
              <a:pPr marL="38100">
                <a:lnSpc>
                  <a:spcPts val="670"/>
                </a:lnSpc>
              </a:pPr>
              <a:t>17</a:t>
            </a:fld>
            <a:r>
              <a:rPr spc="-15" dirty="0"/>
              <a:t> </a:t>
            </a:r>
            <a:r>
              <a:rPr spc="125" dirty="0"/>
              <a:t>/</a:t>
            </a:r>
            <a:r>
              <a:rPr spc="-10" dirty="0"/>
              <a:t> </a:t>
            </a:r>
            <a:r>
              <a:rPr spc="35" dirty="0"/>
              <a:t>26</a:t>
            </a:r>
          </a:p>
        </p:txBody>
      </p:sp>
    </p:spTree>
  </p:cSld>
  <p:clrMapOvr>
    <a:masterClrMapping/>
  </p:clrMapOvr>
  <p:transition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165558"/>
            <a:ext cx="3926204" cy="5822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7400"/>
              </a:lnSpc>
              <a:spcBef>
                <a:spcPts val="95"/>
              </a:spcBef>
            </a:pPr>
            <a:r>
              <a:rPr dirty="0"/>
              <a:t>Sustainable</a:t>
            </a:r>
            <a:r>
              <a:rPr spc="55" dirty="0"/>
              <a:t> </a:t>
            </a:r>
            <a:r>
              <a:rPr spc="-30" dirty="0"/>
              <a:t>Development</a:t>
            </a:r>
            <a:r>
              <a:rPr spc="60" dirty="0"/>
              <a:t> </a:t>
            </a:r>
            <a:r>
              <a:rPr dirty="0"/>
              <a:t>Goals</a:t>
            </a:r>
            <a:r>
              <a:rPr spc="55" dirty="0"/>
              <a:t> </a:t>
            </a:r>
            <a:r>
              <a:rPr dirty="0"/>
              <a:t>Achieved</a:t>
            </a:r>
            <a:r>
              <a:rPr spc="60" dirty="0"/>
              <a:t> </a:t>
            </a:r>
            <a:r>
              <a:rPr spc="-25" dirty="0"/>
              <a:t>by </a:t>
            </a:r>
            <a:r>
              <a:rPr spc="-10" dirty="0"/>
              <a:t>Project</a:t>
            </a:r>
          </a:p>
        </p:txBody>
      </p:sp>
      <p:sp>
        <p:nvSpPr>
          <p:cNvPr id="3" name="object 3"/>
          <p:cNvSpPr/>
          <p:nvPr/>
        </p:nvSpPr>
        <p:spPr>
          <a:xfrm>
            <a:off x="97865" y="963612"/>
            <a:ext cx="4412615" cy="225425"/>
          </a:xfrm>
          <a:custGeom>
            <a:avLst/>
            <a:gdLst/>
            <a:ahLst/>
            <a:cxnLst/>
            <a:rect l="l" t="t" r="r" b="b"/>
            <a:pathLst>
              <a:path w="4412615" h="225425">
                <a:moveTo>
                  <a:pt x="436152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25360"/>
                </a:lnTo>
                <a:lnTo>
                  <a:pt x="4412325" y="225360"/>
                </a:lnTo>
                <a:lnTo>
                  <a:pt x="4412325" y="50800"/>
                </a:lnTo>
                <a:lnTo>
                  <a:pt x="4408317" y="31075"/>
                </a:lnTo>
                <a:lnTo>
                  <a:pt x="4397403" y="14922"/>
                </a:lnTo>
                <a:lnTo>
                  <a:pt x="4381250" y="4008"/>
                </a:lnTo>
                <a:lnTo>
                  <a:pt x="4361525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48666" y="991595"/>
            <a:ext cx="2092960" cy="182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55"/>
              </a:lnSpc>
            </a:pPr>
            <a:r>
              <a:rPr sz="1400" spc="180" dirty="0">
                <a:solidFill>
                  <a:srgbClr val="3333B2"/>
                </a:solidFill>
                <a:latin typeface="Calibri"/>
                <a:cs typeface="Calibri"/>
              </a:rPr>
              <a:t>SDG</a:t>
            </a:r>
            <a:r>
              <a:rPr sz="1400" spc="160" dirty="0">
                <a:solidFill>
                  <a:srgbClr val="3333B2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B2"/>
                </a:solidFill>
                <a:latin typeface="Calibri"/>
                <a:cs typeface="Calibri"/>
              </a:rPr>
              <a:t>4:</a:t>
            </a:r>
            <a:r>
              <a:rPr sz="1400" spc="310" dirty="0">
                <a:solidFill>
                  <a:srgbClr val="3333B2"/>
                </a:solidFill>
                <a:latin typeface="Calibri"/>
                <a:cs typeface="Calibri"/>
              </a:rPr>
              <a:t> </a:t>
            </a:r>
            <a:r>
              <a:rPr sz="1400" spc="65" dirty="0">
                <a:solidFill>
                  <a:srgbClr val="3333B2"/>
                </a:solidFill>
                <a:latin typeface="Calibri"/>
                <a:cs typeface="Calibri"/>
              </a:rPr>
              <a:t>Quality</a:t>
            </a:r>
            <a:r>
              <a:rPr sz="1400" spc="160" dirty="0">
                <a:solidFill>
                  <a:srgbClr val="3333B2"/>
                </a:solidFill>
                <a:latin typeface="Calibri"/>
                <a:cs typeface="Calibri"/>
              </a:rPr>
              <a:t> </a:t>
            </a:r>
            <a:r>
              <a:rPr sz="1400" spc="45" dirty="0">
                <a:solidFill>
                  <a:srgbClr val="3333B2"/>
                </a:solidFill>
                <a:latin typeface="Calibri"/>
                <a:cs typeface="Calibri"/>
              </a:rPr>
              <a:t>Education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7865" y="2127605"/>
            <a:ext cx="4412615" cy="225425"/>
          </a:xfrm>
          <a:custGeom>
            <a:avLst/>
            <a:gdLst/>
            <a:ahLst/>
            <a:cxnLst/>
            <a:rect l="l" t="t" r="r" b="b"/>
            <a:pathLst>
              <a:path w="4412615" h="225425">
                <a:moveTo>
                  <a:pt x="436152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25360"/>
                </a:lnTo>
                <a:lnTo>
                  <a:pt x="4412325" y="225360"/>
                </a:lnTo>
                <a:lnTo>
                  <a:pt x="4412325" y="50800"/>
                </a:lnTo>
                <a:lnTo>
                  <a:pt x="4408317" y="31075"/>
                </a:lnTo>
                <a:lnTo>
                  <a:pt x="4397403" y="14922"/>
                </a:lnTo>
                <a:lnTo>
                  <a:pt x="4381250" y="4008"/>
                </a:lnTo>
                <a:lnTo>
                  <a:pt x="4361525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48666" y="2155588"/>
            <a:ext cx="3775710" cy="182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55"/>
              </a:lnSpc>
            </a:pPr>
            <a:r>
              <a:rPr sz="1400" spc="180" dirty="0">
                <a:solidFill>
                  <a:srgbClr val="3333B2"/>
                </a:solidFill>
                <a:latin typeface="Calibri"/>
                <a:cs typeface="Calibri"/>
              </a:rPr>
              <a:t>SDG</a:t>
            </a:r>
            <a:r>
              <a:rPr sz="1400" spc="315" dirty="0">
                <a:solidFill>
                  <a:srgbClr val="3333B2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B2"/>
                </a:solidFill>
                <a:latin typeface="Calibri"/>
                <a:cs typeface="Calibri"/>
              </a:rPr>
              <a:t>9:</a:t>
            </a:r>
            <a:r>
              <a:rPr sz="1400" spc="105" dirty="0">
                <a:solidFill>
                  <a:srgbClr val="3333B2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3333B2"/>
                </a:solidFill>
                <a:latin typeface="Calibri"/>
                <a:cs typeface="Calibri"/>
              </a:rPr>
              <a:t>Industry,</a:t>
            </a:r>
            <a:r>
              <a:rPr sz="1400" spc="320" dirty="0">
                <a:solidFill>
                  <a:srgbClr val="3333B2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B2"/>
                </a:solidFill>
                <a:latin typeface="Calibri"/>
                <a:cs typeface="Calibri"/>
              </a:rPr>
              <a:t>Innovation,</a:t>
            </a:r>
            <a:r>
              <a:rPr sz="1400" spc="315" dirty="0">
                <a:solidFill>
                  <a:srgbClr val="3333B2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B2"/>
                </a:solidFill>
                <a:latin typeface="Calibri"/>
                <a:cs typeface="Calibri"/>
              </a:rPr>
              <a:t>and</a:t>
            </a:r>
            <a:r>
              <a:rPr sz="1400" spc="320" dirty="0">
                <a:solidFill>
                  <a:srgbClr val="3333B2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33B2"/>
                </a:solidFill>
                <a:latin typeface="Calibri"/>
                <a:cs typeface="Calibri"/>
              </a:rPr>
              <a:t>Infrastructure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71450" y="1186812"/>
            <a:ext cx="4389831" cy="19221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149225">
              <a:lnSpc>
                <a:spcPct val="100000"/>
              </a:lnSpc>
              <a:spcBef>
                <a:spcPts val="95"/>
              </a:spcBef>
            </a:pPr>
            <a:r>
              <a:rPr sz="1200" spc="65" dirty="0">
                <a:latin typeface="Calibri"/>
                <a:cs typeface="Calibri"/>
              </a:rPr>
              <a:t>The</a:t>
            </a:r>
            <a:r>
              <a:rPr sz="1200" spc="204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project</a:t>
            </a:r>
            <a:r>
              <a:rPr sz="1200" spc="204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enhances</a:t>
            </a:r>
            <a:r>
              <a:rPr sz="1200" spc="2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digital</a:t>
            </a:r>
            <a:r>
              <a:rPr sz="1200" spc="204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literacy</a:t>
            </a:r>
            <a:r>
              <a:rPr sz="1200" spc="2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by</a:t>
            </a:r>
            <a:r>
              <a:rPr sz="1200" spc="2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giving</a:t>
            </a:r>
            <a:r>
              <a:rPr sz="1200" spc="204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students</a:t>
            </a:r>
            <a:r>
              <a:rPr sz="1200" spc="204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real-</a:t>
            </a:r>
            <a:r>
              <a:rPr sz="1200" spc="-20" dirty="0">
                <a:latin typeface="Calibri"/>
                <a:cs typeface="Calibri"/>
              </a:rPr>
              <a:t>time </a:t>
            </a:r>
            <a:r>
              <a:rPr sz="1200" dirty="0">
                <a:latin typeface="Calibri"/>
                <a:cs typeface="Calibri"/>
              </a:rPr>
              <a:t>coding</a:t>
            </a:r>
            <a:r>
              <a:rPr sz="1200" spc="19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practice,</a:t>
            </a:r>
            <a:r>
              <a:rPr sz="1200" spc="200" dirty="0">
                <a:latin typeface="Calibri"/>
                <a:cs typeface="Calibri"/>
              </a:rPr>
              <a:t> </a:t>
            </a:r>
            <a:r>
              <a:rPr sz="1200" spc="145" dirty="0">
                <a:latin typeface="Calibri"/>
                <a:cs typeface="Calibri"/>
              </a:rPr>
              <a:t>AI</a:t>
            </a:r>
            <a:r>
              <a:rPr sz="1200" spc="19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chatbot</a:t>
            </a:r>
            <a:r>
              <a:rPr sz="1200" spc="20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support,</a:t>
            </a:r>
            <a:r>
              <a:rPr sz="1200" spc="20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19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collaborative</a:t>
            </a:r>
            <a:r>
              <a:rPr sz="1200" spc="20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tools.</a:t>
            </a:r>
            <a:r>
              <a:rPr sz="1200" spc="355" dirty="0">
                <a:latin typeface="Calibri"/>
                <a:cs typeface="Calibri"/>
              </a:rPr>
              <a:t> </a:t>
            </a:r>
            <a:r>
              <a:rPr sz="1200" spc="60" dirty="0">
                <a:latin typeface="Calibri"/>
                <a:cs typeface="Calibri"/>
              </a:rPr>
              <a:t>It </a:t>
            </a:r>
            <a:r>
              <a:rPr sz="1200" dirty="0">
                <a:latin typeface="Calibri"/>
                <a:cs typeface="Calibri"/>
              </a:rPr>
              <a:t>directly</a:t>
            </a:r>
            <a:r>
              <a:rPr sz="1200" spc="20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contributes</a:t>
            </a:r>
            <a:r>
              <a:rPr sz="1200" spc="20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210" dirty="0">
                <a:latin typeface="Calibri"/>
                <a:cs typeface="Calibri"/>
              </a:rPr>
              <a:t> </a:t>
            </a:r>
            <a:r>
              <a:rPr sz="1200" b="1" spc="100" dirty="0">
                <a:latin typeface="Calibri"/>
                <a:cs typeface="Calibri"/>
              </a:rPr>
              <a:t>Target</a:t>
            </a:r>
            <a:r>
              <a:rPr sz="1200" b="1" spc="28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4.4</a:t>
            </a:r>
            <a:r>
              <a:rPr sz="1200" dirty="0">
                <a:latin typeface="Calibri"/>
                <a:cs typeface="Calibri"/>
              </a:rPr>
              <a:t>:</a:t>
            </a:r>
            <a:r>
              <a:rPr sz="1200" spc="36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increasing</a:t>
            </a:r>
            <a:r>
              <a:rPr sz="1200" spc="204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technical</a:t>
            </a:r>
            <a:r>
              <a:rPr sz="1200" spc="200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and </a:t>
            </a:r>
            <a:r>
              <a:rPr sz="1200" dirty="0">
                <a:latin typeface="Calibri"/>
                <a:cs typeface="Calibri"/>
              </a:rPr>
              <a:t>vocational</a:t>
            </a:r>
            <a:r>
              <a:rPr sz="1200" spc="17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skills</a:t>
            </a:r>
            <a:r>
              <a:rPr sz="1200" spc="17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relevant</a:t>
            </a:r>
            <a:r>
              <a:rPr sz="1200" spc="17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for</a:t>
            </a:r>
            <a:r>
              <a:rPr sz="1200" spc="17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future</a:t>
            </a:r>
            <a:r>
              <a:rPr sz="1200" spc="17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jobs.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75"/>
              </a:spcBef>
            </a:pPr>
            <a:endParaRPr sz="1200">
              <a:latin typeface="Calibri"/>
              <a:cs typeface="Calibri"/>
            </a:endParaRPr>
          </a:p>
          <a:p>
            <a:pPr marR="280670">
              <a:lnSpc>
                <a:spcPct val="100000"/>
              </a:lnSpc>
            </a:pPr>
            <a:r>
              <a:rPr sz="1200" spc="120" dirty="0">
                <a:latin typeface="Calibri"/>
                <a:cs typeface="Calibri"/>
              </a:rPr>
              <a:t>By</a:t>
            </a:r>
            <a:r>
              <a:rPr sz="1200" spc="18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integrating</a:t>
            </a:r>
            <a:r>
              <a:rPr sz="1200" spc="185" dirty="0">
                <a:latin typeface="Calibri"/>
                <a:cs typeface="Calibri"/>
              </a:rPr>
              <a:t> </a:t>
            </a:r>
            <a:r>
              <a:rPr sz="1200" spc="145" dirty="0">
                <a:latin typeface="Calibri"/>
                <a:cs typeface="Calibri"/>
              </a:rPr>
              <a:t>AI</a:t>
            </a:r>
            <a:r>
              <a:rPr sz="1200" spc="18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18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machine</a:t>
            </a:r>
            <a:r>
              <a:rPr sz="1200" spc="18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learning</a:t>
            </a:r>
            <a:r>
              <a:rPr sz="1200" spc="18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with</a:t>
            </a:r>
            <a:r>
              <a:rPr sz="1200" spc="19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education,</a:t>
            </a:r>
            <a:r>
              <a:rPr sz="1200" spc="185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the </a:t>
            </a:r>
            <a:r>
              <a:rPr sz="1200" dirty="0">
                <a:latin typeface="Calibri"/>
                <a:cs typeface="Calibri"/>
              </a:rPr>
              <a:t>project</a:t>
            </a:r>
            <a:r>
              <a:rPr sz="1200" spc="18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fosters</a:t>
            </a:r>
            <a:r>
              <a:rPr sz="1200" spc="17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innovation</a:t>
            </a:r>
            <a:r>
              <a:rPr sz="1200" spc="18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17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scalable</a:t>
            </a:r>
            <a:r>
              <a:rPr sz="1200" spc="18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infrastructure</a:t>
            </a:r>
            <a:r>
              <a:rPr sz="1200" spc="17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for</a:t>
            </a:r>
            <a:r>
              <a:rPr sz="1200" spc="18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digital </a:t>
            </a:r>
            <a:r>
              <a:rPr sz="1200" dirty="0">
                <a:latin typeface="Calibri"/>
                <a:cs typeface="Calibri"/>
              </a:rPr>
              <a:t>learning.</a:t>
            </a:r>
            <a:r>
              <a:rPr sz="1200" spc="355" dirty="0">
                <a:latin typeface="Calibri"/>
                <a:cs typeface="Calibri"/>
              </a:rPr>
              <a:t> </a:t>
            </a:r>
            <a:r>
              <a:rPr sz="1200" spc="75" dirty="0">
                <a:latin typeface="Calibri"/>
                <a:cs typeface="Calibri"/>
              </a:rPr>
              <a:t>This</a:t>
            </a:r>
            <a:r>
              <a:rPr sz="1200" spc="19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supports</a:t>
            </a:r>
            <a:r>
              <a:rPr sz="1200" spc="195" dirty="0">
                <a:latin typeface="Calibri"/>
                <a:cs typeface="Calibri"/>
              </a:rPr>
              <a:t> </a:t>
            </a:r>
            <a:r>
              <a:rPr sz="1200" b="1" spc="100" dirty="0">
                <a:latin typeface="Calibri"/>
                <a:cs typeface="Calibri"/>
              </a:rPr>
              <a:t>Target</a:t>
            </a:r>
            <a:r>
              <a:rPr sz="1200" b="1" spc="27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9.5</a:t>
            </a:r>
            <a:r>
              <a:rPr sz="1200" dirty="0">
                <a:latin typeface="Calibri"/>
                <a:cs typeface="Calibri"/>
              </a:rPr>
              <a:t>:</a:t>
            </a:r>
            <a:r>
              <a:rPr sz="1200" spc="36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strengthening</a:t>
            </a:r>
            <a:r>
              <a:rPr sz="1200" spc="19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scientific </a:t>
            </a:r>
            <a:r>
              <a:rPr sz="1200" dirty="0">
                <a:latin typeface="Calibri"/>
                <a:cs typeface="Calibri"/>
              </a:rPr>
              <a:t>research</a:t>
            </a:r>
            <a:r>
              <a:rPr sz="1200" spc="1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1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advancing</a:t>
            </a:r>
            <a:r>
              <a:rPr sz="1200" spc="1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technology</a:t>
            </a:r>
            <a:r>
              <a:rPr sz="1200" spc="14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development.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0" y="3349777"/>
            <a:ext cx="4608195" cy="106680"/>
            <a:chOff x="0" y="3349777"/>
            <a:chExt cx="4608195" cy="106680"/>
          </a:xfrm>
        </p:grpSpPr>
        <p:sp>
          <p:nvSpPr>
            <p:cNvPr id="17" name="object 17"/>
            <p:cNvSpPr/>
            <p:nvPr/>
          </p:nvSpPr>
          <p:spPr>
            <a:xfrm>
              <a:off x="0" y="3349777"/>
              <a:ext cx="1536065" cy="106680"/>
            </a:xfrm>
            <a:custGeom>
              <a:avLst/>
              <a:gdLst/>
              <a:ahLst/>
              <a:cxnLst/>
              <a:rect l="l" t="t" r="r" b="b"/>
              <a:pathLst>
                <a:path w="1536065" h="106679">
                  <a:moveTo>
                    <a:pt x="1535976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535976" y="10622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535976" y="3349777"/>
              <a:ext cx="1536065" cy="106680"/>
            </a:xfrm>
            <a:custGeom>
              <a:avLst/>
              <a:gdLst/>
              <a:ahLst/>
              <a:cxnLst/>
              <a:rect l="l" t="t" r="r" b="b"/>
              <a:pathLst>
                <a:path w="1536064" h="106679">
                  <a:moveTo>
                    <a:pt x="1535976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535976" y="10622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071952" y="3349777"/>
              <a:ext cx="1536065" cy="106680"/>
            </a:xfrm>
            <a:custGeom>
              <a:avLst/>
              <a:gdLst/>
              <a:ahLst/>
              <a:cxnLst/>
              <a:rect l="l" t="t" r="r" b="b"/>
              <a:pathLst>
                <a:path w="1536064" h="106679">
                  <a:moveTo>
                    <a:pt x="1535976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535976" y="10622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pc="110" dirty="0"/>
              <a:t>(CSIT(21-</a:t>
            </a:r>
            <a:r>
              <a:rPr spc="120" dirty="0"/>
              <a:t>25/CSIT/27)</a:t>
            </a:r>
            <a:r>
              <a:rPr spc="145" dirty="0"/>
              <a:t> </a:t>
            </a:r>
            <a:r>
              <a:rPr spc="45" dirty="0"/>
              <a:t>)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spc="60" dirty="0"/>
              <a:pPr marL="38100">
                <a:lnSpc>
                  <a:spcPts val="670"/>
                </a:lnSpc>
              </a:pPr>
              <a:t>18</a:t>
            </a:fld>
            <a:r>
              <a:rPr spc="-15" dirty="0"/>
              <a:t> </a:t>
            </a:r>
            <a:r>
              <a:rPr spc="125" dirty="0"/>
              <a:t>/</a:t>
            </a:r>
            <a:r>
              <a:rPr spc="-10" dirty="0"/>
              <a:t> </a:t>
            </a:r>
            <a:r>
              <a:rPr spc="35" dirty="0"/>
              <a:t>26</a:t>
            </a:r>
          </a:p>
        </p:txBody>
      </p:sp>
    </p:spTree>
  </p:cSld>
  <p:clrMapOvr>
    <a:masterClrMapping/>
  </p:clrMapOvr>
  <p:transition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165558"/>
            <a:ext cx="3926204" cy="5822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7400"/>
              </a:lnSpc>
              <a:spcBef>
                <a:spcPts val="95"/>
              </a:spcBef>
            </a:pPr>
            <a:r>
              <a:rPr dirty="0"/>
              <a:t>Sustainable</a:t>
            </a:r>
            <a:r>
              <a:rPr spc="55" dirty="0"/>
              <a:t> </a:t>
            </a:r>
            <a:r>
              <a:rPr spc="-30" dirty="0"/>
              <a:t>Development</a:t>
            </a:r>
            <a:r>
              <a:rPr spc="60" dirty="0"/>
              <a:t> </a:t>
            </a:r>
            <a:r>
              <a:rPr dirty="0"/>
              <a:t>Goals</a:t>
            </a:r>
            <a:r>
              <a:rPr spc="55" dirty="0"/>
              <a:t> </a:t>
            </a:r>
            <a:r>
              <a:rPr dirty="0"/>
              <a:t>Achieved</a:t>
            </a:r>
            <a:r>
              <a:rPr spc="60" dirty="0"/>
              <a:t> </a:t>
            </a:r>
            <a:r>
              <a:rPr spc="-25" dirty="0"/>
              <a:t>by </a:t>
            </a:r>
            <a:r>
              <a:rPr spc="-10" dirty="0"/>
              <a:t>Project</a:t>
            </a:r>
          </a:p>
        </p:txBody>
      </p:sp>
      <p:sp>
        <p:nvSpPr>
          <p:cNvPr id="3" name="object 3"/>
          <p:cNvSpPr/>
          <p:nvPr/>
        </p:nvSpPr>
        <p:spPr>
          <a:xfrm>
            <a:off x="97865" y="963612"/>
            <a:ext cx="4412615" cy="225425"/>
          </a:xfrm>
          <a:custGeom>
            <a:avLst/>
            <a:gdLst/>
            <a:ahLst/>
            <a:cxnLst/>
            <a:rect l="l" t="t" r="r" b="b"/>
            <a:pathLst>
              <a:path w="4412615" h="225425">
                <a:moveTo>
                  <a:pt x="436152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25360"/>
                </a:lnTo>
                <a:lnTo>
                  <a:pt x="4412325" y="225360"/>
                </a:lnTo>
                <a:lnTo>
                  <a:pt x="4412325" y="50800"/>
                </a:lnTo>
                <a:lnTo>
                  <a:pt x="4408317" y="31075"/>
                </a:lnTo>
                <a:lnTo>
                  <a:pt x="4397403" y="14922"/>
                </a:lnTo>
                <a:lnTo>
                  <a:pt x="4381250" y="4008"/>
                </a:lnTo>
                <a:lnTo>
                  <a:pt x="4361525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48666" y="991595"/>
            <a:ext cx="2360930" cy="182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55"/>
              </a:lnSpc>
            </a:pPr>
            <a:r>
              <a:rPr sz="1400" spc="180" dirty="0">
                <a:solidFill>
                  <a:srgbClr val="3333B2"/>
                </a:solidFill>
                <a:latin typeface="Calibri"/>
                <a:cs typeface="Calibri"/>
              </a:rPr>
              <a:t>SDG</a:t>
            </a:r>
            <a:r>
              <a:rPr sz="1400" spc="220" dirty="0">
                <a:solidFill>
                  <a:srgbClr val="3333B2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B2"/>
                </a:solidFill>
                <a:latin typeface="Calibri"/>
                <a:cs typeface="Calibri"/>
              </a:rPr>
              <a:t>10:</a:t>
            </a:r>
            <a:r>
              <a:rPr sz="1400" spc="395" dirty="0">
                <a:solidFill>
                  <a:srgbClr val="3333B2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B2"/>
                </a:solidFill>
                <a:latin typeface="Calibri"/>
                <a:cs typeface="Calibri"/>
              </a:rPr>
              <a:t>Reduced</a:t>
            </a:r>
            <a:r>
              <a:rPr sz="1400" spc="220" dirty="0">
                <a:solidFill>
                  <a:srgbClr val="3333B2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33B2"/>
                </a:solidFill>
                <a:latin typeface="Calibri"/>
                <a:cs typeface="Calibri"/>
              </a:rPr>
              <a:t>Inequalities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7865" y="2127605"/>
            <a:ext cx="4412615" cy="225425"/>
          </a:xfrm>
          <a:custGeom>
            <a:avLst/>
            <a:gdLst/>
            <a:ahLst/>
            <a:cxnLst/>
            <a:rect l="l" t="t" r="r" b="b"/>
            <a:pathLst>
              <a:path w="4412615" h="225425">
                <a:moveTo>
                  <a:pt x="436152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25360"/>
                </a:lnTo>
                <a:lnTo>
                  <a:pt x="4412325" y="225360"/>
                </a:lnTo>
                <a:lnTo>
                  <a:pt x="4412325" y="50800"/>
                </a:lnTo>
                <a:lnTo>
                  <a:pt x="4408317" y="31075"/>
                </a:lnTo>
                <a:lnTo>
                  <a:pt x="4397403" y="14922"/>
                </a:lnTo>
                <a:lnTo>
                  <a:pt x="4381250" y="4008"/>
                </a:lnTo>
                <a:lnTo>
                  <a:pt x="4361525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48666" y="2155588"/>
            <a:ext cx="2799080" cy="182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55"/>
              </a:lnSpc>
            </a:pPr>
            <a:r>
              <a:rPr sz="1400" spc="180" dirty="0">
                <a:solidFill>
                  <a:srgbClr val="3333B2"/>
                </a:solidFill>
                <a:latin typeface="Calibri"/>
                <a:cs typeface="Calibri"/>
              </a:rPr>
              <a:t>SDG</a:t>
            </a:r>
            <a:r>
              <a:rPr sz="1400" spc="204" dirty="0">
                <a:solidFill>
                  <a:srgbClr val="3333B2"/>
                </a:solidFill>
                <a:latin typeface="Calibri"/>
                <a:cs typeface="Calibri"/>
              </a:rPr>
              <a:t> </a:t>
            </a:r>
            <a:r>
              <a:rPr sz="1400" spc="10" dirty="0">
                <a:solidFill>
                  <a:srgbClr val="3333B2"/>
                </a:solidFill>
                <a:latin typeface="Calibri"/>
                <a:cs typeface="Calibri"/>
              </a:rPr>
              <a:t>17:</a:t>
            </a:r>
            <a:r>
              <a:rPr sz="1400" spc="380" dirty="0">
                <a:solidFill>
                  <a:srgbClr val="3333B2"/>
                </a:solidFill>
                <a:latin typeface="Calibri"/>
                <a:cs typeface="Calibri"/>
              </a:rPr>
              <a:t> </a:t>
            </a:r>
            <a:r>
              <a:rPr sz="1400" spc="10" dirty="0">
                <a:solidFill>
                  <a:srgbClr val="3333B2"/>
                </a:solidFill>
                <a:latin typeface="Calibri"/>
                <a:cs typeface="Calibri"/>
              </a:rPr>
              <a:t>Partnerships</a:t>
            </a:r>
            <a:r>
              <a:rPr sz="1400" spc="210" dirty="0">
                <a:solidFill>
                  <a:srgbClr val="3333B2"/>
                </a:solidFill>
                <a:latin typeface="Calibri"/>
                <a:cs typeface="Calibri"/>
              </a:rPr>
              <a:t> </a:t>
            </a:r>
            <a:r>
              <a:rPr sz="1400" spc="10" dirty="0">
                <a:solidFill>
                  <a:srgbClr val="3333B2"/>
                </a:solidFill>
                <a:latin typeface="Calibri"/>
                <a:cs typeface="Calibri"/>
              </a:rPr>
              <a:t>for</a:t>
            </a:r>
            <a:r>
              <a:rPr sz="1400" spc="210" dirty="0">
                <a:solidFill>
                  <a:srgbClr val="3333B2"/>
                </a:solidFill>
                <a:latin typeface="Calibri"/>
                <a:cs typeface="Calibri"/>
              </a:rPr>
              <a:t> </a:t>
            </a:r>
            <a:r>
              <a:rPr sz="1400" spc="10" dirty="0">
                <a:solidFill>
                  <a:srgbClr val="3333B2"/>
                </a:solidFill>
                <a:latin typeface="Calibri"/>
                <a:cs typeface="Calibri"/>
              </a:rPr>
              <a:t>the</a:t>
            </a:r>
            <a:r>
              <a:rPr sz="1400" spc="210" dirty="0">
                <a:solidFill>
                  <a:srgbClr val="3333B2"/>
                </a:solidFill>
                <a:latin typeface="Calibri"/>
                <a:cs typeface="Calibri"/>
              </a:rPr>
              <a:t> </a:t>
            </a:r>
            <a:r>
              <a:rPr sz="1400" spc="40" dirty="0">
                <a:solidFill>
                  <a:srgbClr val="3333B2"/>
                </a:solidFill>
                <a:latin typeface="Calibri"/>
                <a:cs typeface="Calibri"/>
              </a:rPr>
              <a:t>Goals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71450" y="1186812"/>
            <a:ext cx="4389831" cy="192296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219710">
              <a:lnSpc>
                <a:spcPct val="100000"/>
              </a:lnSpc>
              <a:spcBef>
                <a:spcPts val="95"/>
              </a:spcBef>
            </a:pPr>
            <a:r>
              <a:rPr sz="1200" spc="65" dirty="0">
                <a:latin typeface="Calibri"/>
                <a:cs typeface="Calibri"/>
              </a:rPr>
              <a:t>The</a:t>
            </a:r>
            <a:r>
              <a:rPr sz="1200" spc="1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platform</a:t>
            </a:r>
            <a:r>
              <a:rPr sz="1200" spc="1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reduces</a:t>
            </a:r>
            <a:r>
              <a:rPr sz="1200" spc="1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education</a:t>
            </a:r>
            <a:r>
              <a:rPr sz="1200" spc="1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gaps</a:t>
            </a:r>
            <a:r>
              <a:rPr sz="1200" spc="1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by</a:t>
            </a:r>
            <a:r>
              <a:rPr sz="1200" spc="1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offering</a:t>
            </a:r>
            <a:r>
              <a:rPr sz="1200" spc="14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affordable, </a:t>
            </a:r>
            <a:r>
              <a:rPr sz="1200" spc="-20" dirty="0">
                <a:latin typeface="Calibri"/>
                <a:cs typeface="Calibri"/>
              </a:rPr>
              <a:t>browser-</a:t>
            </a:r>
            <a:r>
              <a:rPr sz="1200" dirty="0">
                <a:latin typeface="Calibri"/>
                <a:cs typeface="Calibri"/>
              </a:rPr>
              <a:t>based</a:t>
            </a:r>
            <a:r>
              <a:rPr sz="1200" spc="114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coding</a:t>
            </a:r>
            <a:r>
              <a:rPr sz="1200" spc="1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access</a:t>
            </a:r>
            <a:r>
              <a:rPr sz="1200" spc="1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1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underserved</a:t>
            </a:r>
            <a:r>
              <a:rPr sz="1200" spc="1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regions</a:t>
            </a:r>
            <a:r>
              <a:rPr sz="1200" spc="1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with</a:t>
            </a:r>
            <a:r>
              <a:rPr sz="1200" spc="1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limited </a:t>
            </a:r>
            <a:r>
              <a:rPr sz="1200" dirty="0">
                <a:latin typeface="Calibri"/>
                <a:cs typeface="Calibri"/>
              </a:rPr>
              <a:t>infrastructure.</a:t>
            </a:r>
            <a:r>
              <a:rPr sz="1200" spc="330" dirty="0">
                <a:latin typeface="Calibri"/>
                <a:cs typeface="Calibri"/>
              </a:rPr>
              <a:t> </a:t>
            </a:r>
            <a:r>
              <a:rPr sz="1200" spc="85" dirty="0">
                <a:latin typeface="Calibri"/>
                <a:cs typeface="Calibri"/>
              </a:rPr>
              <a:t>It</a:t>
            </a:r>
            <a:r>
              <a:rPr sz="1200" spc="18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addresses</a:t>
            </a:r>
            <a:r>
              <a:rPr sz="1200" spc="175" dirty="0">
                <a:latin typeface="Calibri"/>
                <a:cs typeface="Calibri"/>
              </a:rPr>
              <a:t> </a:t>
            </a:r>
            <a:r>
              <a:rPr sz="1200" b="1" spc="100" dirty="0">
                <a:latin typeface="Calibri"/>
                <a:cs typeface="Calibri"/>
              </a:rPr>
              <a:t>Target</a:t>
            </a:r>
            <a:r>
              <a:rPr sz="1200" b="1" spc="25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10.2</a:t>
            </a:r>
            <a:r>
              <a:rPr sz="1200" dirty="0">
                <a:latin typeface="Calibri"/>
                <a:cs typeface="Calibri"/>
              </a:rPr>
              <a:t>:</a:t>
            </a:r>
            <a:r>
              <a:rPr sz="1200" spc="33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empowering</a:t>
            </a:r>
            <a:r>
              <a:rPr sz="1200" spc="180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and </a:t>
            </a:r>
            <a:r>
              <a:rPr sz="1200" dirty="0">
                <a:latin typeface="Calibri"/>
                <a:cs typeface="Calibri"/>
              </a:rPr>
              <a:t>promoting</a:t>
            </a:r>
            <a:r>
              <a:rPr sz="1200" spc="18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inclusion</a:t>
            </a:r>
            <a:r>
              <a:rPr sz="1200" spc="18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of</a:t>
            </a:r>
            <a:r>
              <a:rPr sz="1200" spc="18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all</a:t>
            </a:r>
            <a:r>
              <a:rPr sz="1200" spc="18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learners.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75"/>
              </a:spcBef>
            </a:pPr>
            <a:endParaRPr sz="1200">
              <a:latin typeface="Calibri"/>
              <a:cs typeface="Calibri"/>
            </a:endParaRPr>
          </a:p>
          <a:p>
            <a:pPr marR="481330">
              <a:lnSpc>
                <a:spcPct val="100000"/>
              </a:lnSpc>
            </a:pPr>
            <a:r>
              <a:rPr sz="1200" spc="65" dirty="0">
                <a:latin typeface="Calibri"/>
                <a:cs typeface="Calibri"/>
              </a:rPr>
              <a:t>The</a:t>
            </a:r>
            <a:r>
              <a:rPr sz="1200" spc="17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project</a:t>
            </a:r>
            <a:r>
              <a:rPr sz="1200" spc="17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builds</a:t>
            </a:r>
            <a:r>
              <a:rPr sz="1200" spc="17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collaboration</a:t>
            </a:r>
            <a:r>
              <a:rPr sz="1200" spc="180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between</a:t>
            </a:r>
            <a:r>
              <a:rPr sz="1200" spc="18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students,</a:t>
            </a:r>
            <a:r>
              <a:rPr sz="1200" spc="18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teachers, researchers,</a:t>
            </a:r>
            <a:r>
              <a:rPr sz="1200" spc="16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15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institutions</a:t>
            </a:r>
            <a:r>
              <a:rPr sz="1200" spc="16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16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promote</a:t>
            </a:r>
            <a:r>
              <a:rPr sz="1200" spc="16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shared</a:t>
            </a:r>
            <a:r>
              <a:rPr sz="1200" spc="16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learning</a:t>
            </a:r>
            <a:r>
              <a:rPr sz="1200" spc="170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and </a:t>
            </a:r>
            <a:r>
              <a:rPr sz="1200" dirty="0">
                <a:latin typeface="Calibri"/>
                <a:cs typeface="Calibri"/>
              </a:rPr>
              <a:t>innovation.</a:t>
            </a:r>
            <a:r>
              <a:rPr sz="1200" spc="365" dirty="0">
                <a:latin typeface="Calibri"/>
                <a:cs typeface="Calibri"/>
              </a:rPr>
              <a:t> </a:t>
            </a:r>
            <a:r>
              <a:rPr sz="1200" spc="75" dirty="0">
                <a:latin typeface="Calibri"/>
                <a:cs typeface="Calibri"/>
              </a:rPr>
              <a:t>This</a:t>
            </a:r>
            <a:r>
              <a:rPr sz="1200" spc="20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fulfills</a:t>
            </a:r>
            <a:r>
              <a:rPr sz="1200" spc="204" dirty="0">
                <a:latin typeface="Calibri"/>
                <a:cs typeface="Calibri"/>
              </a:rPr>
              <a:t> </a:t>
            </a:r>
            <a:r>
              <a:rPr sz="1200" b="1" spc="100" dirty="0">
                <a:latin typeface="Calibri"/>
                <a:cs typeface="Calibri"/>
              </a:rPr>
              <a:t>Target</a:t>
            </a:r>
            <a:r>
              <a:rPr sz="1200" b="1" spc="28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17.6</a:t>
            </a:r>
            <a:r>
              <a:rPr sz="1200" dirty="0">
                <a:latin typeface="Calibri"/>
                <a:cs typeface="Calibri"/>
              </a:rPr>
              <a:t>:</a:t>
            </a:r>
            <a:r>
              <a:rPr sz="1200" spc="37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enhancing</a:t>
            </a:r>
            <a:r>
              <a:rPr sz="1200" spc="204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global </a:t>
            </a:r>
            <a:r>
              <a:rPr sz="1200" dirty="0">
                <a:latin typeface="Calibri"/>
                <a:cs typeface="Calibri"/>
              </a:rPr>
              <a:t>partnerships</a:t>
            </a:r>
            <a:r>
              <a:rPr sz="1200" spc="1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for</a:t>
            </a:r>
            <a:r>
              <a:rPr sz="1200" spc="1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technology</a:t>
            </a:r>
            <a:r>
              <a:rPr sz="1200" spc="1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1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knowledge</a:t>
            </a:r>
            <a:r>
              <a:rPr sz="1200" spc="13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exchange.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0" y="3349777"/>
            <a:ext cx="4608195" cy="106680"/>
            <a:chOff x="0" y="3349777"/>
            <a:chExt cx="4608195" cy="106680"/>
          </a:xfrm>
        </p:grpSpPr>
        <p:sp>
          <p:nvSpPr>
            <p:cNvPr id="17" name="object 17"/>
            <p:cNvSpPr/>
            <p:nvPr/>
          </p:nvSpPr>
          <p:spPr>
            <a:xfrm>
              <a:off x="0" y="3349777"/>
              <a:ext cx="1536065" cy="106680"/>
            </a:xfrm>
            <a:custGeom>
              <a:avLst/>
              <a:gdLst/>
              <a:ahLst/>
              <a:cxnLst/>
              <a:rect l="l" t="t" r="r" b="b"/>
              <a:pathLst>
                <a:path w="1536065" h="106679">
                  <a:moveTo>
                    <a:pt x="1535976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535976" y="10622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535976" y="3349777"/>
              <a:ext cx="1536065" cy="106680"/>
            </a:xfrm>
            <a:custGeom>
              <a:avLst/>
              <a:gdLst/>
              <a:ahLst/>
              <a:cxnLst/>
              <a:rect l="l" t="t" r="r" b="b"/>
              <a:pathLst>
                <a:path w="1536064" h="106679">
                  <a:moveTo>
                    <a:pt x="1535976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535976" y="10622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071952" y="3349777"/>
              <a:ext cx="1536065" cy="106680"/>
            </a:xfrm>
            <a:custGeom>
              <a:avLst/>
              <a:gdLst/>
              <a:ahLst/>
              <a:cxnLst/>
              <a:rect l="l" t="t" r="r" b="b"/>
              <a:pathLst>
                <a:path w="1536064" h="106679">
                  <a:moveTo>
                    <a:pt x="1535976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535976" y="10622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pc="110" dirty="0"/>
              <a:t>(CSIT(21-</a:t>
            </a:r>
            <a:r>
              <a:rPr spc="120" dirty="0"/>
              <a:t>25/CSIT/27)</a:t>
            </a:r>
            <a:r>
              <a:rPr spc="145" dirty="0"/>
              <a:t> </a:t>
            </a:r>
            <a:r>
              <a:rPr spc="45" dirty="0"/>
              <a:t>)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spc="60" dirty="0"/>
              <a:pPr marL="38100">
                <a:lnSpc>
                  <a:spcPts val="670"/>
                </a:lnSpc>
              </a:pPr>
              <a:t>19</a:t>
            </a:fld>
            <a:r>
              <a:rPr spc="-15" dirty="0"/>
              <a:t> </a:t>
            </a:r>
            <a:r>
              <a:rPr spc="125" dirty="0"/>
              <a:t>/</a:t>
            </a:r>
            <a:r>
              <a:rPr spc="-10" dirty="0"/>
              <a:t> </a:t>
            </a:r>
            <a:r>
              <a:rPr spc="35" dirty="0"/>
              <a:t>26</a:t>
            </a:r>
          </a:p>
        </p:txBody>
      </p:sp>
    </p:spTree>
  </p:cSld>
  <p:clrMapOvr>
    <a:masterClrMapping/>
  </p:clrMapOvr>
  <p:transition>
    <p:cu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Result</a:t>
            </a:r>
            <a:r>
              <a:rPr spc="150" dirty="0"/>
              <a:t> </a:t>
            </a:r>
            <a:r>
              <a:rPr dirty="0"/>
              <a:t>and</a:t>
            </a:r>
            <a:r>
              <a:rPr spc="150" dirty="0"/>
              <a:t> </a:t>
            </a:r>
            <a:r>
              <a:rPr spc="-10" dirty="0"/>
              <a:t>Discussion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5656" y="806856"/>
            <a:ext cx="121259" cy="12125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70395" y="797006"/>
            <a:ext cx="7239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1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33298" y="745436"/>
            <a:ext cx="4020820" cy="22637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200" b="1" spc="100" dirty="0">
                <a:latin typeface="Calibri"/>
                <a:cs typeface="Calibri"/>
              </a:rPr>
              <a:t>Realtime</a:t>
            </a:r>
            <a:r>
              <a:rPr sz="1200" b="1" spc="170" dirty="0">
                <a:latin typeface="Calibri"/>
                <a:cs typeface="Calibri"/>
              </a:rPr>
              <a:t> </a:t>
            </a:r>
            <a:r>
              <a:rPr sz="1200" b="1" spc="90" dirty="0">
                <a:latin typeface="Calibri"/>
                <a:cs typeface="Calibri"/>
              </a:rPr>
              <a:t>Collaborative</a:t>
            </a:r>
            <a:r>
              <a:rPr sz="1200" b="1" spc="175" dirty="0">
                <a:latin typeface="Calibri"/>
                <a:cs typeface="Calibri"/>
              </a:rPr>
              <a:t> </a:t>
            </a:r>
            <a:r>
              <a:rPr sz="1200" b="1" spc="120" dirty="0">
                <a:latin typeface="Calibri"/>
                <a:cs typeface="Calibri"/>
              </a:rPr>
              <a:t>Code</a:t>
            </a:r>
            <a:r>
              <a:rPr sz="1200" b="1" spc="170" dirty="0">
                <a:latin typeface="Calibri"/>
                <a:cs typeface="Calibri"/>
              </a:rPr>
              <a:t> </a:t>
            </a:r>
            <a:r>
              <a:rPr sz="1200" b="1" spc="100" dirty="0">
                <a:latin typeface="Calibri"/>
                <a:cs typeface="Calibri"/>
              </a:rPr>
              <a:t>Editor</a:t>
            </a:r>
            <a:r>
              <a:rPr sz="1200" spc="100" dirty="0">
                <a:latin typeface="Calibri"/>
                <a:cs typeface="Calibri"/>
              </a:rPr>
              <a:t>,</a:t>
            </a:r>
            <a:r>
              <a:rPr sz="1200" spc="114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has</a:t>
            </a:r>
            <a:r>
              <a:rPr sz="1200" spc="1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been</a:t>
            </a:r>
            <a:r>
              <a:rPr sz="1200" spc="11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designed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16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equip</a:t>
            </a:r>
            <a:r>
              <a:rPr sz="1200" spc="17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students</a:t>
            </a:r>
            <a:r>
              <a:rPr sz="1200" spc="16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with</a:t>
            </a:r>
            <a:r>
              <a:rPr sz="1200" spc="16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17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practical</a:t>
            </a:r>
            <a:r>
              <a:rPr sz="1200" spc="17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exposure</a:t>
            </a:r>
            <a:r>
              <a:rPr sz="1200" spc="16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</a:t>
            </a:r>
            <a:r>
              <a:rPr sz="1200" spc="16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real-</a:t>
            </a:r>
            <a:r>
              <a:rPr sz="1200" spc="-20" dirty="0">
                <a:latin typeface="Calibri"/>
                <a:cs typeface="Calibri"/>
              </a:rPr>
              <a:t>time </a:t>
            </a:r>
            <a:r>
              <a:rPr sz="1200" dirty="0">
                <a:latin typeface="Calibri"/>
                <a:cs typeface="Calibri"/>
              </a:rPr>
              <a:t>coding</a:t>
            </a:r>
            <a:r>
              <a:rPr sz="1200" spc="1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environment.</a:t>
            </a:r>
            <a:r>
              <a:rPr sz="1200" spc="275" dirty="0">
                <a:latin typeface="Calibri"/>
                <a:cs typeface="Calibri"/>
              </a:rPr>
              <a:t> </a:t>
            </a:r>
            <a:r>
              <a:rPr sz="1200" spc="85" dirty="0">
                <a:latin typeface="Calibri"/>
                <a:cs typeface="Calibri"/>
              </a:rPr>
              <a:t>It</a:t>
            </a:r>
            <a:r>
              <a:rPr sz="1200" spc="1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provide</a:t>
            </a:r>
            <a:r>
              <a:rPr sz="1200" spc="1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various</a:t>
            </a:r>
            <a:r>
              <a:rPr sz="1200" spc="1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features</a:t>
            </a:r>
            <a:r>
              <a:rPr sz="1200" spc="135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like </a:t>
            </a:r>
            <a:r>
              <a:rPr sz="1200" dirty="0">
                <a:latin typeface="Calibri"/>
                <a:cs typeface="Calibri"/>
              </a:rPr>
              <a:t>collaborative</a:t>
            </a:r>
            <a:r>
              <a:rPr sz="1200" spc="2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coding</a:t>
            </a:r>
            <a:r>
              <a:rPr sz="1200" spc="2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sessions,</a:t>
            </a:r>
            <a:r>
              <a:rPr sz="1200" spc="2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AI-assisted</a:t>
            </a:r>
            <a:r>
              <a:rPr sz="1200" spc="2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guidance,</a:t>
            </a:r>
            <a:r>
              <a:rPr sz="1200" spc="220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and </a:t>
            </a:r>
            <a:r>
              <a:rPr sz="1200" dirty="0">
                <a:latin typeface="Calibri"/>
                <a:cs typeface="Calibri"/>
              </a:rPr>
              <a:t>interactive</a:t>
            </a:r>
            <a:r>
              <a:rPr sz="1200" spc="15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features</a:t>
            </a:r>
            <a:r>
              <a:rPr sz="1200" spc="16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like</a:t>
            </a:r>
            <a:r>
              <a:rPr sz="1200" spc="15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voice/text</a:t>
            </a:r>
            <a:r>
              <a:rPr sz="1200" spc="16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chat</a:t>
            </a:r>
            <a:r>
              <a:rPr sz="1200" spc="15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16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</a:t>
            </a:r>
            <a:r>
              <a:rPr sz="1200" spc="15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shared</a:t>
            </a:r>
            <a:r>
              <a:rPr sz="1200" spc="16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drawing </a:t>
            </a:r>
            <a:r>
              <a:rPr sz="1200" dirty="0">
                <a:latin typeface="Calibri"/>
                <a:cs typeface="Calibri"/>
              </a:rPr>
              <a:t>workspace</a:t>
            </a:r>
            <a:r>
              <a:rPr sz="1200" spc="1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for</a:t>
            </a:r>
            <a:r>
              <a:rPr sz="1200" spc="1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teachers.</a:t>
            </a:r>
            <a:r>
              <a:rPr sz="1200" spc="260" dirty="0">
                <a:latin typeface="Calibri"/>
                <a:cs typeface="Calibri"/>
              </a:rPr>
              <a:t> </a:t>
            </a:r>
            <a:r>
              <a:rPr sz="1200" spc="85" dirty="0">
                <a:latin typeface="Calibri"/>
                <a:cs typeface="Calibri"/>
              </a:rPr>
              <a:t>It</a:t>
            </a:r>
            <a:r>
              <a:rPr sz="1200" spc="1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will</a:t>
            </a:r>
            <a:r>
              <a:rPr sz="1200" spc="1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also</a:t>
            </a:r>
            <a:r>
              <a:rPr sz="1200" spc="1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give</a:t>
            </a:r>
            <a:r>
              <a:rPr sz="1200" spc="1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notifications</a:t>
            </a:r>
            <a:r>
              <a:rPr sz="1200" spc="120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to </a:t>
            </a:r>
            <a:r>
              <a:rPr sz="1200" dirty="0">
                <a:latin typeface="Calibri"/>
                <a:cs typeface="Calibri"/>
              </a:rPr>
              <a:t>students</a:t>
            </a:r>
            <a:r>
              <a:rPr sz="1200" spc="114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if</a:t>
            </a:r>
            <a:r>
              <a:rPr sz="1200" spc="114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their</a:t>
            </a:r>
            <a:r>
              <a:rPr sz="1200" spc="1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screen</a:t>
            </a:r>
            <a:r>
              <a:rPr sz="1200" spc="1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time</a:t>
            </a:r>
            <a:r>
              <a:rPr sz="1200" spc="114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exceeds</a:t>
            </a:r>
            <a:r>
              <a:rPr sz="1200" spc="114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</a:t>
            </a:r>
            <a:r>
              <a:rPr sz="1200" spc="1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limits</a:t>
            </a:r>
            <a:r>
              <a:rPr sz="1200" spc="114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of</a:t>
            </a:r>
            <a:r>
              <a:rPr sz="1200" spc="114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2</a:t>
            </a:r>
            <a:r>
              <a:rPr sz="1200" spc="1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hours.</a:t>
            </a:r>
            <a:endParaRPr sz="1200">
              <a:latin typeface="Calibri"/>
              <a:cs typeface="Calibri"/>
            </a:endParaRPr>
          </a:p>
          <a:p>
            <a:pPr marL="12700" marR="153670">
              <a:lnSpc>
                <a:spcPct val="100000"/>
              </a:lnSpc>
              <a:spcBef>
                <a:spcPts val="330"/>
              </a:spcBef>
            </a:pPr>
            <a:r>
              <a:rPr sz="1200" spc="65" dirty="0">
                <a:latin typeface="Calibri"/>
                <a:cs typeface="Calibri"/>
              </a:rPr>
              <a:t>The</a:t>
            </a:r>
            <a:r>
              <a:rPr sz="1200" spc="114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website’s</a:t>
            </a:r>
            <a:r>
              <a:rPr sz="1200" spc="114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landing</a:t>
            </a:r>
            <a:r>
              <a:rPr sz="1200" spc="1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page</a:t>
            </a:r>
            <a:r>
              <a:rPr sz="1200" spc="114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has</a:t>
            </a:r>
            <a:r>
              <a:rPr sz="1200" spc="114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been</a:t>
            </a:r>
            <a:r>
              <a:rPr sz="1200" spc="1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made</a:t>
            </a:r>
            <a:r>
              <a:rPr sz="1200" spc="114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very</a:t>
            </a:r>
            <a:r>
              <a:rPr sz="1200" spc="114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simple</a:t>
            </a:r>
            <a:r>
              <a:rPr sz="1200" spc="114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and </a:t>
            </a:r>
            <a:r>
              <a:rPr sz="1200" dirty="0">
                <a:latin typeface="Calibri"/>
                <a:cs typeface="Calibri"/>
              </a:rPr>
              <a:t>user-friendly</a:t>
            </a:r>
            <a:r>
              <a:rPr sz="1200" spc="17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for</a:t>
            </a:r>
            <a:r>
              <a:rPr sz="1200" spc="18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easy</a:t>
            </a:r>
            <a:r>
              <a:rPr sz="1200" spc="18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navigation.</a:t>
            </a:r>
            <a:r>
              <a:rPr sz="1200" spc="330" dirty="0">
                <a:latin typeface="Calibri"/>
                <a:cs typeface="Calibri"/>
              </a:rPr>
              <a:t> </a:t>
            </a:r>
            <a:r>
              <a:rPr sz="1200" spc="60" dirty="0">
                <a:latin typeface="Calibri"/>
                <a:cs typeface="Calibri"/>
              </a:rPr>
              <a:t>Right</a:t>
            </a:r>
            <a:r>
              <a:rPr sz="1200" spc="18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after</a:t>
            </a:r>
            <a:r>
              <a:rPr sz="1200" spc="17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joinng</a:t>
            </a:r>
            <a:r>
              <a:rPr sz="1200" spc="175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the </a:t>
            </a:r>
            <a:r>
              <a:rPr sz="1200" dirty="0">
                <a:latin typeface="Calibri"/>
                <a:cs typeface="Calibri"/>
              </a:rPr>
              <a:t>room,</a:t>
            </a:r>
            <a:r>
              <a:rPr sz="1200" spc="10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students</a:t>
            </a:r>
            <a:r>
              <a:rPr sz="1200" spc="1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can</a:t>
            </a:r>
            <a:r>
              <a:rPr sz="1200" spc="110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see</a:t>
            </a:r>
            <a:r>
              <a:rPr sz="1200" spc="1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clear</a:t>
            </a:r>
            <a:r>
              <a:rPr sz="1200" spc="114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sections</a:t>
            </a:r>
            <a:r>
              <a:rPr sz="1200" spc="1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for</a:t>
            </a:r>
            <a:r>
              <a:rPr sz="1200" spc="10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coding</a:t>
            </a:r>
            <a:r>
              <a:rPr sz="1200" spc="114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projects, </a:t>
            </a:r>
            <a:r>
              <a:rPr sz="1200" dirty="0">
                <a:latin typeface="Calibri"/>
                <a:cs typeface="Calibri"/>
              </a:rPr>
              <a:t>collaborative</a:t>
            </a:r>
            <a:r>
              <a:rPr sz="1200" spc="1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sessions,</a:t>
            </a:r>
            <a:r>
              <a:rPr sz="1200" spc="1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145" dirty="0">
                <a:latin typeface="Calibri"/>
                <a:cs typeface="Calibri"/>
              </a:rPr>
              <a:t> AI</a:t>
            </a:r>
            <a:r>
              <a:rPr sz="1200" spc="1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assistance</a:t>
            </a:r>
            <a:r>
              <a:rPr sz="1200" spc="1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making</a:t>
            </a:r>
            <a:r>
              <a:rPr sz="1200" spc="145" dirty="0">
                <a:latin typeface="Calibri"/>
                <a:cs typeface="Calibri"/>
              </a:rPr>
              <a:t> </a:t>
            </a:r>
            <a:r>
              <a:rPr sz="1200" spc="50" dirty="0">
                <a:latin typeface="Calibri"/>
                <a:cs typeface="Calibri"/>
              </a:rPr>
              <a:t>it</a:t>
            </a:r>
            <a:r>
              <a:rPr sz="1200" spc="1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easy</a:t>
            </a:r>
            <a:r>
              <a:rPr sz="1200" spc="140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to </a:t>
            </a:r>
            <a:r>
              <a:rPr sz="1200" dirty="0">
                <a:latin typeface="Calibri"/>
                <a:cs typeface="Calibri"/>
              </a:rPr>
              <a:t>start</a:t>
            </a:r>
            <a:r>
              <a:rPr sz="1200" spc="15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coding</a:t>
            </a:r>
            <a:r>
              <a:rPr sz="1200" spc="16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immediately</a:t>
            </a:r>
            <a:r>
              <a:rPr sz="1200" spc="15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without</a:t>
            </a:r>
            <a:r>
              <a:rPr sz="1200" spc="15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15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need</a:t>
            </a:r>
            <a:r>
              <a:rPr sz="1200" spc="16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of</a:t>
            </a:r>
            <a:r>
              <a:rPr sz="1200" spc="16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any</a:t>
            </a:r>
            <a:r>
              <a:rPr sz="1200" spc="15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account.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5656" y="2129040"/>
            <a:ext cx="121259" cy="12125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270395" y="2119190"/>
            <a:ext cx="7239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1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6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349777"/>
            <a:ext cx="4608195" cy="106680"/>
            <a:chOff x="0" y="3349777"/>
            <a:chExt cx="4608195" cy="106680"/>
          </a:xfrm>
        </p:grpSpPr>
        <p:sp>
          <p:nvSpPr>
            <p:cNvPr id="9" name="object 9"/>
            <p:cNvSpPr/>
            <p:nvPr/>
          </p:nvSpPr>
          <p:spPr>
            <a:xfrm>
              <a:off x="0" y="3349777"/>
              <a:ext cx="1536065" cy="106680"/>
            </a:xfrm>
            <a:custGeom>
              <a:avLst/>
              <a:gdLst/>
              <a:ahLst/>
              <a:cxnLst/>
              <a:rect l="l" t="t" r="r" b="b"/>
              <a:pathLst>
                <a:path w="1536065" h="106679">
                  <a:moveTo>
                    <a:pt x="1535976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535976" y="10622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535976" y="3349777"/>
              <a:ext cx="1536065" cy="106680"/>
            </a:xfrm>
            <a:custGeom>
              <a:avLst/>
              <a:gdLst/>
              <a:ahLst/>
              <a:cxnLst/>
              <a:rect l="l" t="t" r="r" b="b"/>
              <a:pathLst>
                <a:path w="1536064" h="106679">
                  <a:moveTo>
                    <a:pt x="1535976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535976" y="10622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071952" y="3349777"/>
              <a:ext cx="1536065" cy="106680"/>
            </a:xfrm>
            <a:custGeom>
              <a:avLst/>
              <a:gdLst/>
              <a:ahLst/>
              <a:cxnLst/>
              <a:rect l="l" t="t" r="r" b="b"/>
              <a:pathLst>
                <a:path w="1536064" h="106679">
                  <a:moveTo>
                    <a:pt x="1535976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535976" y="10622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pc="110" dirty="0"/>
              <a:t>(CSIT(21-</a:t>
            </a:r>
            <a:r>
              <a:rPr spc="120" dirty="0"/>
              <a:t>25/CSIT/27)</a:t>
            </a:r>
            <a:r>
              <a:rPr spc="145" dirty="0"/>
              <a:t> </a:t>
            </a:r>
            <a:r>
              <a:rPr spc="45" dirty="0"/>
              <a:t>)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spc="60" dirty="0"/>
              <a:pPr marL="38100">
                <a:lnSpc>
                  <a:spcPts val="670"/>
                </a:lnSpc>
              </a:pPr>
              <a:t>20</a:t>
            </a:fld>
            <a:r>
              <a:rPr spc="-15" dirty="0"/>
              <a:t> </a:t>
            </a:r>
            <a:r>
              <a:rPr spc="125" dirty="0"/>
              <a:t>/</a:t>
            </a:r>
            <a:r>
              <a:rPr spc="-10" dirty="0"/>
              <a:t> </a:t>
            </a:r>
            <a:r>
              <a:rPr spc="35" dirty="0"/>
              <a:t>26</a:t>
            </a:r>
          </a:p>
        </p:txBody>
      </p:sp>
    </p:spTree>
  </p:cSld>
  <p:clrMapOvr>
    <a:masterClrMapping/>
  </p:clrMapOvr>
  <p:transition>
    <p:cut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181554"/>
            <a:ext cx="2030730" cy="2882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700" dirty="0">
                <a:solidFill>
                  <a:srgbClr val="3333B2"/>
                </a:solidFill>
                <a:latin typeface="Calibri"/>
                <a:cs typeface="Calibri"/>
              </a:rPr>
              <a:t>Result</a:t>
            </a:r>
            <a:r>
              <a:rPr sz="1700" spc="150" dirty="0">
                <a:solidFill>
                  <a:srgbClr val="3333B2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333B2"/>
                </a:solidFill>
                <a:latin typeface="Calibri"/>
                <a:cs typeface="Calibri"/>
              </a:rPr>
              <a:t>and</a:t>
            </a:r>
            <a:r>
              <a:rPr sz="1700" spc="150" dirty="0">
                <a:solidFill>
                  <a:srgbClr val="3333B2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3333B2"/>
                </a:solidFill>
                <a:latin typeface="Calibri"/>
                <a:cs typeface="Calibri"/>
              </a:rPr>
              <a:t>Discussions</a:t>
            </a:r>
            <a:endParaRPr sz="17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9729" y="882274"/>
            <a:ext cx="3448629" cy="1555299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0" y="3349777"/>
            <a:ext cx="4608195" cy="106680"/>
            <a:chOff x="0" y="3349777"/>
            <a:chExt cx="4608195" cy="106680"/>
          </a:xfrm>
        </p:grpSpPr>
        <p:sp>
          <p:nvSpPr>
            <p:cNvPr id="5" name="object 5"/>
            <p:cNvSpPr/>
            <p:nvPr/>
          </p:nvSpPr>
          <p:spPr>
            <a:xfrm>
              <a:off x="0" y="3349777"/>
              <a:ext cx="1536065" cy="106680"/>
            </a:xfrm>
            <a:custGeom>
              <a:avLst/>
              <a:gdLst/>
              <a:ahLst/>
              <a:cxnLst/>
              <a:rect l="l" t="t" r="r" b="b"/>
              <a:pathLst>
                <a:path w="1536065" h="106679">
                  <a:moveTo>
                    <a:pt x="1535976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535976" y="10622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535976" y="3349777"/>
              <a:ext cx="1536065" cy="106680"/>
            </a:xfrm>
            <a:custGeom>
              <a:avLst/>
              <a:gdLst/>
              <a:ahLst/>
              <a:cxnLst/>
              <a:rect l="l" t="t" r="r" b="b"/>
              <a:pathLst>
                <a:path w="1536064" h="106679">
                  <a:moveTo>
                    <a:pt x="1535976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535976" y="10622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071952" y="3349777"/>
              <a:ext cx="1536065" cy="106680"/>
            </a:xfrm>
            <a:custGeom>
              <a:avLst/>
              <a:gdLst/>
              <a:ahLst/>
              <a:cxnLst/>
              <a:rect l="l" t="t" r="r" b="b"/>
              <a:pathLst>
                <a:path w="1536064" h="106679">
                  <a:moveTo>
                    <a:pt x="1535976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535976" y="10622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686890" y="2592986"/>
            <a:ext cx="1188720" cy="1644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40"/>
              </a:lnSpc>
            </a:pPr>
            <a:r>
              <a:rPr sz="1100" dirty="0">
                <a:solidFill>
                  <a:srgbClr val="3333B2"/>
                </a:solidFill>
                <a:latin typeface="Calibri"/>
                <a:cs typeface="Calibri"/>
              </a:rPr>
              <a:t>Figure:</a:t>
            </a:r>
            <a:r>
              <a:rPr sz="1100" spc="280" dirty="0">
                <a:solidFill>
                  <a:srgbClr val="3333B2"/>
                </a:solidFill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Home</a:t>
            </a:r>
            <a:r>
              <a:rPr sz="1100" spc="280" dirty="0">
                <a:latin typeface="Calibri"/>
                <a:cs typeface="Calibri"/>
              </a:rPr>
              <a:t> </a:t>
            </a:r>
            <a:r>
              <a:rPr sz="1100" spc="-20" dirty="0">
                <a:latin typeface="Calibri"/>
                <a:cs typeface="Calibri"/>
              </a:rPr>
              <a:t>Page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pc="110" dirty="0"/>
              <a:t>(CSIT(21-</a:t>
            </a:r>
            <a:r>
              <a:rPr spc="120" dirty="0"/>
              <a:t>25/CSIT/27)</a:t>
            </a:r>
            <a:r>
              <a:rPr spc="145" dirty="0"/>
              <a:t> </a:t>
            </a:r>
            <a:r>
              <a:rPr spc="45" dirty="0"/>
              <a:t>)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spc="60" dirty="0"/>
              <a:pPr marL="38100">
                <a:lnSpc>
                  <a:spcPts val="670"/>
                </a:lnSpc>
              </a:pPr>
              <a:t>21</a:t>
            </a:fld>
            <a:r>
              <a:rPr spc="-15" dirty="0"/>
              <a:t> </a:t>
            </a:r>
            <a:r>
              <a:rPr spc="125" dirty="0"/>
              <a:t>/</a:t>
            </a:r>
            <a:r>
              <a:rPr spc="-10" dirty="0"/>
              <a:t> </a:t>
            </a:r>
            <a:r>
              <a:rPr spc="35" dirty="0"/>
              <a:t>26</a:t>
            </a:r>
          </a:p>
        </p:txBody>
      </p:sp>
    </p:spTree>
  </p:cSld>
  <p:clrMapOvr>
    <a:masterClrMapping/>
  </p:clrMapOvr>
  <p:transition>
    <p:cut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181554"/>
            <a:ext cx="2030730" cy="2882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700" dirty="0">
                <a:solidFill>
                  <a:srgbClr val="3333B2"/>
                </a:solidFill>
                <a:latin typeface="Calibri"/>
                <a:cs typeface="Calibri"/>
              </a:rPr>
              <a:t>Result</a:t>
            </a:r>
            <a:r>
              <a:rPr sz="1700" spc="150" dirty="0">
                <a:solidFill>
                  <a:srgbClr val="3333B2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333B2"/>
                </a:solidFill>
                <a:latin typeface="Calibri"/>
                <a:cs typeface="Calibri"/>
              </a:rPr>
              <a:t>and</a:t>
            </a:r>
            <a:r>
              <a:rPr sz="1700" spc="150" dirty="0">
                <a:solidFill>
                  <a:srgbClr val="3333B2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3333B2"/>
                </a:solidFill>
                <a:latin typeface="Calibri"/>
                <a:cs typeface="Calibri"/>
              </a:rPr>
              <a:t>Discussions</a:t>
            </a:r>
            <a:endParaRPr sz="17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9729" y="882647"/>
            <a:ext cx="3448417" cy="1554393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0" y="3349777"/>
            <a:ext cx="4608195" cy="106680"/>
            <a:chOff x="0" y="3349777"/>
            <a:chExt cx="4608195" cy="106680"/>
          </a:xfrm>
        </p:grpSpPr>
        <p:sp>
          <p:nvSpPr>
            <p:cNvPr id="5" name="object 5"/>
            <p:cNvSpPr/>
            <p:nvPr/>
          </p:nvSpPr>
          <p:spPr>
            <a:xfrm>
              <a:off x="0" y="3349777"/>
              <a:ext cx="1536065" cy="106680"/>
            </a:xfrm>
            <a:custGeom>
              <a:avLst/>
              <a:gdLst/>
              <a:ahLst/>
              <a:cxnLst/>
              <a:rect l="l" t="t" r="r" b="b"/>
              <a:pathLst>
                <a:path w="1536065" h="106679">
                  <a:moveTo>
                    <a:pt x="1535976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535976" y="10622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535976" y="3349777"/>
              <a:ext cx="1536065" cy="106680"/>
            </a:xfrm>
            <a:custGeom>
              <a:avLst/>
              <a:gdLst/>
              <a:ahLst/>
              <a:cxnLst/>
              <a:rect l="l" t="t" r="r" b="b"/>
              <a:pathLst>
                <a:path w="1536064" h="106679">
                  <a:moveTo>
                    <a:pt x="1535976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535976" y="10622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071952" y="3349777"/>
              <a:ext cx="1536065" cy="106680"/>
            </a:xfrm>
            <a:custGeom>
              <a:avLst/>
              <a:gdLst/>
              <a:ahLst/>
              <a:cxnLst/>
              <a:rect l="l" t="t" r="r" b="b"/>
              <a:pathLst>
                <a:path w="1536064" h="106679">
                  <a:moveTo>
                    <a:pt x="1535976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535976" y="10622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686890" y="2592986"/>
            <a:ext cx="1188720" cy="1644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40"/>
              </a:lnSpc>
            </a:pPr>
            <a:r>
              <a:rPr sz="1100" dirty="0">
                <a:solidFill>
                  <a:srgbClr val="3333B2"/>
                </a:solidFill>
                <a:latin typeface="Calibri"/>
                <a:cs typeface="Calibri"/>
              </a:rPr>
              <a:t>Figure:</a:t>
            </a:r>
            <a:r>
              <a:rPr sz="1100" spc="280" dirty="0">
                <a:solidFill>
                  <a:srgbClr val="3333B2"/>
                </a:solidFill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Home</a:t>
            </a:r>
            <a:r>
              <a:rPr sz="1100" spc="280" dirty="0">
                <a:latin typeface="Calibri"/>
                <a:cs typeface="Calibri"/>
              </a:rPr>
              <a:t> </a:t>
            </a:r>
            <a:r>
              <a:rPr sz="1100" spc="-20" dirty="0">
                <a:latin typeface="Calibri"/>
                <a:cs typeface="Calibri"/>
              </a:rPr>
              <a:t>Page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pc="110" dirty="0"/>
              <a:t>(CSIT(21-</a:t>
            </a:r>
            <a:r>
              <a:rPr spc="120" dirty="0"/>
              <a:t>25/CSIT/27)</a:t>
            </a:r>
            <a:r>
              <a:rPr spc="145" dirty="0"/>
              <a:t> </a:t>
            </a:r>
            <a:r>
              <a:rPr spc="45" dirty="0"/>
              <a:t>)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spc="60" dirty="0"/>
              <a:pPr marL="38100">
                <a:lnSpc>
                  <a:spcPts val="670"/>
                </a:lnSpc>
              </a:pPr>
              <a:t>22</a:t>
            </a:fld>
            <a:r>
              <a:rPr spc="-15" dirty="0"/>
              <a:t> </a:t>
            </a:r>
            <a:r>
              <a:rPr spc="125" dirty="0"/>
              <a:t>/</a:t>
            </a:r>
            <a:r>
              <a:rPr spc="-10" dirty="0"/>
              <a:t> </a:t>
            </a:r>
            <a:r>
              <a:rPr spc="35" dirty="0"/>
              <a:t>26</a:t>
            </a:r>
          </a:p>
        </p:txBody>
      </p:sp>
    </p:spTree>
  </p:cSld>
  <p:clrMapOvr>
    <a:masterClrMapping/>
  </p:clrMapOvr>
  <p:transition>
    <p:cut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Result</a:t>
            </a:r>
            <a:r>
              <a:rPr spc="150" dirty="0"/>
              <a:t> </a:t>
            </a:r>
            <a:r>
              <a:rPr dirty="0"/>
              <a:t>and</a:t>
            </a:r>
            <a:r>
              <a:rPr spc="150" dirty="0"/>
              <a:t> </a:t>
            </a:r>
            <a:r>
              <a:rPr spc="-10" dirty="0"/>
              <a:t>Discussion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5656" y="1100391"/>
            <a:ext cx="121259" cy="12125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70395" y="1090541"/>
            <a:ext cx="7239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1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247408" rIns="0" bIns="0" rtlCol="0">
            <a:spAutoFit/>
          </a:bodyPr>
          <a:lstStyle/>
          <a:p>
            <a:pPr marL="12700" marR="191135">
              <a:lnSpc>
                <a:spcPct val="100000"/>
              </a:lnSpc>
              <a:spcBef>
                <a:spcPts val="95"/>
              </a:spcBef>
            </a:pPr>
            <a:r>
              <a:rPr spc="65" dirty="0"/>
              <a:t>The</a:t>
            </a:r>
            <a:r>
              <a:rPr spc="114" dirty="0"/>
              <a:t> </a:t>
            </a:r>
            <a:r>
              <a:rPr dirty="0"/>
              <a:t>landing</a:t>
            </a:r>
            <a:r>
              <a:rPr spc="125" dirty="0"/>
              <a:t> </a:t>
            </a:r>
            <a:r>
              <a:rPr dirty="0"/>
              <a:t>page</a:t>
            </a:r>
            <a:r>
              <a:rPr spc="120" dirty="0"/>
              <a:t> </a:t>
            </a:r>
            <a:r>
              <a:rPr dirty="0"/>
              <a:t>has</a:t>
            </a:r>
            <a:r>
              <a:rPr spc="114" dirty="0"/>
              <a:t> </a:t>
            </a:r>
            <a:r>
              <a:rPr dirty="0"/>
              <a:t>been</a:t>
            </a:r>
            <a:r>
              <a:rPr spc="125" dirty="0"/>
              <a:t> </a:t>
            </a:r>
            <a:r>
              <a:rPr dirty="0"/>
              <a:t>designed</a:t>
            </a:r>
            <a:r>
              <a:rPr spc="120" dirty="0"/>
              <a:t> </a:t>
            </a:r>
            <a:r>
              <a:rPr dirty="0"/>
              <a:t>for</a:t>
            </a:r>
            <a:r>
              <a:rPr spc="120" dirty="0"/>
              <a:t> </a:t>
            </a:r>
            <a:r>
              <a:rPr dirty="0"/>
              <a:t>instant</a:t>
            </a:r>
            <a:r>
              <a:rPr spc="114" dirty="0"/>
              <a:t> </a:t>
            </a:r>
            <a:r>
              <a:rPr dirty="0"/>
              <a:t>access</a:t>
            </a:r>
            <a:r>
              <a:rPr spc="120" dirty="0"/>
              <a:t> </a:t>
            </a:r>
            <a:r>
              <a:rPr spc="-25" dirty="0"/>
              <a:t>to </a:t>
            </a:r>
            <a:r>
              <a:rPr dirty="0"/>
              <a:t>coding.</a:t>
            </a:r>
            <a:r>
              <a:rPr spc="330" dirty="0"/>
              <a:t> </a:t>
            </a:r>
            <a:r>
              <a:rPr spc="85" dirty="0"/>
              <a:t>It</a:t>
            </a:r>
            <a:r>
              <a:rPr spc="180" dirty="0"/>
              <a:t> </a:t>
            </a:r>
            <a:r>
              <a:rPr dirty="0"/>
              <a:t>has</a:t>
            </a:r>
            <a:r>
              <a:rPr spc="175" dirty="0"/>
              <a:t> </a:t>
            </a:r>
            <a:r>
              <a:rPr dirty="0"/>
              <a:t>a</a:t>
            </a:r>
            <a:r>
              <a:rPr spc="175" dirty="0"/>
              <a:t> </a:t>
            </a:r>
            <a:r>
              <a:rPr dirty="0"/>
              <a:t>clean</a:t>
            </a:r>
            <a:r>
              <a:rPr spc="180" dirty="0"/>
              <a:t> </a:t>
            </a:r>
            <a:r>
              <a:rPr dirty="0"/>
              <a:t>layout</a:t>
            </a:r>
            <a:r>
              <a:rPr spc="175" dirty="0"/>
              <a:t> </a:t>
            </a:r>
            <a:r>
              <a:rPr dirty="0"/>
              <a:t>which</a:t>
            </a:r>
            <a:r>
              <a:rPr spc="180" dirty="0"/>
              <a:t> </a:t>
            </a:r>
            <a:r>
              <a:rPr dirty="0"/>
              <a:t>highlights</a:t>
            </a:r>
            <a:r>
              <a:rPr spc="175" dirty="0"/>
              <a:t> </a:t>
            </a:r>
            <a:r>
              <a:rPr spc="-10" dirty="0"/>
              <a:t>various </a:t>
            </a:r>
            <a:r>
              <a:rPr dirty="0"/>
              <a:t>collaborative</a:t>
            </a:r>
            <a:r>
              <a:rPr spc="225" dirty="0"/>
              <a:t> </a:t>
            </a:r>
            <a:r>
              <a:rPr dirty="0"/>
              <a:t>tools,</a:t>
            </a:r>
            <a:r>
              <a:rPr spc="229" dirty="0"/>
              <a:t> </a:t>
            </a:r>
            <a:r>
              <a:rPr spc="145" dirty="0"/>
              <a:t>AI</a:t>
            </a:r>
            <a:r>
              <a:rPr spc="225" dirty="0"/>
              <a:t> </a:t>
            </a:r>
            <a:r>
              <a:rPr dirty="0"/>
              <a:t>guidance,</a:t>
            </a:r>
            <a:r>
              <a:rPr spc="225" dirty="0"/>
              <a:t> </a:t>
            </a:r>
            <a:r>
              <a:rPr dirty="0"/>
              <a:t>making</a:t>
            </a:r>
            <a:r>
              <a:rPr spc="229" dirty="0"/>
              <a:t> </a:t>
            </a:r>
            <a:r>
              <a:rPr dirty="0"/>
              <a:t>navigation</a:t>
            </a:r>
            <a:r>
              <a:rPr spc="225" dirty="0"/>
              <a:t> </a:t>
            </a:r>
            <a:r>
              <a:rPr spc="-20" dirty="0"/>
              <a:t>very </a:t>
            </a:r>
            <a:r>
              <a:rPr dirty="0"/>
              <a:t>simple</a:t>
            </a:r>
            <a:r>
              <a:rPr spc="150" dirty="0"/>
              <a:t> </a:t>
            </a:r>
            <a:r>
              <a:rPr dirty="0"/>
              <a:t>and</a:t>
            </a:r>
            <a:r>
              <a:rPr spc="165" dirty="0"/>
              <a:t> </a:t>
            </a:r>
            <a:r>
              <a:rPr dirty="0"/>
              <a:t>intuitive</a:t>
            </a:r>
            <a:r>
              <a:rPr spc="150" dirty="0"/>
              <a:t> </a:t>
            </a:r>
            <a:r>
              <a:rPr dirty="0"/>
              <a:t>for</a:t>
            </a:r>
            <a:r>
              <a:rPr spc="160" dirty="0"/>
              <a:t> </a:t>
            </a:r>
            <a:r>
              <a:rPr dirty="0"/>
              <a:t>learners</a:t>
            </a:r>
            <a:r>
              <a:rPr spc="155" dirty="0"/>
              <a:t> </a:t>
            </a:r>
            <a:r>
              <a:rPr dirty="0"/>
              <a:t>of</a:t>
            </a:r>
            <a:r>
              <a:rPr spc="155" dirty="0"/>
              <a:t> </a:t>
            </a:r>
            <a:r>
              <a:rPr dirty="0"/>
              <a:t>all</a:t>
            </a:r>
            <a:r>
              <a:rPr spc="160" dirty="0"/>
              <a:t> </a:t>
            </a:r>
            <a:r>
              <a:rPr spc="-10" dirty="0"/>
              <a:t>ages.</a:t>
            </a:r>
          </a:p>
          <a:p>
            <a:pPr marL="12700" marR="5080">
              <a:lnSpc>
                <a:spcPct val="100000"/>
              </a:lnSpc>
              <a:spcBef>
                <a:spcPts val="315"/>
              </a:spcBef>
            </a:pPr>
            <a:r>
              <a:rPr spc="55" dirty="0"/>
              <a:t>Our</a:t>
            </a:r>
            <a:r>
              <a:rPr spc="105" dirty="0"/>
              <a:t> </a:t>
            </a:r>
            <a:r>
              <a:rPr dirty="0"/>
              <a:t>moto</a:t>
            </a:r>
            <a:r>
              <a:rPr spc="114" dirty="0"/>
              <a:t> </a:t>
            </a:r>
            <a:r>
              <a:rPr spc="110" dirty="0"/>
              <a:t>“</a:t>
            </a:r>
            <a:r>
              <a:rPr b="1" spc="110" dirty="0">
                <a:latin typeface="Calibri"/>
                <a:cs typeface="Calibri"/>
              </a:rPr>
              <a:t>Code</a:t>
            </a:r>
            <a:r>
              <a:rPr b="1" spc="175" dirty="0">
                <a:latin typeface="Calibri"/>
                <a:cs typeface="Calibri"/>
              </a:rPr>
              <a:t> </a:t>
            </a:r>
            <a:r>
              <a:rPr b="1" spc="195" dirty="0">
                <a:latin typeface="Calibri"/>
                <a:cs typeface="Calibri"/>
              </a:rPr>
              <a:t>&amp;</a:t>
            </a:r>
            <a:r>
              <a:rPr b="1" spc="175" dirty="0">
                <a:latin typeface="Calibri"/>
                <a:cs typeface="Calibri"/>
              </a:rPr>
              <a:t> </a:t>
            </a:r>
            <a:r>
              <a:rPr b="1" spc="114" dirty="0">
                <a:latin typeface="Calibri"/>
                <a:cs typeface="Calibri"/>
              </a:rPr>
              <a:t>Chill</a:t>
            </a:r>
            <a:r>
              <a:rPr spc="114" dirty="0"/>
              <a:t>”</a:t>
            </a:r>
            <a:r>
              <a:rPr spc="110" dirty="0"/>
              <a:t> </a:t>
            </a:r>
            <a:r>
              <a:rPr dirty="0"/>
              <a:t>do</a:t>
            </a:r>
            <a:r>
              <a:rPr spc="114" dirty="0"/>
              <a:t> </a:t>
            </a:r>
            <a:r>
              <a:rPr dirty="0"/>
              <a:t>emphasizes</a:t>
            </a:r>
            <a:r>
              <a:rPr spc="110" dirty="0"/>
              <a:t> </a:t>
            </a:r>
            <a:r>
              <a:rPr dirty="0"/>
              <a:t>a</a:t>
            </a:r>
            <a:r>
              <a:rPr spc="110" dirty="0"/>
              <a:t> </a:t>
            </a:r>
            <a:r>
              <a:rPr dirty="0"/>
              <a:t>relaxed</a:t>
            </a:r>
            <a:r>
              <a:rPr spc="110" dirty="0"/>
              <a:t> </a:t>
            </a:r>
            <a:r>
              <a:rPr spc="-25" dirty="0"/>
              <a:t>yet </a:t>
            </a:r>
            <a:r>
              <a:rPr dirty="0"/>
              <a:t>productive</a:t>
            </a:r>
            <a:r>
              <a:rPr spc="145" dirty="0"/>
              <a:t> </a:t>
            </a:r>
            <a:r>
              <a:rPr dirty="0"/>
              <a:t>coding</a:t>
            </a:r>
            <a:r>
              <a:rPr spc="150" dirty="0"/>
              <a:t> </a:t>
            </a:r>
            <a:r>
              <a:rPr dirty="0"/>
              <a:t>environment,</a:t>
            </a:r>
            <a:r>
              <a:rPr spc="145" dirty="0"/>
              <a:t> </a:t>
            </a:r>
            <a:r>
              <a:rPr dirty="0"/>
              <a:t>where</a:t>
            </a:r>
            <a:r>
              <a:rPr spc="145" dirty="0"/>
              <a:t> </a:t>
            </a:r>
            <a:r>
              <a:rPr dirty="0"/>
              <a:t>students</a:t>
            </a:r>
            <a:r>
              <a:rPr spc="145" dirty="0"/>
              <a:t> </a:t>
            </a:r>
            <a:r>
              <a:rPr spc="-25" dirty="0"/>
              <a:t>can </a:t>
            </a:r>
            <a:r>
              <a:rPr dirty="0"/>
              <a:t>experiment,</a:t>
            </a:r>
            <a:r>
              <a:rPr spc="125" dirty="0"/>
              <a:t> </a:t>
            </a:r>
            <a:r>
              <a:rPr dirty="0"/>
              <a:t>learn</a:t>
            </a:r>
            <a:r>
              <a:rPr spc="130" dirty="0"/>
              <a:t> </a:t>
            </a:r>
            <a:r>
              <a:rPr dirty="0"/>
              <a:t>together,</a:t>
            </a:r>
            <a:r>
              <a:rPr spc="135" dirty="0"/>
              <a:t> </a:t>
            </a:r>
            <a:r>
              <a:rPr dirty="0"/>
              <a:t>and</a:t>
            </a:r>
            <a:r>
              <a:rPr spc="125" dirty="0"/>
              <a:t> </a:t>
            </a:r>
            <a:r>
              <a:rPr dirty="0"/>
              <a:t>get</a:t>
            </a:r>
            <a:r>
              <a:rPr spc="130" dirty="0"/>
              <a:t> </a:t>
            </a:r>
            <a:r>
              <a:rPr dirty="0"/>
              <a:t>real-time</a:t>
            </a:r>
            <a:r>
              <a:rPr spc="130" dirty="0"/>
              <a:t> </a:t>
            </a:r>
            <a:r>
              <a:rPr dirty="0"/>
              <a:t>feedback</a:t>
            </a:r>
            <a:r>
              <a:rPr spc="125" dirty="0"/>
              <a:t> </a:t>
            </a:r>
            <a:r>
              <a:rPr spc="-20" dirty="0"/>
              <a:t>from </a:t>
            </a:r>
            <a:r>
              <a:rPr dirty="0"/>
              <a:t>peers</a:t>
            </a:r>
            <a:r>
              <a:rPr spc="155" dirty="0"/>
              <a:t> </a:t>
            </a:r>
            <a:r>
              <a:rPr dirty="0"/>
              <a:t>and</a:t>
            </a:r>
            <a:r>
              <a:rPr spc="160" dirty="0"/>
              <a:t> </a:t>
            </a:r>
            <a:r>
              <a:rPr spc="100" dirty="0"/>
              <a:t>AI,</a:t>
            </a:r>
            <a:r>
              <a:rPr spc="155" dirty="0"/>
              <a:t> </a:t>
            </a:r>
            <a:r>
              <a:rPr dirty="0"/>
              <a:t>which</a:t>
            </a:r>
            <a:r>
              <a:rPr spc="155" dirty="0"/>
              <a:t> </a:t>
            </a:r>
            <a:r>
              <a:rPr dirty="0"/>
              <a:t>foster</a:t>
            </a:r>
            <a:r>
              <a:rPr spc="165" dirty="0"/>
              <a:t> </a:t>
            </a:r>
            <a:r>
              <a:rPr dirty="0"/>
              <a:t>their</a:t>
            </a:r>
            <a:r>
              <a:rPr spc="155" dirty="0"/>
              <a:t> </a:t>
            </a:r>
            <a:r>
              <a:rPr dirty="0"/>
              <a:t>creativity</a:t>
            </a:r>
            <a:r>
              <a:rPr spc="155" dirty="0"/>
              <a:t> </a:t>
            </a:r>
            <a:r>
              <a:rPr dirty="0"/>
              <a:t>and</a:t>
            </a:r>
            <a:r>
              <a:rPr spc="155" dirty="0"/>
              <a:t> </a:t>
            </a:r>
            <a:r>
              <a:rPr spc="-10" dirty="0"/>
              <a:t>teamwork.</a:t>
            </a: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5656" y="1872195"/>
            <a:ext cx="121259" cy="12125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270395" y="1862345"/>
            <a:ext cx="7239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1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6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349777"/>
            <a:ext cx="4608195" cy="106680"/>
            <a:chOff x="0" y="3349777"/>
            <a:chExt cx="4608195" cy="106680"/>
          </a:xfrm>
        </p:grpSpPr>
        <p:sp>
          <p:nvSpPr>
            <p:cNvPr id="9" name="object 9"/>
            <p:cNvSpPr/>
            <p:nvPr/>
          </p:nvSpPr>
          <p:spPr>
            <a:xfrm>
              <a:off x="0" y="3349777"/>
              <a:ext cx="1536065" cy="106680"/>
            </a:xfrm>
            <a:custGeom>
              <a:avLst/>
              <a:gdLst/>
              <a:ahLst/>
              <a:cxnLst/>
              <a:rect l="l" t="t" r="r" b="b"/>
              <a:pathLst>
                <a:path w="1536065" h="106679">
                  <a:moveTo>
                    <a:pt x="1535976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535976" y="10622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535976" y="3349777"/>
              <a:ext cx="1536065" cy="106680"/>
            </a:xfrm>
            <a:custGeom>
              <a:avLst/>
              <a:gdLst/>
              <a:ahLst/>
              <a:cxnLst/>
              <a:rect l="l" t="t" r="r" b="b"/>
              <a:pathLst>
                <a:path w="1536064" h="106679">
                  <a:moveTo>
                    <a:pt x="1535976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535976" y="10622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071952" y="3349777"/>
              <a:ext cx="1536065" cy="106680"/>
            </a:xfrm>
            <a:custGeom>
              <a:avLst/>
              <a:gdLst/>
              <a:ahLst/>
              <a:cxnLst/>
              <a:rect l="l" t="t" r="r" b="b"/>
              <a:pathLst>
                <a:path w="1536064" h="106679">
                  <a:moveTo>
                    <a:pt x="1535976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535976" y="10622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pc="110" dirty="0"/>
              <a:t>(CSIT(21-</a:t>
            </a:r>
            <a:r>
              <a:rPr spc="120" dirty="0"/>
              <a:t>25/CSIT/27)</a:t>
            </a:r>
            <a:r>
              <a:rPr spc="145" dirty="0"/>
              <a:t> </a:t>
            </a:r>
            <a:r>
              <a:rPr spc="45" dirty="0"/>
              <a:t>)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spc="60" dirty="0"/>
              <a:pPr marL="38100">
                <a:lnSpc>
                  <a:spcPts val="670"/>
                </a:lnSpc>
              </a:pPr>
              <a:t>23</a:t>
            </a:fld>
            <a:r>
              <a:rPr spc="-15" dirty="0"/>
              <a:t> </a:t>
            </a:r>
            <a:r>
              <a:rPr spc="125" dirty="0"/>
              <a:t>/</a:t>
            </a:r>
            <a:r>
              <a:rPr spc="-10" dirty="0"/>
              <a:t> </a:t>
            </a:r>
            <a:r>
              <a:rPr spc="35" dirty="0"/>
              <a:t>26</a:t>
            </a:r>
          </a:p>
        </p:txBody>
      </p:sp>
    </p:spTree>
  </p:cSld>
  <p:clrMapOvr>
    <a:masterClrMapping/>
  </p:clrMapOvr>
  <p:transition>
    <p:cut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Further</a:t>
            </a:r>
            <a:r>
              <a:rPr spc="130" dirty="0"/>
              <a:t> </a:t>
            </a:r>
            <a:r>
              <a:rPr spc="-20" dirty="0"/>
              <a:t>Work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5656" y="965428"/>
            <a:ext cx="121259" cy="12125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70395" y="955578"/>
            <a:ext cx="7239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1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33298" y="904021"/>
            <a:ext cx="4023360" cy="18967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200" b="1" spc="105" dirty="0">
                <a:latin typeface="Calibri"/>
                <a:cs typeface="Calibri"/>
              </a:rPr>
              <a:t>Concept</a:t>
            </a:r>
            <a:r>
              <a:rPr sz="1200" b="1" spc="190" dirty="0">
                <a:latin typeface="Calibri"/>
                <a:cs typeface="Calibri"/>
              </a:rPr>
              <a:t> </a:t>
            </a:r>
            <a:r>
              <a:rPr sz="1200" b="1" spc="75" dirty="0">
                <a:latin typeface="Calibri"/>
                <a:cs typeface="Calibri"/>
              </a:rPr>
              <a:t>Development:</a:t>
            </a:r>
            <a:r>
              <a:rPr sz="1200" b="1" spc="26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Define</a:t>
            </a:r>
            <a:r>
              <a:rPr sz="1200" spc="1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1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core</a:t>
            </a:r>
            <a:r>
              <a:rPr sz="1200" spc="1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idea</a:t>
            </a:r>
            <a:r>
              <a:rPr sz="1200" spc="1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of</a:t>
            </a:r>
            <a:r>
              <a:rPr sz="1200" spc="1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“Code</a:t>
            </a:r>
            <a:r>
              <a:rPr sz="1200" spc="125" dirty="0">
                <a:latin typeface="Calibri"/>
                <a:cs typeface="Calibri"/>
              </a:rPr>
              <a:t> </a:t>
            </a:r>
            <a:r>
              <a:rPr sz="1200" spc="35" dirty="0">
                <a:latin typeface="Calibri"/>
                <a:cs typeface="Calibri"/>
              </a:rPr>
              <a:t>&amp; </a:t>
            </a:r>
            <a:r>
              <a:rPr sz="1200" spc="70" dirty="0">
                <a:latin typeface="Calibri"/>
                <a:cs typeface="Calibri"/>
              </a:rPr>
              <a:t>Chill”</a:t>
            </a:r>
            <a:r>
              <a:rPr sz="1200" spc="15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by</a:t>
            </a:r>
            <a:r>
              <a:rPr sz="1200" spc="16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identifying</a:t>
            </a:r>
            <a:r>
              <a:rPr sz="1200" spc="16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key</a:t>
            </a:r>
            <a:r>
              <a:rPr sz="1200" spc="15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features</a:t>
            </a:r>
            <a:r>
              <a:rPr sz="1200" spc="16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like</a:t>
            </a:r>
            <a:r>
              <a:rPr sz="1200" spc="16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real-time</a:t>
            </a:r>
            <a:r>
              <a:rPr sz="1200" spc="16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collaboration, </a:t>
            </a:r>
            <a:r>
              <a:rPr sz="1200" spc="145" dirty="0">
                <a:latin typeface="Calibri"/>
                <a:cs typeface="Calibri"/>
              </a:rPr>
              <a:t>AI</a:t>
            </a:r>
            <a:r>
              <a:rPr sz="1200" spc="17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assistance,</a:t>
            </a:r>
            <a:r>
              <a:rPr sz="1200" spc="17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17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student-friendly</a:t>
            </a:r>
            <a:r>
              <a:rPr sz="1200" spc="17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interface.</a:t>
            </a:r>
            <a:r>
              <a:rPr sz="1200" spc="3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Conduct</a:t>
            </a:r>
            <a:r>
              <a:rPr sz="1200" spc="50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surveys</a:t>
            </a:r>
            <a:r>
              <a:rPr sz="1200" spc="15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with</a:t>
            </a:r>
            <a:r>
              <a:rPr sz="1200" spc="15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students</a:t>
            </a:r>
            <a:r>
              <a:rPr sz="1200" spc="15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16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teachers</a:t>
            </a:r>
            <a:r>
              <a:rPr sz="1200" spc="15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15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understand</a:t>
            </a:r>
            <a:r>
              <a:rPr sz="1200" spc="15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their</a:t>
            </a:r>
            <a:r>
              <a:rPr sz="1200" spc="15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needs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1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refine</a:t>
            </a:r>
            <a:r>
              <a:rPr sz="1200" spc="1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1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project</a:t>
            </a:r>
            <a:r>
              <a:rPr sz="1200" spc="13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vision.</a:t>
            </a:r>
            <a:endParaRPr sz="1200">
              <a:latin typeface="Calibri"/>
              <a:cs typeface="Calibri"/>
            </a:endParaRPr>
          </a:p>
          <a:p>
            <a:pPr marL="12700" marR="44450">
              <a:lnSpc>
                <a:spcPct val="100000"/>
              </a:lnSpc>
              <a:spcBef>
                <a:spcPts val="320"/>
              </a:spcBef>
            </a:pPr>
            <a:r>
              <a:rPr sz="1200" b="1" spc="229" dirty="0">
                <a:latin typeface="Calibri"/>
                <a:cs typeface="Calibri"/>
              </a:rPr>
              <a:t>UI/UX</a:t>
            </a:r>
            <a:r>
              <a:rPr sz="1200" b="1" spc="250" dirty="0">
                <a:latin typeface="Calibri"/>
                <a:cs typeface="Calibri"/>
              </a:rPr>
              <a:t> </a:t>
            </a:r>
            <a:r>
              <a:rPr sz="1200" b="1" spc="85" dirty="0">
                <a:latin typeface="Calibri"/>
                <a:cs typeface="Calibri"/>
              </a:rPr>
              <a:t>Design:</a:t>
            </a:r>
            <a:r>
              <a:rPr sz="1200" b="1" spc="3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Create</a:t>
            </a:r>
            <a:r>
              <a:rPr sz="1200" spc="17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intuitive</a:t>
            </a:r>
            <a:r>
              <a:rPr sz="1200" spc="17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wireframes,</a:t>
            </a:r>
            <a:r>
              <a:rPr sz="1200" spc="18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interactive </a:t>
            </a:r>
            <a:r>
              <a:rPr sz="1200" dirty="0">
                <a:latin typeface="Calibri"/>
                <a:cs typeface="Calibri"/>
              </a:rPr>
              <a:t>mockups,</a:t>
            </a:r>
            <a:r>
              <a:rPr sz="1200" spc="18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18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</a:t>
            </a:r>
            <a:r>
              <a:rPr sz="1200" spc="18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clear</a:t>
            </a:r>
            <a:r>
              <a:rPr sz="1200" spc="18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navigation</a:t>
            </a:r>
            <a:r>
              <a:rPr sz="1200" spc="18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flow.</a:t>
            </a:r>
            <a:r>
              <a:rPr sz="1200" spc="3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Focus</a:t>
            </a:r>
            <a:r>
              <a:rPr sz="1200" spc="18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on</a:t>
            </a:r>
            <a:r>
              <a:rPr sz="1200" spc="18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simplicity</a:t>
            </a:r>
            <a:r>
              <a:rPr sz="1200" spc="185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so </a:t>
            </a:r>
            <a:r>
              <a:rPr sz="1200" dirty="0">
                <a:latin typeface="Calibri"/>
                <a:cs typeface="Calibri"/>
              </a:rPr>
              <a:t>that</a:t>
            </a:r>
            <a:r>
              <a:rPr sz="1200" spc="1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students</a:t>
            </a:r>
            <a:r>
              <a:rPr sz="1200" spc="1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of</a:t>
            </a:r>
            <a:r>
              <a:rPr sz="1200" spc="1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all</a:t>
            </a:r>
            <a:r>
              <a:rPr sz="1200" spc="1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ages</a:t>
            </a:r>
            <a:r>
              <a:rPr sz="1200" spc="1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can</a:t>
            </a:r>
            <a:r>
              <a:rPr sz="1200" spc="1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easily</a:t>
            </a:r>
            <a:r>
              <a:rPr sz="1200" spc="1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access</a:t>
            </a:r>
            <a:r>
              <a:rPr sz="1200" spc="1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coding</a:t>
            </a:r>
            <a:r>
              <a:rPr sz="1200" spc="14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sessions, </a:t>
            </a:r>
            <a:r>
              <a:rPr sz="1200" dirty="0">
                <a:latin typeface="Calibri"/>
                <a:cs typeface="Calibri"/>
              </a:rPr>
              <a:t>collaborative</a:t>
            </a:r>
            <a:r>
              <a:rPr sz="1200" spc="19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projects,</a:t>
            </a:r>
            <a:r>
              <a:rPr sz="1200" spc="19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19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learning</a:t>
            </a:r>
            <a:r>
              <a:rPr sz="1200" spc="19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resources</a:t>
            </a:r>
            <a:r>
              <a:rPr sz="1200" spc="19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without confusion.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5656" y="1920697"/>
            <a:ext cx="121259" cy="12125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270395" y="1910847"/>
            <a:ext cx="7239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1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6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349777"/>
            <a:ext cx="4608195" cy="106680"/>
            <a:chOff x="0" y="3349777"/>
            <a:chExt cx="4608195" cy="106680"/>
          </a:xfrm>
        </p:grpSpPr>
        <p:sp>
          <p:nvSpPr>
            <p:cNvPr id="9" name="object 9"/>
            <p:cNvSpPr/>
            <p:nvPr/>
          </p:nvSpPr>
          <p:spPr>
            <a:xfrm>
              <a:off x="0" y="3349777"/>
              <a:ext cx="1536065" cy="106680"/>
            </a:xfrm>
            <a:custGeom>
              <a:avLst/>
              <a:gdLst/>
              <a:ahLst/>
              <a:cxnLst/>
              <a:rect l="l" t="t" r="r" b="b"/>
              <a:pathLst>
                <a:path w="1536065" h="106679">
                  <a:moveTo>
                    <a:pt x="1535976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535976" y="10622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535976" y="3349777"/>
              <a:ext cx="1536065" cy="106680"/>
            </a:xfrm>
            <a:custGeom>
              <a:avLst/>
              <a:gdLst/>
              <a:ahLst/>
              <a:cxnLst/>
              <a:rect l="l" t="t" r="r" b="b"/>
              <a:pathLst>
                <a:path w="1536064" h="106679">
                  <a:moveTo>
                    <a:pt x="1535976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535976" y="10622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071952" y="3349777"/>
              <a:ext cx="1536065" cy="106680"/>
            </a:xfrm>
            <a:custGeom>
              <a:avLst/>
              <a:gdLst/>
              <a:ahLst/>
              <a:cxnLst/>
              <a:rect l="l" t="t" r="r" b="b"/>
              <a:pathLst>
                <a:path w="1536064" h="106679">
                  <a:moveTo>
                    <a:pt x="1535976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535976" y="10622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pc="110" dirty="0"/>
              <a:t>(CSIT(21-</a:t>
            </a:r>
            <a:r>
              <a:rPr spc="120" dirty="0"/>
              <a:t>25/CSIT/27)</a:t>
            </a:r>
            <a:r>
              <a:rPr spc="145" dirty="0"/>
              <a:t> </a:t>
            </a:r>
            <a:r>
              <a:rPr spc="45" dirty="0"/>
              <a:t>)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spc="60" dirty="0"/>
              <a:pPr marL="38100">
                <a:lnSpc>
                  <a:spcPts val="670"/>
                </a:lnSpc>
              </a:pPr>
              <a:t>24</a:t>
            </a:fld>
            <a:r>
              <a:rPr spc="-15" dirty="0"/>
              <a:t> </a:t>
            </a:r>
            <a:r>
              <a:rPr spc="125" dirty="0"/>
              <a:t>/</a:t>
            </a:r>
            <a:r>
              <a:rPr spc="-10" dirty="0"/>
              <a:t> </a:t>
            </a:r>
            <a:r>
              <a:rPr spc="35" dirty="0"/>
              <a:t>26</a:t>
            </a:r>
          </a:p>
        </p:txBody>
      </p:sp>
    </p:spTree>
  </p:cSld>
  <p:clrMapOvr>
    <a:masterClrMapping/>
  </p:clrMapOvr>
  <p:transition>
    <p:cut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Further</a:t>
            </a:r>
            <a:r>
              <a:rPr spc="130" dirty="0"/>
              <a:t> </a:t>
            </a:r>
            <a:r>
              <a:rPr spc="-20" dirty="0"/>
              <a:t>Work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5656" y="1112202"/>
            <a:ext cx="121259" cy="12125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70395" y="1102352"/>
            <a:ext cx="7239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1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259219" rIns="0" bIns="0" rtlCol="0">
            <a:spAutoFit/>
          </a:bodyPr>
          <a:lstStyle/>
          <a:p>
            <a:pPr marL="12700" marR="12065">
              <a:lnSpc>
                <a:spcPct val="100000"/>
              </a:lnSpc>
              <a:spcBef>
                <a:spcPts val="95"/>
              </a:spcBef>
            </a:pPr>
            <a:r>
              <a:rPr b="1" spc="95" dirty="0">
                <a:latin typeface="Calibri"/>
                <a:cs typeface="Calibri"/>
              </a:rPr>
              <a:t>Backend</a:t>
            </a:r>
            <a:r>
              <a:rPr b="1" spc="225" dirty="0">
                <a:latin typeface="Calibri"/>
                <a:cs typeface="Calibri"/>
              </a:rPr>
              <a:t>  </a:t>
            </a:r>
            <a:r>
              <a:rPr b="1" spc="120" dirty="0">
                <a:latin typeface="Calibri"/>
                <a:cs typeface="Calibri"/>
              </a:rPr>
              <a:t>Data</a:t>
            </a:r>
            <a:r>
              <a:rPr b="1" spc="225" dirty="0">
                <a:latin typeface="Calibri"/>
                <a:cs typeface="Calibri"/>
              </a:rPr>
              <a:t> </a:t>
            </a:r>
            <a:r>
              <a:rPr b="1" spc="90" dirty="0">
                <a:latin typeface="Calibri"/>
                <a:cs typeface="Calibri"/>
              </a:rPr>
              <a:t>Setup:</a:t>
            </a:r>
            <a:r>
              <a:rPr b="1" spc="305" dirty="0">
                <a:latin typeface="Calibri"/>
                <a:cs typeface="Calibri"/>
              </a:rPr>
              <a:t> </a:t>
            </a:r>
            <a:r>
              <a:rPr dirty="0"/>
              <a:t>Design</a:t>
            </a:r>
            <a:r>
              <a:rPr spc="160" dirty="0"/>
              <a:t> </a:t>
            </a:r>
            <a:r>
              <a:rPr dirty="0"/>
              <a:t>the</a:t>
            </a:r>
            <a:r>
              <a:rPr spc="155" dirty="0"/>
              <a:t> </a:t>
            </a:r>
            <a:r>
              <a:rPr dirty="0"/>
              <a:t>server</a:t>
            </a:r>
            <a:r>
              <a:rPr spc="155" dirty="0"/>
              <a:t> </a:t>
            </a:r>
            <a:r>
              <a:rPr dirty="0"/>
              <a:t>infrastructure</a:t>
            </a:r>
            <a:r>
              <a:rPr spc="155" dirty="0"/>
              <a:t> </a:t>
            </a:r>
            <a:r>
              <a:rPr spc="-25" dirty="0"/>
              <a:t>to </a:t>
            </a:r>
            <a:r>
              <a:rPr dirty="0"/>
              <a:t>handle</a:t>
            </a:r>
            <a:r>
              <a:rPr spc="145" dirty="0"/>
              <a:t> </a:t>
            </a:r>
            <a:r>
              <a:rPr dirty="0"/>
              <a:t>multiple</a:t>
            </a:r>
            <a:r>
              <a:rPr spc="145" dirty="0"/>
              <a:t> </a:t>
            </a:r>
            <a:r>
              <a:rPr dirty="0"/>
              <a:t>real-time</a:t>
            </a:r>
            <a:r>
              <a:rPr spc="145" dirty="0"/>
              <a:t> </a:t>
            </a:r>
            <a:r>
              <a:rPr dirty="0"/>
              <a:t>coding</a:t>
            </a:r>
            <a:r>
              <a:rPr spc="145" dirty="0"/>
              <a:t> </a:t>
            </a:r>
            <a:r>
              <a:rPr dirty="0"/>
              <a:t>sessions,</a:t>
            </a:r>
            <a:r>
              <a:rPr spc="145" dirty="0"/>
              <a:t> </a:t>
            </a:r>
            <a:r>
              <a:rPr dirty="0"/>
              <a:t>store</a:t>
            </a:r>
            <a:r>
              <a:rPr spc="145" dirty="0"/>
              <a:t> </a:t>
            </a:r>
            <a:r>
              <a:rPr dirty="0"/>
              <a:t>project</a:t>
            </a:r>
            <a:r>
              <a:rPr spc="150" dirty="0"/>
              <a:t> </a:t>
            </a:r>
            <a:r>
              <a:rPr spc="-10" dirty="0"/>
              <a:t>files </a:t>
            </a:r>
            <a:r>
              <a:rPr dirty="0"/>
              <a:t>securely,</a:t>
            </a:r>
            <a:r>
              <a:rPr spc="120" dirty="0"/>
              <a:t> </a:t>
            </a:r>
            <a:r>
              <a:rPr dirty="0"/>
              <a:t>and</a:t>
            </a:r>
            <a:r>
              <a:rPr spc="120" dirty="0"/>
              <a:t> </a:t>
            </a:r>
            <a:r>
              <a:rPr dirty="0"/>
              <a:t>manage</a:t>
            </a:r>
            <a:r>
              <a:rPr spc="114" dirty="0"/>
              <a:t> </a:t>
            </a:r>
            <a:r>
              <a:rPr dirty="0"/>
              <a:t>user</a:t>
            </a:r>
            <a:r>
              <a:rPr spc="125" dirty="0"/>
              <a:t> </a:t>
            </a:r>
            <a:r>
              <a:rPr dirty="0"/>
              <a:t>interactions</a:t>
            </a:r>
            <a:r>
              <a:rPr spc="114" dirty="0"/>
              <a:t> </a:t>
            </a:r>
            <a:r>
              <a:rPr dirty="0"/>
              <a:t>such</a:t>
            </a:r>
            <a:r>
              <a:rPr spc="125" dirty="0"/>
              <a:t> </a:t>
            </a:r>
            <a:r>
              <a:rPr dirty="0"/>
              <a:t>as</a:t>
            </a:r>
            <a:r>
              <a:rPr spc="114" dirty="0"/>
              <a:t> </a:t>
            </a:r>
            <a:r>
              <a:rPr dirty="0"/>
              <a:t>chat</a:t>
            </a:r>
            <a:r>
              <a:rPr spc="120" dirty="0"/>
              <a:t> </a:t>
            </a:r>
            <a:r>
              <a:rPr spc="-25" dirty="0"/>
              <a:t>and </a:t>
            </a:r>
            <a:r>
              <a:rPr dirty="0"/>
              <a:t>collaborative</a:t>
            </a:r>
            <a:r>
              <a:rPr spc="250" dirty="0"/>
              <a:t> </a:t>
            </a:r>
            <a:r>
              <a:rPr spc="-10" dirty="0"/>
              <a:t>editing.</a:t>
            </a:r>
          </a:p>
          <a:p>
            <a:pPr marL="12700" marR="5080">
              <a:lnSpc>
                <a:spcPct val="100000"/>
              </a:lnSpc>
              <a:spcBef>
                <a:spcPts val="315"/>
              </a:spcBef>
            </a:pPr>
            <a:r>
              <a:rPr b="1" spc="229" dirty="0">
                <a:latin typeface="Calibri"/>
                <a:cs typeface="Calibri"/>
              </a:rPr>
              <a:t>AI</a:t>
            </a:r>
            <a:r>
              <a:rPr b="1" spc="215" dirty="0">
                <a:latin typeface="Calibri"/>
                <a:cs typeface="Calibri"/>
              </a:rPr>
              <a:t> </a:t>
            </a:r>
            <a:r>
              <a:rPr b="1" spc="80" dirty="0">
                <a:latin typeface="Calibri"/>
                <a:cs typeface="Calibri"/>
              </a:rPr>
              <a:t>Integration:</a:t>
            </a:r>
            <a:r>
              <a:rPr b="1" spc="290" dirty="0">
                <a:latin typeface="Calibri"/>
                <a:cs typeface="Calibri"/>
              </a:rPr>
              <a:t> </a:t>
            </a:r>
            <a:r>
              <a:rPr dirty="0"/>
              <a:t>Incorporate</a:t>
            </a:r>
            <a:r>
              <a:rPr spc="145" dirty="0"/>
              <a:t> </a:t>
            </a:r>
            <a:r>
              <a:rPr dirty="0"/>
              <a:t>the</a:t>
            </a:r>
            <a:r>
              <a:rPr spc="150" dirty="0"/>
              <a:t> </a:t>
            </a:r>
            <a:r>
              <a:rPr spc="145" dirty="0"/>
              <a:t>AI </a:t>
            </a:r>
            <a:r>
              <a:rPr dirty="0"/>
              <a:t>chatbot</a:t>
            </a:r>
            <a:r>
              <a:rPr spc="145" dirty="0"/>
              <a:t> </a:t>
            </a:r>
            <a:r>
              <a:rPr dirty="0"/>
              <a:t>to</a:t>
            </a:r>
            <a:r>
              <a:rPr spc="150" dirty="0"/>
              <a:t> </a:t>
            </a:r>
            <a:r>
              <a:rPr spc="-10" dirty="0"/>
              <a:t>provide </a:t>
            </a:r>
            <a:r>
              <a:rPr dirty="0"/>
              <a:t>instant</a:t>
            </a:r>
            <a:r>
              <a:rPr spc="160" dirty="0"/>
              <a:t> </a:t>
            </a:r>
            <a:r>
              <a:rPr dirty="0"/>
              <a:t>coding</a:t>
            </a:r>
            <a:r>
              <a:rPr spc="165" dirty="0"/>
              <a:t> </a:t>
            </a:r>
            <a:r>
              <a:rPr dirty="0"/>
              <a:t>guidance,</a:t>
            </a:r>
            <a:r>
              <a:rPr spc="170" dirty="0"/>
              <a:t> </a:t>
            </a:r>
            <a:r>
              <a:rPr dirty="0"/>
              <a:t>suggest</a:t>
            </a:r>
            <a:r>
              <a:rPr spc="160" dirty="0"/>
              <a:t> </a:t>
            </a:r>
            <a:r>
              <a:rPr dirty="0"/>
              <a:t>improvements,</a:t>
            </a:r>
            <a:r>
              <a:rPr spc="170" dirty="0"/>
              <a:t> </a:t>
            </a:r>
            <a:r>
              <a:rPr dirty="0"/>
              <a:t>and</a:t>
            </a:r>
            <a:r>
              <a:rPr spc="160" dirty="0"/>
              <a:t> </a:t>
            </a:r>
            <a:r>
              <a:rPr spc="-10" dirty="0"/>
              <a:t>answer </a:t>
            </a:r>
            <a:r>
              <a:rPr dirty="0"/>
              <a:t>students’</a:t>
            </a:r>
            <a:r>
              <a:rPr spc="165" dirty="0"/>
              <a:t> </a:t>
            </a:r>
            <a:r>
              <a:rPr dirty="0"/>
              <a:t>queries.</a:t>
            </a:r>
            <a:r>
              <a:rPr spc="320" dirty="0"/>
              <a:t> </a:t>
            </a:r>
            <a:r>
              <a:rPr dirty="0"/>
              <a:t>Continuously</a:t>
            </a:r>
            <a:r>
              <a:rPr spc="165" dirty="0"/>
              <a:t> </a:t>
            </a:r>
            <a:r>
              <a:rPr dirty="0"/>
              <a:t>update</a:t>
            </a:r>
            <a:r>
              <a:rPr spc="165" dirty="0"/>
              <a:t> </a:t>
            </a:r>
            <a:r>
              <a:rPr spc="145" dirty="0"/>
              <a:t>AI</a:t>
            </a:r>
            <a:r>
              <a:rPr spc="165" dirty="0"/>
              <a:t> </a:t>
            </a:r>
            <a:r>
              <a:rPr dirty="0"/>
              <a:t>suggestions</a:t>
            </a:r>
            <a:r>
              <a:rPr spc="170" dirty="0"/>
              <a:t> </a:t>
            </a:r>
            <a:r>
              <a:rPr spc="-10" dirty="0"/>
              <a:t>based </a:t>
            </a:r>
            <a:r>
              <a:rPr dirty="0"/>
              <a:t>on</a:t>
            </a:r>
            <a:r>
              <a:rPr spc="75" dirty="0"/>
              <a:t> </a:t>
            </a:r>
            <a:r>
              <a:rPr dirty="0"/>
              <a:t>user</a:t>
            </a:r>
            <a:r>
              <a:rPr spc="75" dirty="0"/>
              <a:t> </a:t>
            </a:r>
            <a:r>
              <a:rPr spc="-10" dirty="0"/>
              <a:t>feedback.</a:t>
            </a: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5656" y="1884006"/>
            <a:ext cx="121259" cy="12125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270395" y="1874156"/>
            <a:ext cx="7239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1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6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349777"/>
            <a:ext cx="4608195" cy="106680"/>
            <a:chOff x="0" y="3349777"/>
            <a:chExt cx="4608195" cy="106680"/>
          </a:xfrm>
        </p:grpSpPr>
        <p:sp>
          <p:nvSpPr>
            <p:cNvPr id="9" name="object 9"/>
            <p:cNvSpPr/>
            <p:nvPr/>
          </p:nvSpPr>
          <p:spPr>
            <a:xfrm>
              <a:off x="0" y="3349777"/>
              <a:ext cx="1536065" cy="106680"/>
            </a:xfrm>
            <a:custGeom>
              <a:avLst/>
              <a:gdLst/>
              <a:ahLst/>
              <a:cxnLst/>
              <a:rect l="l" t="t" r="r" b="b"/>
              <a:pathLst>
                <a:path w="1536065" h="106679">
                  <a:moveTo>
                    <a:pt x="1535976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535976" y="10622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535976" y="3349777"/>
              <a:ext cx="1536065" cy="106680"/>
            </a:xfrm>
            <a:custGeom>
              <a:avLst/>
              <a:gdLst/>
              <a:ahLst/>
              <a:cxnLst/>
              <a:rect l="l" t="t" r="r" b="b"/>
              <a:pathLst>
                <a:path w="1536064" h="106679">
                  <a:moveTo>
                    <a:pt x="1535976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535976" y="10622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071952" y="3349777"/>
              <a:ext cx="1536065" cy="106680"/>
            </a:xfrm>
            <a:custGeom>
              <a:avLst/>
              <a:gdLst/>
              <a:ahLst/>
              <a:cxnLst/>
              <a:rect l="l" t="t" r="r" b="b"/>
              <a:pathLst>
                <a:path w="1536064" h="106679">
                  <a:moveTo>
                    <a:pt x="1535976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535976" y="10622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pc="110" dirty="0"/>
              <a:t>(CSIT(21-</a:t>
            </a:r>
            <a:r>
              <a:rPr spc="120" dirty="0"/>
              <a:t>25/CSIT/27)</a:t>
            </a:r>
            <a:r>
              <a:rPr spc="145" dirty="0"/>
              <a:t> </a:t>
            </a:r>
            <a:r>
              <a:rPr spc="45" dirty="0"/>
              <a:t>)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spc="60" dirty="0"/>
              <a:pPr marL="38100">
                <a:lnSpc>
                  <a:spcPts val="670"/>
                </a:lnSpc>
              </a:pPr>
              <a:t>25</a:t>
            </a:fld>
            <a:r>
              <a:rPr spc="-15" dirty="0"/>
              <a:t> </a:t>
            </a:r>
            <a:r>
              <a:rPr spc="125" dirty="0"/>
              <a:t>/</a:t>
            </a:r>
            <a:r>
              <a:rPr spc="-10" dirty="0"/>
              <a:t> </a:t>
            </a:r>
            <a:r>
              <a:rPr spc="35" dirty="0"/>
              <a:t>26</a:t>
            </a:r>
          </a:p>
        </p:txBody>
      </p:sp>
    </p:spTree>
  </p:cSld>
  <p:clrMapOvr>
    <a:masterClrMapping/>
  </p:clrMapOvr>
  <p:transition>
    <p:cut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Further</a:t>
            </a:r>
            <a:r>
              <a:rPr spc="130" dirty="0"/>
              <a:t> </a:t>
            </a:r>
            <a:r>
              <a:rPr spc="-20" dirty="0"/>
              <a:t>Work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5656" y="1100391"/>
            <a:ext cx="121259" cy="12125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70395" y="1090541"/>
            <a:ext cx="7239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1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247408" rIns="0" bIns="0" rtlCol="0">
            <a:spAutoFit/>
          </a:bodyPr>
          <a:lstStyle/>
          <a:p>
            <a:pPr marL="12700" marR="7620">
              <a:lnSpc>
                <a:spcPct val="100000"/>
              </a:lnSpc>
              <a:spcBef>
                <a:spcPts val="95"/>
              </a:spcBef>
            </a:pPr>
            <a:r>
              <a:rPr b="1" spc="90" dirty="0">
                <a:latin typeface="Calibri"/>
                <a:cs typeface="Calibri"/>
              </a:rPr>
              <a:t>Testing</a:t>
            </a:r>
            <a:r>
              <a:rPr b="1" spc="229" dirty="0">
                <a:latin typeface="Calibri"/>
                <a:cs typeface="Calibri"/>
              </a:rPr>
              <a:t>  </a:t>
            </a:r>
            <a:r>
              <a:rPr b="1" spc="75" dirty="0">
                <a:latin typeface="Calibri"/>
                <a:cs typeface="Calibri"/>
              </a:rPr>
              <a:t>Feedback:</a:t>
            </a:r>
            <a:r>
              <a:rPr b="1" spc="320" dirty="0">
                <a:latin typeface="Calibri"/>
                <a:cs typeface="Calibri"/>
              </a:rPr>
              <a:t> </a:t>
            </a:r>
            <a:r>
              <a:rPr dirty="0"/>
              <a:t>Conduct</a:t>
            </a:r>
            <a:r>
              <a:rPr spc="165" dirty="0"/>
              <a:t> </a:t>
            </a:r>
            <a:r>
              <a:rPr dirty="0"/>
              <a:t>extensive</a:t>
            </a:r>
            <a:r>
              <a:rPr spc="165" dirty="0"/>
              <a:t> </a:t>
            </a:r>
            <a:r>
              <a:rPr dirty="0"/>
              <a:t>testing</a:t>
            </a:r>
            <a:r>
              <a:rPr spc="165" dirty="0"/>
              <a:t> </a:t>
            </a:r>
            <a:r>
              <a:rPr dirty="0"/>
              <a:t>of</a:t>
            </a:r>
            <a:r>
              <a:rPr spc="160" dirty="0"/>
              <a:t> </a:t>
            </a:r>
            <a:r>
              <a:rPr dirty="0"/>
              <a:t>real-</a:t>
            </a:r>
            <a:r>
              <a:rPr spc="-20" dirty="0"/>
              <a:t>time </a:t>
            </a:r>
            <a:r>
              <a:rPr dirty="0"/>
              <a:t>collaboration,</a:t>
            </a:r>
            <a:r>
              <a:rPr spc="185" dirty="0"/>
              <a:t> </a:t>
            </a:r>
            <a:r>
              <a:rPr dirty="0"/>
              <a:t>voice/text</a:t>
            </a:r>
            <a:r>
              <a:rPr spc="185" dirty="0"/>
              <a:t> </a:t>
            </a:r>
            <a:r>
              <a:rPr dirty="0"/>
              <a:t>chat,</a:t>
            </a:r>
            <a:r>
              <a:rPr spc="185" dirty="0"/>
              <a:t> </a:t>
            </a:r>
            <a:r>
              <a:rPr spc="145" dirty="0"/>
              <a:t>AI</a:t>
            </a:r>
            <a:r>
              <a:rPr spc="185" dirty="0"/>
              <a:t> </a:t>
            </a:r>
            <a:r>
              <a:rPr spc="-10" dirty="0"/>
              <a:t>responses,</a:t>
            </a:r>
            <a:r>
              <a:rPr spc="185" dirty="0"/>
              <a:t> </a:t>
            </a:r>
            <a:r>
              <a:rPr dirty="0"/>
              <a:t>and</a:t>
            </a:r>
            <a:r>
              <a:rPr spc="190" dirty="0"/>
              <a:t> </a:t>
            </a:r>
            <a:r>
              <a:rPr spc="-10" dirty="0"/>
              <a:t>coding </a:t>
            </a:r>
            <a:r>
              <a:rPr dirty="0"/>
              <a:t>functionality.</a:t>
            </a:r>
            <a:r>
              <a:rPr spc="290" dirty="0"/>
              <a:t> </a:t>
            </a:r>
            <a:r>
              <a:rPr dirty="0"/>
              <a:t>Gather</a:t>
            </a:r>
            <a:r>
              <a:rPr spc="155" dirty="0"/>
              <a:t> </a:t>
            </a:r>
            <a:r>
              <a:rPr dirty="0"/>
              <a:t>feedback</a:t>
            </a:r>
            <a:r>
              <a:rPr spc="155" dirty="0"/>
              <a:t> </a:t>
            </a:r>
            <a:r>
              <a:rPr dirty="0"/>
              <a:t>from</a:t>
            </a:r>
            <a:r>
              <a:rPr spc="160" dirty="0"/>
              <a:t> </a:t>
            </a:r>
            <a:r>
              <a:rPr dirty="0"/>
              <a:t>students</a:t>
            </a:r>
            <a:r>
              <a:rPr spc="155" dirty="0"/>
              <a:t> </a:t>
            </a:r>
            <a:r>
              <a:rPr dirty="0"/>
              <a:t>and</a:t>
            </a:r>
            <a:r>
              <a:rPr spc="155" dirty="0"/>
              <a:t> </a:t>
            </a:r>
            <a:r>
              <a:rPr dirty="0"/>
              <a:t>teachers</a:t>
            </a:r>
            <a:r>
              <a:rPr spc="155" dirty="0"/>
              <a:t> </a:t>
            </a:r>
            <a:r>
              <a:rPr spc="-25" dirty="0"/>
              <a:t>to </a:t>
            </a:r>
            <a:r>
              <a:rPr dirty="0"/>
              <a:t>improve</a:t>
            </a:r>
            <a:r>
              <a:rPr spc="100" dirty="0"/>
              <a:t> </a:t>
            </a:r>
            <a:r>
              <a:rPr dirty="0"/>
              <a:t>performance</a:t>
            </a:r>
            <a:r>
              <a:rPr spc="105" dirty="0"/>
              <a:t> </a:t>
            </a:r>
            <a:r>
              <a:rPr dirty="0"/>
              <a:t>and</a:t>
            </a:r>
            <a:r>
              <a:rPr spc="105" dirty="0"/>
              <a:t> </a:t>
            </a:r>
            <a:r>
              <a:rPr spc="-10" dirty="0"/>
              <a:t>usability.</a:t>
            </a:r>
          </a:p>
          <a:p>
            <a:pPr marL="12700" marR="5080">
              <a:lnSpc>
                <a:spcPct val="100000"/>
              </a:lnSpc>
              <a:spcBef>
                <a:spcPts val="315"/>
              </a:spcBef>
            </a:pPr>
            <a:r>
              <a:rPr b="1" spc="85" dirty="0">
                <a:latin typeface="Calibri"/>
                <a:cs typeface="Calibri"/>
              </a:rPr>
              <a:t>Enhancements:</a:t>
            </a:r>
            <a:r>
              <a:rPr b="1" spc="290" dirty="0">
                <a:latin typeface="Calibri"/>
                <a:cs typeface="Calibri"/>
              </a:rPr>
              <a:t> </a:t>
            </a:r>
            <a:r>
              <a:rPr spc="70" dirty="0"/>
              <a:t>Add</a:t>
            </a:r>
            <a:r>
              <a:rPr spc="150" dirty="0"/>
              <a:t> </a:t>
            </a:r>
            <a:r>
              <a:rPr dirty="0"/>
              <a:t>features</a:t>
            </a:r>
            <a:r>
              <a:rPr spc="145" dirty="0"/>
              <a:t> </a:t>
            </a:r>
            <a:r>
              <a:rPr dirty="0"/>
              <a:t>like</a:t>
            </a:r>
            <a:r>
              <a:rPr spc="150" dirty="0"/>
              <a:t> </a:t>
            </a:r>
            <a:r>
              <a:rPr dirty="0"/>
              <a:t>video</a:t>
            </a:r>
            <a:r>
              <a:rPr spc="145" dirty="0"/>
              <a:t> </a:t>
            </a:r>
            <a:r>
              <a:rPr dirty="0"/>
              <a:t>tutorials,</a:t>
            </a:r>
            <a:r>
              <a:rPr spc="150" dirty="0"/>
              <a:t> </a:t>
            </a:r>
            <a:r>
              <a:rPr spc="-10" dirty="0"/>
              <a:t>problem </a:t>
            </a:r>
            <a:r>
              <a:rPr dirty="0"/>
              <a:t>sets</a:t>
            </a:r>
            <a:r>
              <a:rPr spc="175" dirty="0"/>
              <a:t> </a:t>
            </a:r>
            <a:r>
              <a:rPr dirty="0"/>
              <a:t>for</a:t>
            </a:r>
            <a:r>
              <a:rPr spc="180" dirty="0"/>
              <a:t> </a:t>
            </a:r>
            <a:r>
              <a:rPr dirty="0"/>
              <a:t>holidays,</a:t>
            </a:r>
            <a:r>
              <a:rPr spc="185" dirty="0"/>
              <a:t> </a:t>
            </a:r>
            <a:r>
              <a:rPr dirty="0"/>
              <a:t>and</a:t>
            </a:r>
            <a:r>
              <a:rPr spc="175" dirty="0"/>
              <a:t> </a:t>
            </a:r>
            <a:r>
              <a:rPr dirty="0"/>
              <a:t>project</a:t>
            </a:r>
            <a:r>
              <a:rPr spc="185" dirty="0"/>
              <a:t> </a:t>
            </a:r>
            <a:r>
              <a:rPr dirty="0"/>
              <a:t>templates.</a:t>
            </a:r>
            <a:r>
              <a:rPr spc="330" dirty="0"/>
              <a:t> </a:t>
            </a:r>
            <a:r>
              <a:rPr dirty="0"/>
              <a:t>Ensure</a:t>
            </a:r>
            <a:r>
              <a:rPr spc="175" dirty="0"/>
              <a:t> </a:t>
            </a:r>
            <a:r>
              <a:rPr spc="-10" dirty="0"/>
              <a:t>notifications </a:t>
            </a:r>
            <a:r>
              <a:rPr dirty="0"/>
              <a:t>for</a:t>
            </a:r>
            <a:r>
              <a:rPr spc="110" dirty="0"/>
              <a:t> </a:t>
            </a:r>
            <a:r>
              <a:rPr dirty="0"/>
              <a:t>screen</a:t>
            </a:r>
            <a:r>
              <a:rPr spc="120" dirty="0"/>
              <a:t> </a:t>
            </a:r>
            <a:r>
              <a:rPr dirty="0"/>
              <a:t>time</a:t>
            </a:r>
            <a:r>
              <a:rPr spc="110" dirty="0"/>
              <a:t> </a:t>
            </a:r>
            <a:r>
              <a:rPr dirty="0"/>
              <a:t>limits</a:t>
            </a:r>
            <a:r>
              <a:rPr spc="114" dirty="0"/>
              <a:t> </a:t>
            </a:r>
            <a:r>
              <a:rPr dirty="0"/>
              <a:t>and</a:t>
            </a:r>
            <a:r>
              <a:rPr spc="120" dirty="0"/>
              <a:t> </a:t>
            </a:r>
            <a:r>
              <a:rPr spc="-10" dirty="0"/>
              <a:t>achievements</a:t>
            </a:r>
            <a:r>
              <a:rPr spc="110" dirty="0"/>
              <a:t> </a:t>
            </a:r>
            <a:r>
              <a:rPr dirty="0"/>
              <a:t>to</a:t>
            </a:r>
            <a:r>
              <a:rPr spc="114" dirty="0"/>
              <a:t> </a:t>
            </a:r>
            <a:r>
              <a:rPr dirty="0"/>
              <a:t>encourage</a:t>
            </a:r>
            <a:r>
              <a:rPr spc="114" dirty="0"/>
              <a:t> </a:t>
            </a:r>
            <a:r>
              <a:rPr spc="-10" dirty="0"/>
              <a:t>healthy </a:t>
            </a:r>
            <a:r>
              <a:rPr dirty="0"/>
              <a:t>coding</a:t>
            </a:r>
            <a:r>
              <a:rPr spc="200" dirty="0"/>
              <a:t> </a:t>
            </a:r>
            <a:r>
              <a:rPr spc="-10" dirty="0"/>
              <a:t>habits.</a:t>
            </a: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5656" y="1872195"/>
            <a:ext cx="121259" cy="12125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270395" y="1862345"/>
            <a:ext cx="7239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1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6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349777"/>
            <a:ext cx="4608195" cy="106680"/>
            <a:chOff x="0" y="3349777"/>
            <a:chExt cx="4608195" cy="106680"/>
          </a:xfrm>
        </p:grpSpPr>
        <p:sp>
          <p:nvSpPr>
            <p:cNvPr id="9" name="object 9"/>
            <p:cNvSpPr/>
            <p:nvPr/>
          </p:nvSpPr>
          <p:spPr>
            <a:xfrm>
              <a:off x="0" y="3349777"/>
              <a:ext cx="1536065" cy="106680"/>
            </a:xfrm>
            <a:custGeom>
              <a:avLst/>
              <a:gdLst/>
              <a:ahLst/>
              <a:cxnLst/>
              <a:rect l="l" t="t" r="r" b="b"/>
              <a:pathLst>
                <a:path w="1536065" h="106679">
                  <a:moveTo>
                    <a:pt x="1535976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535976" y="10622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535976" y="3349777"/>
              <a:ext cx="1536065" cy="106680"/>
            </a:xfrm>
            <a:custGeom>
              <a:avLst/>
              <a:gdLst/>
              <a:ahLst/>
              <a:cxnLst/>
              <a:rect l="l" t="t" r="r" b="b"/>
              <a:pathLst>
                <a:path w="1536064" h="106679">
                  <a:moveTo>
                    <a:pt x="1535976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535976" y="10622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071952" y="3349777"/>
              <a:ext cx="1536065" cy="106680"/>
            </a:xfrm>
            <a:custGeom>
              <a:avLst/>
              <a:gdLst/>
              <a:ahLst/>
              <a:cxnLst/>
              <a:rect l="l" t="t" r="r" b="b"/>
              <a:pathLst>
                <a:path w="1536064" h="106679">
                  <a:moveTo>
                    <a:pt x="1535976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535976" y="10622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pc="110" dirty="0"/>
              <a:t>(CSIT(21-</a:t>
            </a:r>
            <a:r>
              <a:rPr spc="120" dirty="0"/>
              <a:t>25/CSIT/27)</a:t>
            </a:r>
            <a:r>
              <a:rPr spc="145" dirty="0"/>
              <a:t> </a:t>
            </a:r>
            <a:r>
              <a:rPr spc="45" dirty="0"/>
              <a:t>)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4266958" y="3353673"/>
            <a:ext cx="2889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spc="60" dirty="0">
                <a:latin typeface="Calibri"/>
                <a:cs typeface="Calibri"/>
              </a:rPr>
              <a:t>26</a:t>
            </a:r>
            <a:r>
              <a:rPr sz="600" spc="-15" dirty="0">
                <a:latin typeface="Calibri"/>
                <a:cs typeface="Calibri"/>
              </a:rPr>
              <a:t> </a:t>
            </a:r>
            <a:r>
              <a:rPr sz="600" spc="125" dirty="0">
                <a:latin typeface="Calibri"/>
                <a:cs typeface="Calibri"/>
              </a:rPr>
              <a:t>/</a:t>
            </a:r>
            <a:r>
              <a:rPr sz="600" spc="-10" dirty="0">
                <a:latin typeface="Calibri"/>
                <a:cs typeface="Calibri"/>
              </a:rPr>
              <a:t> </a:t>
            </a:r>
            <a:r>
              <a:rPr sz="600" spc="35" dirty="0">
                <a:latin typeface="Calibri"/>
                <a:cs typeface="Calibri"/>
              </a:rPr>
              <a:t>26</a:t>
            </a:r>
            <a:endParaRPr sz="600">
              <a:latin typeface="Calibri"/>
              <a:cs typeface="Calibri"/>
            </a:endParaRPr>
          </a:p>
        </p:txBody>
      </p:sp>
    </p:spTree>
  </p:cSld>
  <p:clrMapOvr>
    <a:masterClrMapping/>
  </p:clrMapOvr>
  <p:transition>
    <p:cut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6698" y="0"/>
            <a:ext cx="2971306" cy="3387064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0" y="3349777"/>
            <a:ext cx="4608195" cy="106680"/>
            <a:chOff x="0" y="3349777"/>
            <a:chExt cx="4608195" cy="106680"/>
          </a:xfrm>
        </p:grpSpPr>
        <p:sp>
          <p:nvSpPr>
            <p:cNvPr id="4" name="object 4"/>
            <p:cNvSpPr/>
            <p:nvPr/>
          </p:nvSpPr>
          <p:spPr>
            <a:xfrm>
              <a:off x="0" y="3349777"/>
              <a:ext cx="1536065" cy="106680"/>
            </a:xfrm>
            <a:custGeom>
              <a:avLst/>
              <a:gdLst/>
              <a:ahLst/>
              <a:cxnLst/>
              <a:rect l="l" t="t" r="r" b="b"/>
              <a:pathLst>
                <a:path w="1536065" h="106679">
                  <a:moveTo>
                    <a:pt x="1535976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535976" y="10622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535976" y="3349777"/>
              <a:ext cx="1536065" cy="106680"/>
            </a:xfrm>
            <a:custGeom>
              <a:avLst/>
              <a:gdLst/>
              <a:ahLst/>
              <a:cxnLst/>
              <a:rect l="l" t="t" r="r" b="b"/>
              <a:pathLst>
                <a:path w="1536064" h="106679">
                  <a:moveTo>
                    <a:pt x="1535976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535976" y="10622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071952" y="3349777"/>
              <a:ext cx="1536065" cy="106680"/>
            </a:xfrm>
            <a:custGeom>
              <a:avLst/>
              <a:gdLst/>
              <a:ahLst/>
              <a:cxnLst/>
              <a:rect l="l" t="t" r="r" b="b"/>
              <a:pathLst>
                <a:path w="1536064" h="106679">
                  <a:moveTo>
                    <a:pt x="1535976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535976" y="10622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pc="110" dirty="0"/>
              <a:t>(CSIT(21-</a:t>
            </a:r>
            <a:r>
              <a:rPr spc="120" dirty="0"/>
              <a:t>25/CSIT/27)</a:t>
            </a:r>
            <a:r>
              <a:rPr spc="145" dirty="0"/>
              <a:t> </a:t>
            </a:r>
            <a:r>
              <a:rPr spc="45" dirty="0"/>
              <a:t>)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266958" y="3353673"/>
            <a:ext cx="2889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spc="60" dirty="0">
                <a:latin typeface="Calibri"/>
                <a:cs typeface="Calibri"/>
              </a:rPr>
              <a:t>26</a:t>
            </a:r>
            <a:r>
              <a:rPr sz="600" spc="-15" dirty="0">
                <a:latin typeface="Calibri"/>
                <a:cs typeface="Calibri"/>
              </a:rPr>
              <a:t> </a:t>
            </a:r>
            <a:r>
              <a:rPr sz="600" spc="125" dirty="0">
                <a:latin typeface="Calibri"/>
                <a:cs typeface="Calibri"/>
              </a:rPr>
              <a:t>/</a:t>
            </a:r>
            <a:r>
              <a:rPr sz="600" spc="-10" dirty="0">
                <a:latin typeface="Calibri"/>
                <a:cs typeface="Calibri"/>
              </a:rPr>
              <a:t> </a:t>
            </a:r>
            <a:r>
              <a:rPr sz="600" spc="35" dirty="0">
                <a:latin typeface="Calibri"/>
                <a:cs typeface="Calibri"/>
              </a:rPr>
              <a:t>26</a:t>
            </a:r>
            <a:endParaRPr sz="600">
              <a:latin typeface="Calibri"/>
              <a:cs typeface="Calibri"/>
            </a:endParaRPr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3333B2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Words>1666</Words>
  <Application>Microsoft Office PowerPoint</Application>
  <PresentationFormat>Custom</PresentationFormat>
  <Paragraphs>180</Paragraphs>
  <Slides>27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28" baseType="lpstr">
      <vt:lpstr>Office Theme</vt:lpstr>
      <vt:lpstr>Realtime Collaborative Code Editor</vt:lpstr>
      <vt:lpstr>Table of Contents</vt:lpstr>
      <vt:lpstr>Introduction</vt:lpstr>
      <vt:lpstr>Introduction (contd...)</vt:lpstr>
      <vt:lpstr>Key Features</vt:lpstr>
      <vt:lpstr>Scope</vt:lpstr>
      <vt:lpstr>Scope (contd...)</vt:lpstr>
      <vt:lpstr>Objective</vt:lpstr>
      <vt:lpstr>Objective (contd...)</vt:lpstr>
      <vt:lpstr>Slide 10</vt:lpstr>
      <vt:lpstr>Slide 11</vt:lpstr>
      <vt:lpstr>Research Gaps</vt:lpstr>
      <vt:lpstr>Research Gaps (contd...)</vt:lpstr>
      <vt:lpstr>Slide 14</vt:lpstr>
      <vt:lpstr>Slide 15</vt:lpstr>
      <vt:lpstr>Slide 16</vt:lpstr>
      <vt:lpstr>Slide 17</vt:lpstr>
      <vt:lpstr>Sustainable Development Goals Achieved by Project</vt:lpstr>
      <vt:lpstr>Sustainable Development Goals Achieved by Project</vt:lpstr>
      <vt:lpstr>Result and Discussion</vt:lpstr>
      <vt:lpstr>Slide 21</vt:lpstr>
      <vt:lpstr>Slide 22</vt:lpstr>
      <vt:lpstr>Result and Discussion</vt:lpstr>
      <vt:lpstr>Further Work</vt:lpstr>
      <vt:lpstr>Further Work</vt:lpstr>
      <vt:lpstr>Further Work</vt:lpstr>
      <vt:lpstr>Slide 27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Realtime Collaborative Code Editor</dc:title>
  <cp:lastModifiedBy>Aryan Tyagi</cp:lastModifiedBy>
  <cp:revision>1</cp:revision>
  <dcterms:created xsi:type="dcterms:W3CDTF">2025-09-17T10:44:17Z</dcterms:created>
  <dcterms:modified xsi:type="dcterms:W3CDTF">2025-09-17T10:50:59Z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2025-09-17T00:00:00Z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2025-09-17T00:00:00Z</vt:filetime>
  </property>
  <property fmtid="{D5CDD505-2E9C-101B-9397-08002B2CF9AE}" pid="5" name="PTEX.Fullbanner">
    <vt:lpwstr>This is pdfTeX, Version 3.141592653-2.6-1.40.27 (TeX Live 2025) kpathsea version 6.4.1</vt:lpwstr>
  </property>
  <property fmtid="{D5CDD505-2E9C-101B-9397-08002B2CF9AE}" pid="6" name="Producer">
    <vt:lpwstr>pdfTeX-1.40.27</vt:lpwstr>
  </property>
</Properties>
</file>